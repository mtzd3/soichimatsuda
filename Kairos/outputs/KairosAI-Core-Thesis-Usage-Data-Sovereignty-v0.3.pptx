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ea9081992343cb" /><Relationship Type="http://schemas.openxmlformats.org/officeDocument/2006/relationships/extended-properties" Target="/docProps/app.xml" Id="Rcd55f36a31294a2f" /><Relationship Type="http://schemas.openxmlformats.org/officeDocument/2006/relationships/officeDocument" Target="/ppt/presentation.xml" Id="Rf5549c4368a1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08828fb83142e8"/>
  </p:sldMasterIdLst>
  <p:notesMasterIdLst>
    <p:notesMasterId xmlns:r="http://schemas.openxmlformats.org/officeDocument/2006/relationships" r:id="Reb30a8dd3ab84e30"/>
  </p:notesMasterIdLst>
  <p:sldIdLst>
    <p:sldId xmlns:r="http://schemas.openxmlformats.org/officeDocument/2006/relationships" id="256" r:id="R2612000a29134067"/>
    <p:sldId xmlns:r="http://schemas.openxmlformats.org/officeDocument/2006/relationships" id="257" r:id="R2cc54aee4e6f4016"/>
    <p:sldId xmlns:r="http://schemas.openxmlformats.org/officeDocument/2006/relationships" id="258" r:id="R1ab5719337e9414b"/>
    <p:sldId xmlns:r="http://schemas.openxmlformats.org/officeDocument/2006/relationships" id="259" r:id="R423df28eb66a450f"/>
    <p:sldId xmlns:r="http://schemas.openxmlformats.org/officeDocument/2006/relationships" id="260" r:id="R42cbafff13ff4033"/>
    <p:sldId xmlns:r="http://schemas.openxmlformats.org/officeDocument/2006/relationships" id="261" r:id="R9b5608a0fbec4efe"/>
    <p:sldId xmlns:r="http://schemas.openxmlformats.org/officeDocument/2006/relationships" id="262" r:id="R2ad03ccd4fb54ff1"/>
    <p:sldId xmlns:r="http://schemas.openxmlformats.org/officeDocument/2006/relationships" id="263" r:id="R971cd0f4f8844e4c"/>
    <p:sldId xmlns:r="http://schemas.openxmlformats.org/officeDocument/2006/relationships" id="264" r:id="Re7b7cbec87ec467c"/>
    <p:sldId xmlns:r="http://schemas.openxmlformats.org/officeDocument/2006/relationships" id="265" r:id="R6659ec7a9f004050"/>
    <p:sldId xmlns:r="http://schemas.openxmlformats.org/officeDocument/2006/relationships" id="266" r:id="R51de4e27ab19442c"/>
    <p:sldId xmlns:r="http://schemas.openxmlformats.org/officeDocument/2006/relationships" id="267" r:id="R22c8a8886de24e55"/>
    <p:sldId xmlns:r="http://schemas.openxmlformats.org/officeDocument/2006/relationships" id="268" r:id="Rd681b4c888d8415b"/>
    <p:sldId xmlns:r="http://schemas.openxmlformats.org/officeDocument/2006/relationships" id="269" r:id="Rf399fc1b1c074927"/>
    <p:sldId xmlns:r="http://schemas.openxmlformats.org/officeDocument/2006/relationships" id="270" r:id="R990b8079a6b848cd"/>
    <p:sldId xmlns:r="http://schemas.openxmlformats.org/officeDocument/2006/relationships" id="271" r:id="Rf623310dd3344b70"/>
    <p:sldId xmlns:r="http://schemas.openxmlformats.org/officeDocument/2006/relationships" id="272" r:id="Rad16b6f6371f4f76"/>
    <p:sldId xmlns:r="http://schemas.openxmlformats.org/officeDocument/2006/relationships" id="273" r:id="Rea44ed2daf334860"/>
    <p:sldId xmlns:r="http://schemas.openxmlformats.org/officeDocument/2006/relationships" id="274" r:id="Rf41572f69f93401c"/>
    <p:sldId xmlns:r="http://schemas.openxmlformats.org/officeDocument/2006/relationships" id="275" r:id="R6fdd9daf879b418c"/>
    <p:sldId xmlns:r="http://schemas.openxmlformats.org/officeDocument/2006/relationships" id="276" r:id="R0ca19297282f4903"/>
    <p:sldId xmlns:r="http://schemas.openxmlformats.org/officeDocument/2006/relationships" id="277" r:id="Rd25634cca88a43ce"/>
    <p:sldId xmlns:r="http://schemas.openxmlformats.org/officeDocument/2006/relationships" id="278" r:id="R166e3b588f854a0e"/>
    <p:sldId xmlns:r="http://schemas.openxmlformats.org/officeDocument/2006/relationships" id="279" r:id="Rb6f4e4339b1f44fc"/>
    <p:sldId xmlns:r="http://schemas.openxmlformats.org/officeDocument/2006/relationships" id="280" r:id="R785df56f60d044e0"/>
    <p:sldId xmlns:r="http://schemas.openxmlformats.org/officeDocument/2006/relationships" id="281" r:id="R0fd69db7e6334b00"/>
    <p:sldId xmlns:r="http://schemas.openxmlformats.org/officeDocument/2006/relationships" id="282" r:id="Red149cff2bf844b0"/>
    <p:sldId xmlns:r="http://schemas.openxmlformats.org/officeDocument/2006/relationships" id="283" r:id="Rb14f48d883d9483e"/>
    <p:sldId xmlns:r="http://schemas.openxmlformats.org/officeDocument/2006/relationships" id="284" r:id="R31085a037a044bf7"/>
    <p:sldId xmlns:r="http://schemas.openxmlformats.org/officeDocument/2006/relationships" id="285" r:id="R10a410dba89e4965"/>
    <p:sldId xmlns:r="http://schemas.openxmlformats.org/officeDocument/2006/relationships" id="286" r:id="R3155e5e3ec57478b"/>
    <p:sldId xmlns:r="http://schemas.openxmlformats.org/officeDocument/2006/relationships" id="287" r:id="Rd2155dc67c534ff9"/>
    <p:sldId xmlns:r="http://schemas.openxmlformats.org/officeDocument/2006/relationships" id="288" r:id="R5eaea347d0c84ab8"/>
    <p:sldId xmlns:r="http://schemas.openxmlformats.org/officeDocument/2006/relationships" id="289" r:id="R866275e3fc274211"/>
    <p:sldId xmlns:r="http://schemas.openxmlformats.org/officeDocument/2006/relationships" id="290" r:id="R14d0a889583841b2"/>
    <p:sldId xmlns:r="http://schemas.openxmlformats.org/officeDocument/2006/relationships" id="291" r:id="R740097c7335b42cd"/>
    <p:sldId xmlns:r="http://schemas.openxmlformats.org/officeDocument/2006/relationships" id="292" r:id="R8b992a8625b44e6e"/>
    <p:sldId xmlns:r="http://schemas.openxmlformats.org/officeDocument/2006/relationships" id="293" r:id="R272d2c1cea864de3"/>
    <p:sldId xmlns:r="http://schemas.openxmlformats.org/officeDocument/2006/relationships" id="294" r:id="R2432ac6a62a74be4"/>
    <p:sldId xmlns:r="http://schemas.openxmlformats.org/officeDocument/2006/relationships" id="295" r:id="R0f9fddf5cc7643aa"/>
    <p:sldId xmlns:r="http://schemas.openxmlformats.org/officeDocument/2006/relationships" id="296" r:id="Reecb3287b6ff4b2f"/>
    <p:sldId xmlns:r="http://schemas.openxmlformats.org/officeDocument/2006/relationships" id="297" r:id="Rcded66c838b04861"/>
    <p:sldId xmlns:r="http://schemas.openxmlformats.org/officeDocument/2006/relationships" id="298" r:id="Ra7faf29bcd914182"/>
    <p:sldId xmlns:r="http://schemas.openxmlformats.org/officeDocument/2006/relationships" id="299" r:id="Rc910407eb4664429"/>
    <p:sldId xmlns:r="http://schemas.openxmlformats.org/officeDocument/2006/relationships" id="300" r:id="R2fa701e12cc74d2a"/>
    <p:sldId xmlns:r="http://schemas.openxmlformats.org/officeDocument/2006/relationships" id="301" r:id="R19be552bb287489c"/>
    <p:sldId xmlns:r="http://schemas.openxmlformats.org/officeDocument/2006/relationships" id="302" r:id="R9743abad3a5b4777"/>
    <p:sldId xmlns:r="http://schemas.openxmlformats.org/officeDocument/2006/relationships" id="303" r:id="Rad796d26a02e4465"/>
    <p:sldId xmlns:r="http://schemas.openxmlformats.org/officeDocument/2006/relationships" id="304" r:id="R39c9a993b1b74b97"/>
    <p:sldId xmlns:r="http://schemas.openxmlformats.org/officeDocument/2006/relationships" id="305" r:id="R60c26811ed47422f"/>
    <p:sldId xmlns:r="http://schemas.openxmlformats.org/officeDocument/2006/relationships" id="306" r:id="R7c23f076dd77420f"/>
    <p:sldId xmlns:r="http://schemas.openxmlformats.org/officeDocument/2006/relationships" id="307" r:id="R4927fa5c57064464"/>
    <p:sldId xmlns:r="http://schemas.openxmlformats.org/officeDocument/2006/relationships" id="308" r:id="Rf0a4433dd42f4b5f"/>
    <p:sldId xmlns:r="http://schemas.openxmlformats.org/officeDocument/2006/relationships" id="309" r:id="R8dfa458381af40fb"/>
    <p:sldId xmlns:r="http://schemas.openxmlformats.org/officeDocument/2006/relationships" id="310" r:id="Ra4cb817e61ad46de"/>
    <p:sldId xmlns:r="http://schemas.openxmlformats.org/officeDocument/2006/relationships" id="311" r:id="R87962a1993ee4816"/>
    <p:sldId xmlns:r="http://schemas.openxmlformats.org/officeDocument/2006/relationships" id="312" r:id="R6447e2f6f82b4d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aa894c126c4572" /><Relationship Type="http://schemas.openxmlformats.org/officeDocument/2006/relationships/slideMaster" Target="/ppt/slideMasters/slideMaster1.xml" Id="R8d08828fb83142e8" /><Relationship Type="http://schemas.openxmlformats.org/officeDocument/2006/relationships/notesMaster" Target="/ppt/notesMasters/notesMaster1.xml" Id="Reb30a8dd3ab84e30" /><Relationship Type="http://schemas.openxmlformats.org/officeDocument/2006/relationships/presProps" Target="/ppt/presProps.xml" Id="Rd8cef994813c4cb8" /><Relationship Type="http://schemas.openxmlformats.org/officeDocument/2006/relationships/tableStyles" Target="/ppt/tableStyles.xml" Id="Rb54dc94ca8a743c8" /><Relationship Type="http://schemas.openxmlformats.org/officeDocument/2006/relationships/slide" Target="/ppt/slides/slide1.xml" Id="R2612000a29134067" /><Relationship Type="http://schemas.openxmlformats.org/officeDocument/2006/relationships/slide" Target="/ppt/slides/slide2.xml" Id="R2cc54aee4e6f4016" /><Relationship Type="http://schemas.openxmlformats.org/officeDocument/2006/relationships/slide" Target="/ppt/slides/slide3.xml" Id="R1ab5719337e9414b" /><Relationship Type="http://schemas.openxmlformats.org/officeDocument/2006/relationships/slide" Target="/ppt/slides/slide4.xml" Id="R423df28eb66a450f" /><Relationship Type="http://schemas.openxmlformats.org/officeDocument/2006/relationships/slide" Target="/ppt/slides/slide5.xml" Id="R42cbafff13ff4033" /><Relationship Type="http://schemas.openxmlformats.org/officeDocument/2006/relationships/slide" Target="/ppt/slides/slide6.xml" Id="R9b5608a0fbec4efe" /><Relationship Type="http://schemas.openxmlformats.org/officeDocument/2006/relationships/slide" Target="/ppt/slides/slide7.xml" Id="R2ad03ccd4fb54ff1" /><Relationship Type="http://schemas.openxmlformats.org/officeDocument/2006/relationships/slide" Target="/ppt/slides/slide8.xml" Id="R971cd0f4f8844e4c" /><Relationship Type="http://schemas.openxmlformats.org/officeDocument/2006/relationships/slide" Target="/ppt/slides/slide9.xml" Id="Re7b7cbec87ec467c" /><Relationship Type="http://schemas.openxmlformats.org/officeDocument/2006/relationships/slide" Target="/ppt/slides/slide10.xml" Id="R6659ec7a9f004050" /><Relationship Type="http://schemas.openxmlformats.org/officeDocument/2006/relationships/slide" Target="/ppt/slides/slide11.xml" Id="R51de4e27ab19442c" /><Relationship Type="http://schemas.openxmlformats.org/officeDocument/2006/relationships/slide" Target="/ppt/slides/slide12.xml" Id="R22c8a8886de24e55" /><Relationship Type="http://schemas.openxmlformats.org/officeDocument/2006/relationships/slide" Target="/ppt/slides/slide13.xml" Id="Rd681b4c888d8415b" /><Relationship Type="http://schemas.openxmlformats.org/officeDocument/2006/relationships/slide" Target="/ppt/slides/slide14.xml" Id="Rf399fc1b1c074927" /><Relationship Type="http://schemas.openxmlformats.org/officeDocument/2006/relationships/slide" Target="/ppt/slides/slide15.xml" Id="R990b8079a6b848cd" /><Relationship Type="http://schemas.openxmlformats.org/officeDocument/2006/relationships/slide" Target="/ppt/slides/slide16.xml" Id="Rf623310dd3344b70" /><Relationship Type="http://schemas.openxmlformats.org/officeDocument/2006/relationships/slide" Target="/ppt/slides/slide17.xml" Id="Rad16b6f6371f4f76" /><Relationship Type="http://schemas.openxmlformats.org/officeDocument/2006/relationships/slide" Target="/ppt/slides/slide18.xml" Id="Rea44ed2daf334860" /><Relationship Type="http://schemas.openxmlformats.org/officeDocument/2006/relationships/slide" Target="/ppt/slides/slide19.xml" Id="Rf41572f69f93401c" /><Relationship Type="http://schemas.openxmlformats.org/officeDocument/2006/relationships/slide" Target="/ppt/slides/slide20.xml" Id="R6fdd9daf879b418c" /><Relationship Type="http://schemas.openxmlformats.org/officeDocument/2006/relationships/slide" Target="/ppt/slides/slide21.xml" Id="R0ca19297282f4903" /><Relationship Type="http://schemas.openxmlformats.org/officeDocument/2006/relationships/slide" Target="/ppt/slides/slide22.xml" Id="Rd25634cca88a43ce" /><Relationship Type="http://schemas.openxmlformats.org/officeDocument/2006/relationships/slide" Target="/ppt/slides/slide23.xml" Id="R166e3b588f854a0e" /><Relationship Type="http://schemas.openxmlformats.org/officeDocument/2006/relationships/slide" Target="/ppt/slides/slide24.xml" Id="Rb6f4e4339b1f44fc" /><Relationship Type="http://schemas.openxmlformats.org/officeDocument/2006/relationships/slide" Target="/ppt/slides/slide25.xml" Id="R785df56f60d044e0" /><Relationship Type="http://schemas.openxmlformats.org/officeDocument/2006/relationships/slide" Target="/ppt/slides/slide26.xml" Id="R0fd69db7e6334b00" /><Relationship Type="http://schemas.openxmlformats.org/officeDocument/2006/relationships/slide" Target="/ppt/slides/slide27.xml" Id="Red149cff2bf844b0" /><Relationship Type="http://schemas.openxmlformats.org/officeDocument/2006/relationships/slide" Target="/ppt/slides/slide28.xml" Id="Rb14f48d883d9483e" /><Relationship Type="http://schemas.openxmlformats.org/officeDocument/2006/relationships/slide" Target="/ppt/slides/slide29.xml" Id="R31085a037a044bf7" /><Relationship Type="http://schemas.openxmlformats.org/officeDocument/2006/relationships/slide" Target="/ppt/slides/slide30.xml" Id="R10a410dba89e4965" /><Relationship Type="http://schemas.openxmlformats.org/officeDocument/2006/relationships/slide" Target="/ppt/slides/slide31.xml" Id="R3155e5e3ec57478b" /><Relationship Type="http://schemas.openxmlformats.org/officeDocument/2006/relationships/slide" Target="/ppt/slides/slide32.xml" Id="Rd2155dc67c534ff9" /><Relationship Type="http://schemas.openxmlformats.org/officeDocument/2006/relationships/slide" Target="/ppt/slides/slide33.xml" Id="R5eaea347d0c84ab8" /><Relationship Type="http://schemas.openxmlformats.org/officeDocument/2006/relationships/slide" Target="/ppt/slides/slide34.xml" Id="R866275e3fc274211" /><Relationship Type="http://schemas.openxmlformats.org/officeDocument/2006/relationships/slide" Target="/ppt/slides/slide35.xml" Id="R14d0a889583841b2" /><Relationship Type="http://schemas.openxmlformats.org/officeDocument/2006/relationships/slide" Target="/ppt/slides/slide36.xml" Id="R740097c7335b42cd" /><Relationship Type="http://schemas.openxmlformats.org/officeDocument/2006/relationships/slide" Target="/ppt/slides/slide37.xml" Id="R8b992a8625b44e6e" /><Relationship Type="http://schemas.openxmlformats.org/officeDocument/2006/relationships/slide" Target="/ppt/slides/slide38.xml" Id="R272d2c1cea864de3" /><Relationship Type="http://schemas.openxmlformats.org/officeDocument/2006/relationships/slide" Target="/ppt/slides/slide39.xml" Id="R2432ac6a62a74be4" /><Relationship Type="http://schemas.openxmlformats.org/officeDocument/2006/relationships/slide" Target="/ppt/slides/slide40.xml" Id="R0f9fddf5cc7643aa" /><Relationship Type="http://schemas.openxmlformats.org/officeDocument/2006/relationships/slide" Target="/ppt/slides/slide41.xml" Id="Reecb3287b6ff4b2f" /><Relationship Type="http://schemas.openxmlformats.org/officeDocument/2006/relationships/slide" Target="/ppt/slides/slide42.xml" Id="Rcded66c838b04861" /><Relationship Type="http://schemas.openxmlformats.org/officeDocument/2006/relationships/slide" Target="/ppt/slides/slide43.xml" Id="Ra7faf29bcd914182" /><Relationship Type="http://schemas.openxmlformats.org/officeDocument/2006/relationships/slide" Target="/ppt/slides/slide44.xml" Id="Rc910407eb4664429" /><Relationship Type="http://schemas.openxmlformats.org/officeDocument/2006/relationships/slide" Target="/ppt/slides/slide45.xml" Id="R2fa701e12cc74d2a" /><Relationship Type="http://schemas.openxmlformats.org/officeDocument/2006/relationships/slide" Target="/ppt/slides/slide46.xml" Id="R19be552bb287489c" /><Relationship Type="http://schemas.openxmlformats.org/officeDocument/2006/relationships/slide" Target="/ppt/slides/slide47.xml" Id="R9743abad3a5b4777" /><Relationship Type="http://schemas.openxmlformats.org/officeDocument/2006/relationships/slide" Target="/ppt/slides/slide48.xml" Id="Rad796d26a02e4465" /><Relationship Type="http://schemas.openxmlformats.org/officeDocument/2006/relationships/slide" Target="/ppt/slides/slide49.xml" Id="R39c9a993b1b74b97" /><Relationship Type="http://schemas.openxmlformats.org/officeDocument/2006/relationships/slide" Target="/ppt/slides/slide50.xml" Id="R60c26811ed47422f" /><Relationship Type="http://schemas.openxmlformats.org/officeDocument/2006/relationships/slide" Target="/ppt/slides/slide51.xml" Id="R7c23f076dd77420f" /><Relationship Type="http://schemas.openxmlformats.org/officeDocument/2006/relationships/slide" Target="/ppt/slides/slide52.xml" Id="R4927fa5c57064464" /><Relationship Type="http://schemas.openxmlformats.org/officeDocument/2006/relationships/slide" Target="/ppt/slides/slide53.xml" Id="Rf0a4433dd42f4b5f" /><Relationship Type="http://schemas.openxmlformats.org/officeDocument/2006/relationships/slide" Target="/ppt/slides/slide54.xml" Id="R8dfa458381af40fb" /><Relationship Type="http://schemas.openxmlformats.org/officeDocument/2006/relationships/slide" Target="/ppt/slides/slide55.xml" Id="Ra4cb817e61ad46de" /><Relationship Type="http://schemas.openxmlformats.org/officeDocument/2006/relationships/slide" Target="/ppt/slides/slide56.xml" Id="R87962a1993ee4816" /><Relationship Type="http://schemas.openxmlformats.org/officeDocument/2006/relationships/slide" Target="/ppt/slides/slide57.xml" Id="R6447e2f6f82b4d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f8bf45dea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d1d2722704155" /><Relationship Type="http://schemas.openxmlformats.org/officeDocument/2006/relationships/notesMaster" Target="/ppt/notesMasters/notesMaster1.xml" Id="Rabbd1f9ff72142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e7e442e30e47e0" /><Relationship Type="http://schemas.openxmlformats.org/officeDocument/2006/relationships/notesMaster" Target="/ppt/notesMasters/notesMaster1.xml" Id="R6695d8eda65f4b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2f74df07834ec7" /><Relationship Type="http://schemas.openxmlformats.org/officeDocument/2006/relationships/notesMaster" Target="/ppt/notesMasters/notesMaster1.xml" Id="R1ca3e819ea3f4c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437cd5ddf14376" /><Relationship Type="http://schemas.openxmlformats.org/officeDocument/2006/relationships/notesMaster" Target="/ppt/notesMasters/notesMaster1.xml" Id="R821e80175a8141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80b56b4da746da" /><Relationship Type="http://schemas.openxmlformats.org/officeDocument/2006/relationships/notesMaster" Target="/ppt/notesMasters/notesMaster1.xml" Id="Re8f22568bb6042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5aa71308ee4604" /><Relationship Type="http://schemas.openxmlformats.org/officeDocument/2006/relationships/notesMaster" Target="/ppt/notesMasters/notesMaster1.xml" Id="Rcdc639c998b248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b8347e032b43bd" /><Relationship Type="http://schemas.openxmlformats.org/officeDocument/2006/relationships/notesMaster" Target="/ppt/notesMasters/notesMaster1.xml" Id="R994f6ff923074f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10f07f124843b1" /><Relationship Type="http://schemas.openxmlformats.org/officeDocument/2006/relationships/notesMaster" Target="/ppt/notesMasters/notesMaster1.xml" Id="R8b9074d0183e4f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0dc40da7d44f86" /><Relationship Type="http://schemas.openxmlformats.org/officeDocument/2006/relationships/notesMaster" Target="/ppt/notesMasters/notesMaster1.xml" Id="Rf3144c45f86b43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eec3002bd4ead" /><Relationship Type="http://schemas.openxmlformats.org/officeDocument/2006/relationships/notesMaster" Target="/ppt/notesMasters/notesMaster1.xml" Id="R7baac70643e14f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12a75321fe44da" /><Relationship Type="http://schemas.openxmlformats.org/officeDocument/2006/relationships/notesMaster" Target="/ppt/notesMasters/notesMaster1.xml" Id="Rb15e626e2c424c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cef04106e94ab1" /><Relationship Type="http://schemas.openxmlformats.org/officeDocument/2006/relationships/notesMaster" Target="/ppt/notesMasters/notesMaster1.xml" Id="Rc35b2623210147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b6d549ead4808" /><Relationship Type="http://schemas.openxmlformats.org/officeDocument/2006/relationships/notesMaster" Target="/ppt/notesMasters/notesMaster1.xml" Id="Rb2bca9d1f5a648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67218ab6e34c51" /><Relationship Type="http://schemas.openxmlformats.org/officeDocument/2006/relationships/notesMaster" Target="/ppt/notesMasters/notesMaster1.xml" Id="Rb9a04dd7a65a41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6250c465a24f9f" /><Relationship Type="http://schemas.openxmlformats.org/officeDocument/2006/relationships/notesMaster" Target="/ppt/notesMasters/notesMaster1.xml" Id="R5dfec41a7a7744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68f0350bd04440" /><Relationship Type="http://schemas.openxmlformats.org/officeDocument/2006/relationships/notesMaster" Target="/ppt/notesMasters/notesMaster1.xml" Id="R242505d2539544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3b459b1aa14293" /><Relationship Type="http://schemas.openxmlformats.org/officeDocument/2006/relationships/notesMaster" Target="/ppt/notesMasters/notesMaster1.xml" Id="Rb568b67d89cf47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da6b3c21994167" /><Relationship Type="http://schemas.openxmlformats.org/officeDocument/2006/relationships/notesMaster" Target="/ppt/notesMasters/notesMaster1.xml" Id="R5d3208d062f940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596198cd7249b3" /><Relationship Type="http://schemas.openxmlformats.org/officeDocument/2006/relationships/notesMaster" Target="/ppt/notesMasters/notesMaster1.xml" Id="R76b3a5be6be345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8f138b0610402c" /><Relationship Type="http://schemas.openxmlformats.org/officeDocument/2006/relationships/notesMaster" Target="/ppt/notesMasters/notesMaster1.xml" Id="R4e8d227a80904c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8f1f48674b446d" /><Relationship Type="http://schemas.openxmlformats.org/officeDocument/2006/relationships/notesMaster" Target="/ppt/notesMasters/notesMaster1.xml" Id="Rf1dca4b777b9477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2458e595d14713" /><Relationship Type="http://schemas.openxmlformats.org/officeDocument/2006/relationships/notesMaster" Target="/ppt/notesMasters/notesMaster1.xml" Id="Rfa391b5f2e0540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a69423be314ab0" /><Relationship Type="http://schemas.openxmlformats.org/officeDocument/2006/relationships/notesMaster" Target="/ppt/notesMasters/notesMaster1.xml" Id="R2fcdc3ed65614c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165550ea654012" /><Relationship Type="http://schemas.openxmlformats.org/officeDocument/2006/relationships/notesMaster" Target="/ppt/notesMasters/notesMaster1.xml" Id="R4dfdb0faf1ea475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04203e1bc0949cf" /><Relationship Type="http://schemas.openxmlformats.org/officeDocument/2006/relationships/notesMaster" Target="/ppt/notesMasters/notesMaster1.xml" Id="Rde62381793f245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a26848258214728" /><Relationship Type="http://schemas.openxmlformats.org/officeDocument/2006/relationships/notesMaster" Target="/ppt/notesMasters/notesMaster1.xml" Id="R80011ac6aea74a5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df19a56eee49bf" /><Relationship Type="http://schemas.openxmlformats.org/officeDocument/2006/relationships/notesMaster" Target="/ppt/notesMasters/notesMaster1.xml" Id="R6f8bdcc7cc48475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643a49f3f34433a" /><Relationship Type="http://schemas.openxmlformats.org/officeDocument/2006/relationships/notesMaster" Target="/ppt/notesMasters/notesMaster1.xml" Id="R82afee798b684b0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cd3a71b833b4c7c" /><Relationship Type="http://schemas.openxmlformats.org/officeDocument/2006/relationships/notesMaster" Target="/ppt/notesMasters/notesMaster1.xml" Id="Rb90bebf1ec4c49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95bcaf2d7ed446f" /><Relationship Type="http://schemas.openxmlformats.org/officeDocument/2006/relationships/notesMaster" Target="/ppt/notesMasters/notesMaster1.xml" Id="Rd3514bb45482411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177528100094542" /><Relationship Type="http://schemas.openxmlformats.org/officeDocument/2006/relationships/notesMaster" Target="/ppt/notesMasters/notesMaster1.xml" Id="Rb9ce0b06d5f047f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3de3def954d4321" /><Relationship Type="http://schemas.openxmlformats.org/officeDocument/2006/relationships/notesMaster" Target="/ppt/notesMasters/notesMaster1.xml" Id="R3200dba69425467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40c59020d004bdd" /><Relationship Type="http://schemas.openxmlformats.org/officeDocument/2006/relationships/notesMaster" Target="/ppt/notesMasters/notesMaster1.xml" Id="R945ca1dccb124a6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680acbca1f14932" /><Relationship Type="http://schemas.openxmlformats.org/officeDocument/2006/relationships/notesMaster" Target="/ppt/notesMasters/notesMaster1.xml" Id="R93159ebac5b1449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f6091fee42418c" /><Relationship Type="http://schemas.openxmlformats.org/officeDocument/2006/relationships/notesMaster" Target="/ppt/notesMasters/notesMaster1.xml" Id="R5582a092ab394d0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1e6d19130594391" /><Relationship Type="http://schemas.openxmlformats.org/officeDocument/2006/relationships/notesMaster" Target="/ppt/notesMasters/notesMaster1.xml" Id="Rca48ba5e8d67487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705950b862a4916" /><Relationship Type="http://schemas.openxmlformats.org/officeDocument/2006/relationships/notesMaster" Target="/ppt/notesMasters/notesMaster1.xml" Id="R6fe13020a011481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a2df39423bf4d50" /><Relationship Type="http://schemas.openxmlformats.org/officeDocument/2006/relationships/notesMaster" Target="/ppt/notesMasters/notesMaster1.xml" Id="Rb4c3a12d20be417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ac1db8c6cd64697" /><Relationship Type="http://schemas.openxmlformats.org/officeDocument/2006/relationships/notesMaster" Target="/ppt/notesMasters/notesMaster1.xml" Id="Rbf6b058c90fd4d0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85666fa75424cc8" /><Relationship Type="http://schemas.openxmlformats.org/officeDocument/2006/relationships/notesMaster" Target="/ppt/notesMasters/notesMaster1.xml" Id="R3a4b16e738c64d3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47a5d7c30914195" /><Relationship Type="http://schemas.openxmlformats.org/officeDocument/2006/relationships/notesMaster" Target="/ppt/notesMasters/notesMaster1.xml" Id="Rbdc8ebf83cc1467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f22b5ad5e5244eb" /><Relationship Type="http://schemas.openxmlformats.org/officeDocument/2006/relationships/notesMaster" Target="/ppt/notesMasters/notesMaster1.xml" Id="R546fd910d8f8496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2dca51d81dd4b6e" /><Relationship Type="http://schemas.openxmlformats.org/officeDocument/2006/relationships/notesMaster" Target="/ppt/notesMasters/notesMaster1.xml" Id="R33dccf843f2a493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34d77edb71d4101" /><Relationship Type="http://schemas.openxmlformats.org/officeDocument/2006/relationships/notesMaster" Target="/ppt/notesMasters/notesMaster1.xml" Id="R89f6d9a535ad4f6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3efd8186fab43e0" /><Relationship Type="http://schemas.openxmlformats.org/officeDocument/2006/relationships/notesMaster" Target="/ppt/notesMasters/notesMaster1.xml" Id="R834544f1a1a84e6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6676ef3387e4327" /><Relationship Type="http://schemas.openxmlformats.org/officeDocument/2006/relationships/notesMaster" Target="/ppt/notesMasters/notesMaster1.xml" Id="Re2b350d79d794c1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c4c632045d04ea9" /><Relationship Type="http://schemas.openxmlformats.org/officeDocument/2006/relationships/notesMaster" Target="/ppt/notesMasters/notesMaster1.xml" Id="Rbecabe3a454a449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57568c3a4a34956" /><Relationship Type="http://schemas.openxmlformats.org/officeDocument/2006/relationships/notesMaster" Target="/ppt/notesMasters/notesMaster1.xml" Id="R0619670970a146d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d094f8bc4474d3e" /><Relationship Type="http://schemas.openxmlformats.org/officeDocument/2006/relationships/notesMaster" Target="/ppt/notesMasters/notesMaster1.xml" Id="R80c57aaf5c00425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49f51be91d24668" /><Relationship Type="http://schemas.openxmlformats.org/officeDocument/2006/relationships/notesMaster" Target="/ppt/notesMasters/notesMaster1.xml" Id="R309d538b17304d0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d7f1df3f3c049db" /><Relationship Type="http://schemas.openxmlformats.org/officeDocument/2006/relationships/notesMaster" Target="/ppt/notesMasters/notesMaster1.xml" Id="R6c4ca4ecdc5e4c9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08841dca6bc47de" /><Relationship Type="http://schemas.openxmlformats.org/officeDocument/2006/relationships/notesMaster" Target="/ppt/notesMasters/notesMaster1.xml" Id="Rf4e3631ccf7c479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3014f8c13494897" /><Relationship Type="http://schemas.openxmlformats.org/officeDocument/2006/relationships/notesMaster" Target="/ppt/notesMasters/notesMaster1.xml" Id="R2a7b03033873420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c083de08c8f4647" /><Relationship Type="http://schemas.openxmlformats.org/officeDocument/2006/relationships/notesMaster" Target="/ppt/notesMasters/notesMaster1.xml" Id="R4ee4560808614f3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3a3bb6e07e7947b7" /><Relationship Type="http://schemas.openxmlformats.org/officeDocument/2006/relationships/notesMaster" Target="/ppt/notesMasters/notesMaster1.xml" Id="R1f9c79b200e24ef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fbf546c397747e5" /><Relationship Type="http://schemas.openxmlformats.org/officeDocument/2006/relationships/notesMaster" Target="/ppt/notesMasters/notesMaster1.xml" Id="Rbcec5e74167f432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dacec5bba5d43ca" /><Relationship Type="http://schemas.openxmlformats.org/officeDocument/2006/relationships/notesMaster" Target="/ppt/notesMasters/notesMaster1.xml" Id="R94b78dff58c14f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2c5e30e9f42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a2d5e9aa9469c" /><Relationship Type="http://schemas.openxmlformats.org/officeDocument/2006/relationships/slideLayout" Target="/ppt/slideLayouts/slideLayout1.xml" Id="R537085cbc62e43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7085cbc62e43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dfc9276045c1" /><Relationship Type="http://schemas.openxmlformats.org/officeDocument/2006/relationships/notesSlide" Target="/ppt/notesSlides/notesSlide1.xml" Id="R8f491d6c3a184f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6cda7a1a04ad3" /><Relationship Type="http://schemas.openxmlformats.org/officeDocument/2006/relationships/notesSlide" Target="/ppt/notesSlides/notesSlide2.xml" Id="R6b45339265c842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0b30513af4ee1" /><Relationship Type="http://schemas.openxmlformats.org/officeDocument/2006/relationships/notesSlide" Target="/ppt/notesSlides/notesSlide3.xml" Id="R9a28ee2feef14c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a4b0adf0440ae" /><Relationship Type="http://schemas.openxmlformats.org/officeDocument/2006/relationships/notesSlide" Target="/ppt/notesSlides/notesSlide4.xml" Id="R69bec506e5d04c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5ee146eaf4cc9" /><Relationship Type="http://schemas.openxmlformats.org/officeDocument/2006/relationships/notesSlide" Target="/ppt/notesSlides/notesSlide5.xml" Id="R9dc7d583688844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d73e045d846f1" /><Relationship Type="http://schemas.openxmlformats.org/officeDocument/2006/relationships/notesSlide" Target="/ppt/notesSlides/notesSlide6.xml" Id="Rb8faf98ea58e45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b1daf9f9b4c61" /><Relationship Type="http://schemas.openxmlformats.org/officeDocument/2006/relationships/notesSlide" Target="/ppt/notesSlides/notesSlide7.xml" Id="R7b189b45491643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e8a0f77094050" /><Relationship Type="http://schemas.openxmlformats.org/officeDocument/2006/relationships/notesSlide" Target="/ppt/notesSlides/notesSlide8.xml" Id="Rc9ad1a377bec42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974f5527c473d" /><Relationship Type="http://schemas.openxmlformats.org/officeDocument/2006/relationships/notesSlide" Target="/ppt/notesSlides/notesSlide9.xml" Id="R46c8087502de4e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9ef9452454738" /><Relationship Type="http://schemas.openxmlformats.org/officeDocument/2006/relationships/notesSlide" Target="/ppt/notesSlides/notesSlide10.xml" Id="Rc2223d3f5fc641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9a2bf2c964415" /><Relationship Type="http://schemas.openxmlformats.org/officeDocument/2006/relationships/notesSlide" Target="/ppt/notesSlides/notesSlide11.xml" Id="R514cc4d82b3340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7ea71c5064335" /><Relationship Type="http://schemas.openxmlformats.org/officeDocument/2006/relationships/notesSlide" Target="/ppt/notesSlides/notesSlide12.xml" Id="R82a202bbf0ef4e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8da59224c4425" /><Relationship Type="http://schemas.openxmlformats.org/officeDocument/2006/relationships/notesSlide" Target="/ppt/notesSlides/notesSlide13.xml" Id="R72717ae2a2c54e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1506f3531490d" /><Relationship Type="http://schemas.openxmlformats.org/officeDocument/2006/relationships/notesSlide" Target="/ppt/notesSlides/notesSlide14.xml" Id="Rad13294d3ccf4e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db0fa8eb046ff" /><Relationship Type="http://schemas.openxmlformats.org/officeDocument/2006/relationships/notesSlide" Target="/ppt/notesSlides/notesSlide15.xml" Id="R901720524bb547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d721aa8254bce" /><Relationship Type="http://schemas.openxmlformats.org/officeDocument/2006/relationships/notesSlide" Target="/ppt/notesSlides/notesSlide16.xml" Id="Rffa90b542f554f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0124940a4d55" /><Relationship Type="http://schemas.openxmlformats.org/officeDocument/2006/relationships/notesSlide" Target="/ppt/notesSlides/notesSlide17.xml" Id="R2f9afc9f1e3447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454b54b034379" /><Relationship Type="http://schemas.openxmlformats.org/officeDocument/2006/relationships/notesSlide" Target="/ppt/notesSlides/notesSlide18.xml" Id="R75de39e779704a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859f362d84be8" /><Relationship Type="http://schemas.openxmlformats.org/officeDocument/2006/relationships/notesSlide" Target="/ppt/notesSlides/notesSlide19.xml" Id="R42db9b3a82d144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acae94e744f5d" /><Relationship Type="http://schemas.openxmlformats.org/officeDocument/2006/relationships/notesSlide" Target="/ppt/notesSlides/notesSlide20.xml" Id="Rf090427c2c3d4f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5e63912f4492a" /><Relationship Type="http://schemas.openxmlformats.org/officeDocument/2006/relationships/notesSlide" Target="/ppt/notesSlides/notesSlide21.xml" Id="R4389cd4211fa40c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a0f6b54ca4c87" /><Relationship Type="http://schemas.openxmlformats.org/officeDocument/2006/relationships/notesSlide" Target="/ppt/notesSlides/notesSlide22.xml" Id="R606c8f6ddbd040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b1c9217164be6" /><Relationship Type="http://schemas.openxmlformats.org/officeDocument/2006/relationships/notesSlide" Target="/ppt/notesSlides/notesSlide23.xml" Id="R4ac6e6e9d34247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17d0091964b2c" /><Relationship Type="http://schemas.openxmlformats.org/officeDocument/2006/relationships/notesSlide" Target="/ppt/notesSlides/notesSlide24.xml" Id="R68751a42ac994d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edee299c94c91" /><Relationship Type="http://schemas.openxmlformats.org/officeDocument/2006/relationships/notesSlide" Target="/ppt/notesSlides/notesSlide25.xml" Id="R5d81d8d19a92457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785417b9f4b32" /><Relationship Type="http://schemas.openxmlformats.org/officeDocument/2006/relationships/notesSlide" Target="/ppt/notesSlides/notesSlide26.xml" Id="R558668b5acc8403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0eeb075bd4324" /><Relationship Type="http://schemas.openxmlformats.org/officeDocument/2006/relationships/notesSlide" Target="/ppt/notesSlides/notesSlide27.xml" Id="R0c90de0c28134ac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5bb6d4123481e" /><Relationship Type="http://schemas.openxmlformats.org/officeDocument/2006/relationships/notesSlide" Target="/ppt/notesSlides/notesSlide28.xml" Id="Reb2681015dc342d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13c908e44477" /><Relationship Type="http://schemas.openxmlformats.org/officeDocument/2006/relationships/notesSlide" Target="/ppt/notesSlides/notesSlide29.xml" Id="Rf5767d8319614f4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c5be46eff42a6" /><Relationship Type="http://schemas.openxmlformats.org/officeDocument/2006/relationships/notesSlide" Target="/ppt/notesSlides/notesSlide30.xml" Id="R25ecf1230f33451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8b1fa1e884d28" /><Relationship Type="http://schemas.openxmlformats.org/officeDocument/2006/relationships/notesSlide" Target="/ppt/notesSlides/notesSlide31.xml" Id="Rfb4c954709d8427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eea1e223a427d" /><Relationship Type="http://schemas.openxmlformats.org/officeDocument/2006/relationships/notesSlide" Target="/ppt/notesSlides/notesSlide32.xml" Id="R25761037954f468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b350fc1b64512" /><Relationship Type="http://schemas.openxmlformats.org/officeDocument/2006/relationships/notesSlide" Target="/ppt/notesSlides/notesSlide33.xml" Id="R621071d3f31d4dc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af2e09e9473f" /><Relationship Type="http://schemas.openxmlformats.org/officeDocument/2006/relationships/notesSlide" Target="/ppt/notesSlides/notesSlide34.xml" Id="Rc722a7cbe616493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8d1d8417d4252" /><Relationship Type="http://schemas.openxmlformats.org/officeDocument/2006/relationships/notesSlide" Target="/ppt/notesSlides/notesSlide35.xml" Id="R47ebe369686b473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c6427a2bd4bd2" /><Relationship Type="http://schemas.openxmlformats.org/officeDocument/2006/relationships/notesSlide" Target="/ppt/notesSlides/notesSlide36.xml" Id="Ra943659347684f6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5aa2620014f02" /><Relationship Type="http://schemas.openxmlformats.org/officeDocument/2006/relationships/notesSlide" Target="/ppt/notesSlides/notesSlide37.xml" Id="R5df127f607fb4ed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fbd41d26147a2" /><Relationship Type="http://schemas.openxmlformats.org/officeDocument/2006/relationships/notesSlide" Target="/ppt/notesSlides/notesSlide38.xml" Id="R5d34bd240d2d4d0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c722cd643471e" /><Relationship Type="http://schemas.openxmlformats.org/officeDocument/2006/relationships/notesSlide" Target="/ppt/notesSlides/notesSlide39.xml" Id="Rf64cb76239c8458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d77b7b1114713" /><Relationship Type="http://schemas.openxmlformats.org/officeDocument/2006/relationships/notesSlide" Target="/ppt/notesSlides/notesSlide40.xml" Id="R72d0112a5b94488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f6897828c45e0" /><Relationship Type="http://schemas.openxmlformats.org/officeDocument/2006/relationships/notesSlide" Target="/ppt/notesSlides/notesSlide41.xml" Id="R069c716e42a346d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ff3d71b9d448f" /><Relationship Type="http://schemas.openxmlformats.org/officeDocument/2006/relationships/notesSlide" Target="/ppt/notesSlides/notesSlide42.xml" Id="R10ff240a381042c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e3d252da14415" /><Relationship Type="http://schemas.openxmlformats.org/officeDocument/2006/relationships/notesSlide" Target="/ppt/notesSlides/notesSlide43.xml" Id="Rd2060cd5ae8a422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ebd3a6a9a4108" /><Relationship Type="http://schemas.openxmlformats.org/officeDocument/2006/relationships/notesSlide" Target="/ppt/notesSlides/notesSlide44.xml" Id="R917028ee8a9b433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8127b47a54ce1" /><Relationship Type="http://schemas.openxmlformats.org/officeDocument/2006/relationships/notesSlide" Target="/ppt/notesSlides/notesSlide45.xml" Id="R551a6ba565664d5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a81b2b5274d10" /><Relationship Type="http://schemas.openxmlformats.org/officeDocument/2006/relationships/notesSlide" Target="/ppt/notesSlides/notesSlide46.xml" Id="Rad3c17df977146b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515a6279f4d40" /><Relationship Type="http://schemas.openxmlformats.org/officeDocument/2006/relationships/notesSlide" Target="/ppt/notesSlides/notesSlide47.xml" Id="Rbbf9dbfaaed34a6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9be436d454e96" /><Relationship Type="http://schemas.openxmlformats.org/officeDocument/2006/relationships/notesSlide" Target="/ppt/notesSlides/notesSlide48.xml" Id="R42e8dc09ffe14a2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ecab32e4d4a16" /><Relationship Type="http://schemas.openxmlformats.org/officeDocument/2006/relationships/notesSlide" Target="/ppt/notesSlides/notesSlide49.xml" Id="Rc9ce21c7fae7449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526e88f5e44ad" /><Relationship Type="http://schemas.openxmlformats.org/officeDocument/2006/relationships/notesSlide" Target="/ppt/notesSlides/notesSlide50.xml" Id="Rbc20e0c919aa471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a6aa601e84dd5" /><Relationship Type="http://schemas.openxmlformats.org/officeDocument/2006/relationships/notesSlide" Target="/ppt/notesSlides/notesSlide51.xml" Id="Rafbbf3b40c2340d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c306a564c4e53" /><Relationship Type="http://schemas.openxmlformats.org/officeDocument/2006/relationships/notesSlide" Target="/ppt/notesSlides/notesSlide52.xml" Id="Rb2f4874073474fda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be6f51fd84887" /><Relationship Type="http://schemas.openxmlformats.org/officeDocument/2006/relationships/notesSlide" Target="/ppt/notesSlides/notesSlide53.xml" Id="R3305c5d506ee4d1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6cf39391e406a" /><Relationship Type="http://schemas.openxmlformats.org/officeDocument/2006/relationships/notesSlide" Target="/ppt/notesSlides/notesSlide54.xml" Id="Ra4c18b3d3ec64f1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ef99cd8f04724" /><Relationship Type="http://schemas.openxmlformats.org/officeDocument/2006/relationships/notesSlide" Target="/ppt/notesSlides/notesSlide55.xml" Id="R9531be57622e46d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5f9df26344792" /><Relationship Type="http://schemas.openxmlformats.org/officeDocument/2006/relationships/notesSlide" Target="/ppt/notesSlides/notesSlide56.xml" Id="R0281b99df8cd4a0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9c40a2b5b460d" /><Relationship Type="http://schemas.openxmlformats.org/officeDocument/2006/relationships/notesSlide" Target="/ppt/notesSlides/notesSlide57.xml" Id="Rc1a3748c19d745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7F1C5-3C6D-4A3A-8BCE-CAE45144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0C85F-62B8-4233-9DD8-E9FBEE47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KAIROSAI / CORE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08B42-E779-4F0E-AF20-77762861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858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1F33"/>
                </a:solidFill>
              </a:defRPr>
            </a:pPr>
            <a:r>
              <a:rPr sz="5400" b="1">
                <a:solidFill>
                  <a:srgbClr val="0B1F33"/>
                </a:solidFill>
              </a:rPr>
              <a:t>使われる国内主導AIが、</a:t>
            </a:r>
          </a:p>
          <a:p xmlns:a="http://schemas.openxmlformats.org/drawingml/2006/main">
            <a:pPr algn="l">
              <a:defRPr sz="5400" b="1">
                <a:solidFill>
                  <a:srgbClr val="0B1F33"/>
                </a:solidFill>
              </a:defRPr>
            </a:pPr>
            <a:r>
              <a:rPr sz="5400" b="1">
                <a:solidFill>
                  <a:srgbClr val="0B1F33"/>
                </a:solidFill>
              </a:rPr>
              <a:t>日本の改善能力を育てる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EE873-B5F0-4CE9-BC19-721C8CC7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75569"/>
                </a:solidFill>
              </a:defRPr>
            </a:pPr>
            <a:r>
              <a:rPr sz="2250" b="0">
                <a:solidFill>
                  <a:srgbClr val="475569"/>
                </a:solidFill>
              </a:rPr>
              <a:t>実用データと継続能力を守る戦略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F10B-619D-4C0B-B235-7D34C3FA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8F"/>
                </a:solidFill>
              </a:defRPr>
            </a:pPr>
            <a:r>
              <a:rPr sz="1350" b="1">
                <a:solidFill>
                  <a:srgbClr val="006D8F"/>
                </a:solidFill>
              </a:rPr>
              <a:t>Usage · Data · Sovereignty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05360-E2A0-4D8E-9AF9-EB091DA1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v0.3  /  2026-06-22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835F4-EE97-49F9-9BC0-CC91731B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668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C1587-12F7-4956-BC2E-3F4D4F95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430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ED7DA-E801-4724-AB70-9AE52060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193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07C7C-C14E-4482-B359-F7489EBD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6D8F"/>
                </a:solidFill>
              </a:defRPr>
            </a:pPr>
            <a:r>
              <a:rPr sz="1500" b="1">
                <a:solidFill>
                  <a:srgbClr val="006D8F"/>
                </a:solidFill>
              </a:rPr>
              <a:t>利用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F925E-62E1-4234-9631-01F76AE0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924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B56"/>
                </a:solidFill>
              </a:defRPr>
            </a:pPr>
            <a:r>
              <a:rPr sz="1500" b="1">
                <a:solidFill>
                  <a:srgbClr val="183B56"/>
                </a:solidFill>
              </a:rPr>
              <a:t>改善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7F9EE-592E-41C1-8A57-D3BCBFD1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D64"/>
                </a:solidFill>
              </a:defRPr>
            </a:pPr>
            <a:r>
              <a:rPr sz="1500" b="1">
                <a:solidFill>
                  <a:srgbClr val="147D64"/>
                </a:solidFill>
              </a:rPr>
              <a:t>継続</a:t>
            </a:r>
          </a:p>
        </p:txBody>
      </p:sp>
    </p:spTree>
    <p:extLst>
      <p:ext uri="{BB962C8B-B14F-4D97-AF65-F5344CB8AC3E}">
        <p14:creationId xmlns:p14="http://schemas.microsoft.com/office/powerpoint/2010/main" val="2097267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BB0D4B-76A4-41BD-8E0F-569830CE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56"/>
                </a:solidFill>
              </a:defRPr>
            </a:pPr>
            <a:r>
              <a:rPr sz="1125" b="1">
                <a:solidFill>
                  <a:srgbClr val="183B56"/>
                </a:solidFill>
              </a:rPr>
              <a:t>EXECUTIVE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804BC-BE90-4190-B22D-C53E351C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600B6-D866-45E7-B048-1470B58B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810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使われない国産AIでは、</a:t>
            </a:r>
          </a:p>
          <a:p xmlns:a="http://schemas.openxmlformats.org/drawingml/2006/main">
            <a:pPr algn="l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使われる外資AIから主権を守れない。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7FCED-2861-4AF6-87E0-39CC39ED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75569"/>
                </a:solidFill>
              </a:defRPr>
            </a:pPr>
            <a:r>
              <a:rPr sz="2100" b="0">
                <a:solidFill>
                  <a:srgbClr val="475569"/>
                </a:solidFill>
              </a:rPr>
              <a:t>実用性で選ばれ、使うほど日本側の改善能力と継続能力が強くなる構造をつくる。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7FBA4-24EC-4C89-8276-29A7FD7A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1171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F6446-F260-4CB1-A426-C05C78A7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3B25B-DF21-430C-B125-3DC8B39A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守る対象は、モデルでも保存場所でもなく「改善を続ける能力」である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F22D2-1D7F-4CDA-9F10-D277DC18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5E641-976C-42E8-A2B2-5CB75AD0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5BD3E-9072-4542-A125-498DCA0B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USAGE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99122-BD3B-4295-9D79-DF4EE47C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現場で使う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99924-4CCF-43E1-9932-6B228965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判断、修正、失敗、例外、状態遷移、実行結果が生まれる。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2A29F-AF56-4E70-B370-CE995E0E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74C3A-0A7B-430C-9AEA-F5C7C331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824FB-8918-47DC-9EFD-ECD89E61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権利を整える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DAAE2-17EA-4C03-A00D-B6419629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1470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利用目的、許諾、来歴、品質、削除条件を明確にする。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29F18-4C4C-4C5B-B03B-CB220E17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EE61D-AE61-4EAD-B6A7-2EB56E5A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IMPROVEMENT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B8ED5-E8D7-4E8E-B98C-8A44DA63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国内で改善する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FCEA2-B8E5-4AAE-9A2B-B64AB2FA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評価、知識配置、配備、停止、rollback、移行を実行する。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DFD06-6F6B-41E3-B9BC-C202EC2E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最上位命題：利用を起点に国内の改善能力を育て、その能力を外部都合で失わない。</a:t>
            </a:r>
          </a:p>
        </p:txBody>
      </p:sp>
    </p:spTree>
    <p:extLst>
      <p:ext uri="{BB962C8B-B14F-4D97-AF65-F5344CB8AC3E}">
        <p14:creationId xmlns:p14="http://schemas.microsoft.com/office/powerpoint/2010/main" val="1858656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89864-8301-4B0F-B72F-8BB02A05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4205B-7202-4B2B-8186-405798CF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戦略は「利用」と「制御」を同時に成立させる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18A2C-9BB7-43FB-B114-4FC524CB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E8AED-0073-4F4E-AA3F-F93591A9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8F4A6-DC14-4C16-B819-6041BD57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9A2D1-BC2A-4089-B246-55F1B024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CONDITION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B67F9-0631-40CC-9E94-BB7A2AE4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継続して使われる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E4880-370C-41DB-8E58-DF8306C2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5219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価値がなければ利用は続かず、実用データ、評価知識、改善要求、実ワークロードは生まれない。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C08FF-AAEF-41A0-9C89-D1CEE460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99E07-6D3C-47DE-A73E-506C2A5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56"/>
                </a:solidFill>
              </a:defRPr>
            </a:pPr>
            <a:r>
              <a:rPr sz="1125" b="1">
                <a:solidFill>
                  <a:srgbClr val="183B56"/>
                </a:solidFill>
              </a:rPr>
              <a:t>CONDITION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A4C4A-8CCC-4F05-82B7-104E6D73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国内側が制御する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F9C10-2F71-4E56-8E30-930D612E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219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利用が増えても、更新、移行、停止、供給継続を外部事業者の判断へ不可逆に委ねない。</a:t>
            </a:r>
          </a:p>
        </p:txBody>
      </p:sp>
    </p:spTree>
    <p:extLst>
      <p:ext uri="{BB962C8B-B14F-4D97-AF65-F5344CB8AC3E}">
        <p14:creationId xmlns:p14="http://schemas.microsoft.com/office/powerpoint/2010/main" val="2785250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B0713F-DD33-4E0C-B069-307F8220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C8210-CE0A-41A2-BD74-A325CF2C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「国内主導」は、部品の国籍ではなく四つの実質能力で測る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1C3DE-5E87-46BF-B265-613C3827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B1347-4353-4459-9EA0-2C13B21B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1EA60-3707-4034-B2B1-09AA7F72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533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483C0-F20E-43F5-B665-FE274F4E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8F"/>
                </a:solidFill>
              </a:defRPr>
            </a:pPr>
            <a:r>
              <a:rPr sz="1350" b="1">
                <a:solidFill>
                  <a:srgbClr val="006D8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7BEB1-E121-474A-ABEE-724351F9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決定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2B5C0-142D-4D51-9E07-844AB477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何を学習・評価・配備・停止するかを国内側が決める。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78F4F-5B64-4B05-B0A9-3F214277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533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3232C-26C6-49AC-AB2C-B4CE0FFC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955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8F"/>
                </a:solidFill>
              </a:defRPr>
            </a:pPr>
            <a:r>
              <a:rPr sz="1350" b="1">
                <a:solidFill>
                  <a:srgbClr val="006D8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9B2AA-1487-4BC9-9C47-E2C930C4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実行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88F54-4CE7-4E70-902E-BB9AB9DC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外部の個別承認を待たず、国内側で決定を実行する。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456CB-47DF-4F20-AF8A-21440427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533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F3A87-CF66-482D-A150-CA6BD618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8F"/>
                </a:solidFill>
              </a:defRPr>
            </a:pPr>
            <a:r>
              <a:rPr sz="1350" b="1">
                <a:solidFill>
                  <a:srgbClr val="006D8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3CE57-F0DC-4880-A460-B82F6913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37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移行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9E193-1197-4781-839A-719EE5D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データ、モデル、評価、業務ロジックを別実装へ移す。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09C74-1804-4DF9-B5F6-7AF441D9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2533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986C8-5CF1-4D67-9ECF-5DAFEC08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8F"/>
                </a:solidFill>
              </a:defRPr>
            </a:pPr>
            <a:r>
              <a:rPr sz="1350" b="1">
                <a:solidFill>
                  <a:srgbClr val="006D8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20CDB-3F5E-489E-BEAE-35E31493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337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継続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27231-54C8-45D7-950F-8A127BE1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576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API停止、契約終了、輸出管理、供給障害時も業務を続ける。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C53C2-CEA2-4CF6-9DAC-A1621323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OSS、海外GPU、海外ファウンドリを使っても、四条件を満たす限り国内主導と両立する。</a:t>
            </a:r>
          </a:p>
        </p:txBody>
      </p:sp>
    </p:spTree>
    <p:extLst>
      <p:ext uri="{BB962C8B-B14F-4D97-AF65-F5344CB8AC3E}">
        <p14:creationId xmlns:p14="http://schemas.microsoft.com/office/powerpoint/2010/main" val="1737066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29FE9-8799-4608-8601-259A08C5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684B4-A47B-47FD-9566-481F6F7A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事実・設計仮説・戦略的推論を、同じ強さで語らない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63F8A-242F-43A8-89C8-5DF6FE4B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3DF9C-CE23-48C2-9754-7D50F70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A012A-646B-419F-803C-3A062BAC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64"/>
                </a:solidFill>
              </a:defRPr>
            </a:pPr>
            <a:r>
              <a:rPr sz="1125" b="1">
                <a:solidFill>
                  <a:srgbClr val="147D64"/>
                </a:solidFill>
              </a:rPr>
              <a:t>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20B09-9CD8-4DA3-B84D-EF5683C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確認済み事実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D3633-5983-442D-B461-66C311EC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429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一次資料、契約、製品仕様、実測値で確認できるもの。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C9C9A-9E90-4DF3-BA28-96E8905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6EAF9-C46A-4057-878B-6431FE09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HYPOTHESIS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08567-97CF-4A74-8F93-001C8423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設計仮説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25279-E756-4467-AEA2-E7496D79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3429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Pilotや技術検証によって確認すべき性能、ROI、移行性。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00D90-A964-4FC7-9311-445971D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56B1B-C1BA-425F-BF59-5AD2C7E2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2D9"/>
                </a:solidFill>
              </a:defRPr>
            </a:pPr>
            <a:r>
              <a:rPr sz="1125" b="1">
                <a:solidFill>
                  <a:srgbClr val="2B62D9"/>
                </a:solidFill>
              </a:rPr>
              <a:t>INFERENCE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E35EC-CA8A-467E-AE16-EC9C5C3B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戦略的推論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8D5E9-A6C9-458F-934C-E94095DC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3429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確認済み事実からKairosAIが導く政策・事業上の判断。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F81EC-9CAC-4B67-A743-A8A7B86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外資製品の権利構造や学習利用について、確認できていない事項を断定しない。</a:t>
            </a:r>
          </a:p>
        </p:txBody>
      </p:sp>
    </p:spTree>
    <p:extLst>
      <p:ext uri="{BB962C8B-B14F-4D97-AF65-F5344CB8AC3E}">
        <p14:creationId xmlns:p14="http://schemas.microsoft.com/office/powerpoint/2010/main" val="5429679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E8AFFE-A730-41A7-BCA5-21F389D2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C9D6"/>
                </a:solidFill>
              </a:defRPr>
            </a:pPr>
            <a:r>
              <a:rPr sz="1200" b="1">
                <a:solidFill>
                  <a:srgbClr val="9FC9D6"/>
                </a:solidFill>
              </a:rPr>
              <a:t>SECTION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BD63F-FB1B-4A27-9A62-B744EF52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改善主権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3D16E-815C-451E-8BB3-2B9B19B1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ABEA6-E41C-4A1F-AFD4-DE338CBF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E8EE"/>
                </a:solidFill>
              </a:defRPr>
            </a:pPr>
            <a:r>
              <a:rPr sz="2100" b="0">
                <a:solidFill>
                  <a:srgbClr val="DCE8EE"/>
                </a:solidFill>
              </a:rPr>
              <a:t>現場利用を、評価・改善・再配備の循環へ変えるには何が必要か。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2FEB0-C7E5-4104-BCEC-1B54DE8B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AD4"/>
                </a:solidFill>
              </a:defRPr>
            </a:pPr>
            <a:r>
              <a:rPr sz="1050" b="0">
                <a:solidFill>
                  <a:srgbClr val="B8CAD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7963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DEAFB-CCF8-4532-B6E2-240D25C5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IMPROVEMENT SOVEREIGNTY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7C029-CBE0-480C-93F9-E37D522F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利用から再利用までの循環そのものが、守るべき資産である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788C2-A9BC-41FE-8487-D8B8626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60622-A6E5-44F4-88C1-639070C9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05A82-31F9-4386-A664-FB036B3F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9908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D8F"/>
                </a:solidFill>
              </a:defRPr>
            </a:pPr>
            <a:r>
              <a:rPr sz="2250" b="1">
                <a:solidFill>
                  <a:srgbClr val="006D8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CA54A-44C5-4457-990E-1BD15EE4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460" y="29908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D8F"/>
                </a:solidFill>
              </a:defRPr>
            </a:pPr>
            <a:r>
              <a:rPr sz="2250" b="1">
                <a:solidFill>
                  <a:srgbClr val="006D8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0D7EB-A4B8-43BD-9C81-54822EB4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0" y="29908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D8F"/>
                </a:solidFill>
              </a:defRPr>
            </a:pPr>
            <a:r>
              <a:rPr sz="2250" b="1">
                <a:solidFill>
                  <a:srgbClr val="006D8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2325B-1ECD-4FCF-97E5-6101855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820" y="29908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6D8F"/>
                </a:solidFill>
              </a:defRPr>
            </a:pPr>
            <a:r>
              <a:rPr sz="2250" b="1">
                <a:solidFill>
                  <a:srgbClr val="006D8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AB407-A802-4FE1-A2D4-80B236AE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116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3DD26-4D5E-4426-A213-7D3CE1A3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116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6E653-0C1E-4C24-83D4-F4B680E1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利用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4851C-B5BD-4277-A371-C4BC3D0E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重点業務で価値を出す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F118D-192C-4468-87ED-69A4B128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476500"/>
            <a:ext cx="20116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A9DCE-59AD-4224-ADCB-F78884DF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667000"/>
            <a:ext cx="20116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E3FB0-7158-4ED7-A9C2-86541364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302895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捕捉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6D841-75F3-4228-872F-14EA24BD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360045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判断・修正・実行結果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3274E-B116-4A4B-B15F-6A7ACEAD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476500"/>
            <a:ext cx="20116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6D4EB-517B-4658-8B4F-CBC2C38A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667000"/>
            <a:ext cx="20116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04354-BC74-4B8D-BA83-DF1D8183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02895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判定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90676-D8A9-4D40-825C-DE2CB8A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60045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権利・品質・来歴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EAB03-B92B-4DB3-B364-DD8CE686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476500"/>
            <a:ext cx="20116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71D4F-BB30-4481-BD9D-4737A659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2667000"/>
            <a:ext cx="20116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01B875-2918-48C8-B81F-EFBDB2C7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302895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改善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48F82-3A73-4B55-B8A9-BFE24C85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360045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評価・学習・知識配置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4AD7C-0ABC-423A-8E44-B987906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476500"/>
            <a:ext cx="20116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3C988-41F7-414C-87AD-F57510D7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2667000"/>
            <a:ext cx="20116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92AC6-2433-494C-8C6F-9B0D1721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302895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再配備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D0F31-9117-42B3-BBF7-9E94032C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360045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署名・停止・rollback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FFD92-7DB5-4223-B434-2CF9A36A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085C4-8675-4DA5-844D-C0108062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86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改善主権 = 国内側でこの循環を維持する能力</a:t>
            </a:r>
          </a:p>
        </p:txBody>
      </p:sp>
    </p:spTree>
    <p:extLst>
      <p:ext uri="{BB962C8B-B14F-4D97-AF65-F5344CB8AC3E}">
        <p14:creationId xmlns:p14="http://schemas.microsoft.com/office/powerpoint/2010/main" val="661882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6F384A-B18B-4AEA-A507-D822B43B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PRACTICAL 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BBA7C-7B9B-48C0-93DA-917A0DF6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価値を持つのは、現場でしか生まれない判断と結果の対応関係である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F510E-9378-425A-8A21-C4CBD5CC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44900-A15C-43F6-98F4-56B9C45B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9A0B3-34D3-4004-8F94-BB2ABF3D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0D948-889C-42CE-A147-166DEBFC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DECISION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75B9D-A7C1-42A3-9431-E7DAE3CC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何を判断したか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02EC5-A9D4-44C2-B73F-18C152C5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CA316-3231-4F0B-A31D-2365BA19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状態と判断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1006A-6C88-4A65-AC72-AC69C271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C8F26-C259-4D47-A36C-20AE0649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専門家の修正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5E60D-4FEC-4B33-9620-54EBC59B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0ACF9-8D9E-4F08-9071-3D74ADA3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承認・棄却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FA348-CBFD-4D9D-91C6-BAE108F2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C37DB-60E0-49D4-9590-1A8590FF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関与したモデル・権限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57DFF-EE8E-489B-AA8A-D4AF2311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FF518-1B9F-4438-BCDD-6DA2556E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64"/>
                </a:solidFill>
              </a:defRPr>
            </a:pPr>
            <a:r>
              <a:rPr sz="1125" b="1">
                <a:solidFill>
                  <a:srgbClr val="147D64"/>
                </a:solidFill>
              </a:rPr>
              <a:t>OUTCOME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5677D-AD62-4888-B624-BBE14FD8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何が起きたか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31B3D-52B4-4C56-907B-AAB18B03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8DB98-1A42-44E6-9E12-E46BC3F0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状態遷移と実行結果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86640-85A3-44F2-8AF8-97ED6BC3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874F0-E92B-4F8D-B5E4-6604C880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成功・失敗・事故・停止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FA96E-A38D-4723-B98B-8C8EFFF0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399D9-38FD-44EA-A10E-693974A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損失回避・時間短縮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624A4-DAB5-4181-9D48-6CB1F98F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00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D9367-78A9-414D-8FA7-E03D86EE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遅延・電力・メモリ・コスト</a:t>
            </a:r>
          </a:p>
        </p:txBody>
      </p:sp>
    </p:spTree>
    <p:extLst>
      <p:ext uri="{BB962C8B-B14F-4D97-AF65-F5344CB8AC3E}">
        <p14:creationId xmlns:p14="http://schemas.microsoft.com/office/powerpoint/2010/main" val="811644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60AF5-ACDE-4958-82A2-E25A08D4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ASSET QUALIFICATION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C7DC8-F31C-4040-BF96-FEA1E44C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保存しただけのデータは、まだ学習資産ではない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5D4CE-D042-4AFE-AE5D-627E6F69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4C40E-5181-4606-8974-FBEFE3B0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91805-E9AF-4C6B-9662-8D7A17D3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8F"/>
                </a:solidFill>
              </a:defRPr>
            </a:pPr>
            <a:r>
              <a:rPr sz="1275" b="1">
                <a:solidFill>
                  <a:srgbClr val="006D8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9F217-FE87-46AB-8676-3E739BB8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43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対応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D128A-E77C-4ABC-AB5F-79E6F894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62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判断と実行結果が対応づく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F727D-29DB-4874-BB01-AEB3B4E4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B1B29-6BAC-4865-9D98-74DCBC62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8F"/>
                </a:solidFill>
              </a:defRPr>
            </a:pPr>
            <a:r>
              <a:rPr sz="1275" b="1">
                <a:solidFill>
                  <a:srgbClr val="006D8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59ABF-731B-4AD6-878A-7EE2830A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追跡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B4E77-CE31-441C-A7F9-56CC0BA2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62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出所とmodel versionを追える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EA0E5-8333-4F36-9B2A-3CF76C4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86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934A8-ED31-45A1-920C-1B6CC576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8F"/>
                </a:solidFill>
              </a:defRPr>
            </a:pPr>
            <a:r>
              <a:rPr sz="1275" b="1">
                <a:solidFill>
                  <a:srgbClr val="006D8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702D3-7CDE-413E-8F2B-7C0D258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権利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DB811-62B0-449D-9DB1-E32FA47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05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目的・許諾・期限・削除条件が明確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973A6-77E3-450D-A369-B7F25ED4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461C0-EB73-4628-8548-A1268152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86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8F"/>
                </a:solidFill>
              </a:defRPr>
            </a:pPr>
            <a:r>
              <a:rPr sz="1275" b="1">
                <a:solidFill>
                  <a:srgbClr val="006D8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F6ADB-D404-4236-98C0-946D1969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86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品質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6A1DF-961B-4C25-8CB5-51B57776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評価可能な品質を持つ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A70CD-9E43-42A5-9AF6-1DBCAC99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29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1DF1B-57FF-4F3C-9C64-5089CF2B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8F"/>
                </a:solidFill>
              </a:defRPr>
            </a:pPr>
            <a:r>
              <a:rPr sz="1275" b="1">
                <a:solidFill>
                  <a:srgbClr val="006D8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E705A-0ED1-4FD7-AAFC-8058E8EF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29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37862-F240-4DDF-8C3E-4CD35674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48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重み/RAG/KG/adapter/ルールを選べる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0EC12-EA0C-4047-8EBF-D4545789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FDDB5-E1C7-41C1-9898-0A62BF40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291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D8F"/>
                </a:solidFill>
              </a:defRPr>
            </a:pPr>
            <a:r>
              <a:rPr sz="1275" b="1">
                <a:solidFill>
                  <a:srgbClr val="006D8F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B3380-47FC-4388-BA35-91B26688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29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再配備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2F9DB2-8139-446F-A305-2D798C2F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48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安全に配備・停止・rollbackできる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924826-7584-4115-8C03-81BCEAC9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720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4F1B58-3FA7-4A82-8C53-EA11BA69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守るべき中心資産はデータ量ではなく、改善へ接続できる状態である。</a:t>
            </a:r>
          </a:p>
        </p:txBody>
      </p:sp>
    </p:spTree>
    <p:extLst>
      <p:ext uri="{BB962C8B-B14F-4D97-AF65-F5344CB8AC3E}">
        <p14:creationId xmlns:p14="http://schemas.microsoft.com/office/powerpoint/2010/main" val="501176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872C7-09B9-4976-A6BE-56718FFC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C9D6"/>
                </a:solidFill>
              </a:defRPr>
            </a:pPr>
            <a:r>
              <a:rPr sz="1200" b="1">
                <a:solidFill>
                  <a:srgbClr val="9FC9D6"/>
                </a:solidFill>
              </a:rPr>
              <a:t>SECTION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60EBA-239E-494D-85E6-7DA1413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依存と権利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EB4EC-1A63-48AC-BE2B-E85A684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D0BC2-5A67-47C9-8C42-AEE0FB80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E8EE"/>
                </a:solidFill>
              </a:defRPr>
            </a:pPr>
            <a:r>
              <a:rPr sz="2100" b="0">
                <a:solidFill>
                  <a:srgbClr val="DCE8EE"/>
                </a:solidFill>
              </a:rPr>
              <a:t>国籍ではなく、選択肢を失う構造を脅威として捉える。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0B2C6-BBCF-4EE2-9C49-0FEF595E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AD4"/>
                </a:solidFill>
              </a:defRPr>
            </a:pPr>
            <a:r>
              <a:rPr sz="1050" b="0">
                <a:solidFill>
                  <a:srgbClr val="B8CAD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43319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268F7-3E35-43F3-AC8F-8276606B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THREAT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7E2AE-8A64-45C9-8255-0105BE46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最大のリスクは、重要AIの改善と継続に関する選択肢を失うこと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D0FB0-3835-4D00-9774-62C6856F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650C5-E88C-479F-A8E7-0F2DE8F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EA306-BCD6-47F4-9113-5ACF99DA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FF11A-6F76-452D-92C1-E736024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製品依存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6C31E-B54A-4F3A-A104-1CE0BBBD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API・価格・地域・機能廃止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EB25A-8F81-440B-8A81-20DAA2FF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BBF71-6B73-4631-BF4F-EBB9F3AB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C9C5F-1E4F-4C8A-ACCD-9570AA75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知識依存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25979-ADC1-4978-B31B-9CAB247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194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評価・運用・障害対応の固有化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3A9BD-FF34-4700-B697-6867F706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A937A-29AA-4288-99F1-B62987E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08844-D913-4648-8712-0106A5E3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業務依存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ADA7A-ABF0-4F1E-B9BD-2430A840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43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業務フロー・形式の固有化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AB286-2F94-4648-BCEE-7A1C8886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2E4D7-A14F-42D7-B294-596BE54D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A4B17-0BFF-4071-A18A-DCFF5F7E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供給依存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9DE74-D26E-4660-8D7A-4341C50D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672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API・GPU・部品・license停止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F9C8D-F083-4BB1-AC37-0CFE4AD4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4F095-2420-4A55-984F-36C7540D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CDAED-A4B1-4581-A275-F9F4ABE4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更新依存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90E41-4FE4-49DA-BB94-2F17B58B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91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モデル・基盤SW・policyの改変制約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981FB-A6DF-4273-BB37-36B41545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866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F165B-8D5C-4128-A964-34468B20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1428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1FE16-5DE8-4255-87E7-25C32783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288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問うべきこと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F7624-C8CA-4B10-9D07-891E172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104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誰が</a:t>
            </a:r>
          </a:p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決めるか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誰が</a:t>
            </a:r>
          </a:p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動かすか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どこへ</a:t>
            </a:r>
          </a:p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移せるか</a:t>
            </a:r>
          </a:p>
        </p:txBody>
      </p:sp>
    </p:spTree>
    <p:extLst>
      <p:ext uri="{BB962C8B-B14F-4D97-AF65-F5344CB8AC3E}">
        <p14:creationId xmlns:p14="http://schemas.microsoft.com/office/powerpoint/2010/main" val="1233328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47F108-5E7E-4578-AA6E-8F6677A0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STRATEGY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9C7BF-E2F8-4468-8C40-EF95F2D0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主権上の必須能力と、競争上の差別化を別々に設計する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1EB82-B4AB-40D8-8E9F-E261A3F5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9343B-19B3-4B50-8566-772089BF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67259-F318-4338-80A1-A3ED5B16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1D63B-4504-46BC-A7B2-CBE1F6C2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688F4-DF6D-4488-A609-7A3CD95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526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国内側が確保する状態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8BA6F-4ED3-4794-8CE6-05FD77E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526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主権上の意味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1160C-5A51-4184-8BD1-64C95B2B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競争上の意味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F9759-8186-446C-A7F6-C76CC066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7D2F1-867F-47CA-A8BD-7DD9C908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BFDCC-4B97-4FD7-92A0-4A637586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683A9-D36D-4306-A8C1-4CF75357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432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重点業務への継続導入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76C57-0D0D-4F9E-81C4-88D4912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改善資産を生む前提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F12C9-DB67-483F-ADBB-AC1FA102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43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実用性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1BFB6-BFEC-42DF-BF11-D4E754E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46B3A-4E35-4923-8D9F-EBBD90D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E2188-1CBF-4C5A-B1B2-05EF1E3D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データ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5FDB7-C2FF-4CB3-B462-76CA56F8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528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原本・権利・来歴・削除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1CEE4-2FCB-44C9-A3D0-32459E9A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52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必須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7373A-7EC0-4D68-9503-F233C67E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保存場所だけでは弱い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4EA7C-CD26-4B0F-A219-11E071A8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9FC929-5867-4BA3-A44A-B3325418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A8E3E-7C68-41B6-BA57-0ED01F4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改善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89846B-67E4-4BEB-B3C3-C244543A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624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評価・配置・学習・停止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D15A8-0E04-49F3-B108-20819792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62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中核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DC3CE-655F-4DFA-B612-74C9155C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独立実行・改善速度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03C11D-A861-48EF-87D2-FEF2C2F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761C4-0383-4118-8E26-6F7E190D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B193A6-C015-4185-ABBA-8A0617A7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実行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CE86A2-47C0-44C6-B47D-4A5A2C22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72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state・policy・承認・action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D35BC-A636-452C-87D2-AA194977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720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必須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E9CF24-5A90-4703-8614-B2A69B85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72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構造は模倣可能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F78E71-4EB1-4AE5-94DD-F7A0BD2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4AF16D-DE42-48FD-9743-780ECC4B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5163E2-F58D-4EF0-A632-E47DD542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計算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1CE214-59B4-47AE-94DC-49ADAD3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816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高効率・境界内・継続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ACF856-AD42-4906-A6E3-413D61B2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816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非オプション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0E6CBA-E765-467C-9454-ECF24CE8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81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outcome/TCO・電力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61CD13-290B-4441-8705-60140FFD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競合にも実装できる能力であっても、国内側が持たなくてよいとは限らない。</a:t>
            </a:r>
          </a:p>
        </p:txBody>
      </p:sp>
    </p:spTree>
    <p:extLst>
      <p:ext uri="{BB962C8B-B14F-4D97-AF65-F5344CB8AC3E}">
        <p14:creationId xmlns:p14="http://schemas.microsoft.com/office/powerpoint/2010/main" val="19845785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67229-B0D3-4C61-A195-52612707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RIGHTS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07B46-88A7-42C7-87B2-4D0F3746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「所有」ではなく、資産群と行為ごとの権利束で帰属を設計する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32F9C-3FF8-46B3-9642-B67D3374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63715-51AD-45C5-B784-814C7E48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524D1-30F9-4067-9691-F498D023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33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8A0F4-548A-4238-B4BF-41E66EE6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77DF6-BCBA-45E9-94A4-BCC3612E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顧客主権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C4099-16B2-4B2E-BD19-3E5BCAEF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生データ、固有Graph/adapter、golden set、outcome。顧客境界に残る。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EEB1E-0649-4E18-9143-6B58A01C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533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D5797-DDAF-417E-A730-EA1B586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050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8F"/>
                </a:solidFill>
              </a:defRPr>
            </a:pPr>
            <a:r>
              <a:rPr sz="1350" b="1">
                <a:solidFill>
                  <a:srgbClr val="006D8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E3A1C-1DDE-4168-BEB6-494B50E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432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許諾済み信号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D4F14-F586-4F85-BE47-3DE19F4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671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匿名化telemetry、集約統計、明示許諾された評価結果。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40541-5B32-4998-9FC2-5F2BBA98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533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963F2-5CD9-4CA9-A870-4F5F8B42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62D9"/>
                </a:solidFill>
              </a:defRPr>
            </a:pPr>
            <a:r>
              <a:rPr sz="1350" b="1">
                <a:solidFill>
                  <a:srgbClr val="2B62D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92EF3-A384-45F9-B4DA-F5952D6A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KairosAI共通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309ED-0447-4864-8256-93D3F6DC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71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schema、評価template、harness、compiler、runtime、運用pattern。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1019B-8BF8-46E2-BEF1-1AF0A1CB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533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FDFE4-AB4F-4859-9FB6-CA3FDA4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D64"/>
                </a:solidFill>
              </a:defRPr>
            </a:pPr>
            <a:r>
              <a:rPr sz="1350" b="1">
                <a:solidFill>
                  <a:srgbClr val="147D64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1BA0F-0CD6-4CE6-916C-236505CB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533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国内共有能力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11134-0DEA-4516-9D41-124CE654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67100"/>
            <a:ext cx="2533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共有core、標準、設計IP、benchmark。退出条件を定義。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D3D86-E7D9-4298-B177-4ADFC59A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保有・利用・学習投入・派生・再許諾・削除・配備・持出し・利益配分を個別に定義する。</a:t>
            </a:r>
          </a:p>
        </p:txBody>
      </p:sp>
    </p:spTree>
    <p:extLst>
      <p:ext uri="{BB962C8B-B14F-4D97-AF65-F5344CB8AC3E}">
        <p14:creationId xmlns:p14="http://schemas.microsoft.com/office/powerpoint/2010/main" val="14510480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F573F-7266-42E5-A9E9-DF83368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KNOWLEDGE PLACEMENT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D1CA4-6F75-46A4-B426-B35AF73A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削除・訂正が必要な知識は、共有モデルの重みに固定しない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A0ACB-3E53-491C-B343-A1087EB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B31B3-F84E-4CC2-A9C2-74917A41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EC3B5-EFD2-4870-8039-5F42497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5BE35-329E-4EBE-9244-2F3515FD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64"/>
                </a:solidFill>
              </a:defRPr>
            </a:pPr>
            <a:r>
              <a:rPr sz="1125" b="1">
                <a:solidFill>
                  <a:srgbClr val="147D64"/>
                </a:solidFill>
              </a:rPr>
              <a:t>KEEP REVERSIBLE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79FF2-915C-4AB6-915D-B4B6AD9A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監査できる場所へ置く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4841D-029A-4395-BE76-EE2BC6F1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E82C6-CBD1-414D-B5DA-3AD5504F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2B361-413F-4635-B6B5-838C1FFF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2DE66-2E11-437D-9E15-34DD1DBE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Knowledge Graph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131C0-452E-4FC5-89E6-AA88E67E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204D7-08C9-4D53-A15B-8B3D668F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state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6096C-1B82-45EA-B464-A4EB3294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B81EA-AD02-4906-AED4-0F2CB834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顧客固有adapter・ルール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BD42D-DB0B-4674-AD9E-E1D67F4A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916EA-B4D3-4726-AAD2-82CAAF10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SHARE WITH CONDITIONS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C012A-A7C6-42B8-9ED7-765DE85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共有コアは限定信号のみ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AE758-5E5B-4A3D-AF37-211F89F5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9D990-C15E-4BAB-89D4-E4707CEA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目的と反映先を明示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46E55-D7F2-450F-B843-1765139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60C61-52EC-4B44-B9EA-2D1844C8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正当な権利者が許諾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62849-E78D-47E4-9ABC-BCFB296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CE954-2665-4DF7-A12F-90A6A7D6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再識別リスクを評価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6EA90-FF27-4DE3-BC22-ED006465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00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378EB-4317-4B5A-B87D-521EDBC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F33"/>
                </a:solidFill>
              </a:defRPr>
            </a:pPr>
            <a:r>
              <a:rPr sz="1650" b="0">
                <a:solidFill>
                  <a:srgbClr val="0B1F33"/>
                </a:solidFill>
              </a:rPr>
              <a:t>寄与と終了後の扱いを追跡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BB44F-03D2-4000-A2A6-1D88C670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secure aggregationや差分privacyはリスク低減手段であり、権利処理を不要にはしない。</a:t>
            </a:r>
          </a:p>
        </p:txBody>
      </p:sp>
    </p:spTree>
    <p:extLst>
      <p:ext uri="{BB962C8B-B14F-4D97-AF65-F5344CB8AC3E}">
        <p14:creationId xmlns:p14="http://schemas.microsoft.com/office/powerpoint/2010/main" val="20459852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59E92-469B-461E-A66D-5C71ACC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COMPETITIVE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862CC-7181-476C-AD73-91BA00AD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外資の主権配慮基盤とは、確認可能な差だけで比較する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A4D0E-95C5-4940-938E-8D61BFFC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98C76-676F-49E7-BB52-4CDC85C3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FA1EA-1CE9-4EF4-88B1-37CEA1E9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1C968-B13F-4270-A264-BF775F9F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64"/>
                </a:solidFill>
              </a:defRPr>
            </a:pPr>
            <a:r>
              <a:rPr sz="1125" b="1">
                <a:solidFill>
                  <a:srgbClr val="147D64"/>
                </a:solidFill>
              </a:rPr>
              <a:t>CONFIRMED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097DC-0A11-4CA6-A971-9419DD63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公開情報で確認できる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B3FBD-2A1B-4029-A6FC-2E469936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621D3-1027-4081-B0A8-AB2BF77E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99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Palantir / NVIDIAがSovereign AI OS構想を発表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80A17-40BB-4B8E-9A9E-A3BE072E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63FCB-6094-4720-8C2E-405BFB9F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99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顧客がデータ・モデル・アプリを制御すると説明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9A7A8-E4DB-4A46-BE68-BFF8222E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B9538-9EE4-4E8A-8B90-F656F655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99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外部モデルの持込み、開発、評価、releaseが可能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1D868-A033-46BC-B797-D8AE673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FD6AE-E5C6-4AAF-BE10-9CBB6B92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NOT CONFIRMED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D6668-4C17-4816-BF7C-E30D5673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公開情報だけでは確定しない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0956A-D662-4E93-BDC3-09AE7E75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C4AE6-CFAD-474B-831F-D571DD37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67100"/>
            <a:ext cx="499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基盤SWの改変・派生・保守権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09B52-899F-4BF5-8E87-2CE99CF9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D4C5C-6141-4E9B-9A55-346F7C19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95750"/>
            <a:ext cx="499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Ontology・業務ロジックの完全移植性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F563D-6628-44C8-B6AB-BF00604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8A6B8-C12C-41E6-A918-926EABCD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24400"/>
            <a:ext cx="499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契約終了時の鍵・成果物・運用知識の移転</a:t>
            </a:r>
          </a:p>
        </p:txBody>
      </p:sp>
    </p:spTree>
    <p:extLst>
      <p:ext uri="{BB962C8B-B14F-4D97-AF65-F5344CB8AC3E}">
        <p14:creationId xmlns:p14="http://schemas.microsoft.com/office/powerpoint/2010/main" val="13627788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CEFE8-BDE2-41C1-95D0-7AD4C039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2CB17-96B5-4DFD-93F3-4732F0C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KairosAIの差別化は、モデルではなく「国内へ能力が残ること」で証明する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67228-29C8-4BFD-8B21-689ABF77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60DDF-CD93-4FBB-B30D-B2002A41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FC0F1-EB6D-4696-9243-678E0708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6D8F"/>
                </a:solidFill>
              </a:defRPr>
            </a:pPr>
            <a:r>
              <a:rPr sz="2550" b="1">
                <a:solidFill>
                  <a:srgbClr val="006D8F"/>
                </a:solidFill>
              </a:rPr>
              <a:t>監査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7238F-9798-4F0A-B363-0F1710D3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28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6D8F"/>
                </a:solidFill>
              </a:defRPr>
            </a:pPr>
            <a:r>
              <a:rPr sz="2550" b="1">
                <a:solidFill>
                  <a:srgbClr val="006D8F"/>
                </a:solidFill>
              </a:rPr>
              <a:t>改変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8BB8C-8575-4DE3-8687-AB0E2F87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6D8F"/>
                </a:solidFill>
              </a:defRPr>
            </a:pPr>
            <a:r>
              <a:rPr sz="2550" b="1">
                <a:solidFill>
                  <a:srgbClr val="006D8F"/>
                </a:solidFill>
              </a:rPr>
              <a:t>移植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ED43C-861B-4628-9F7A-078D2FF6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6D8F"/>
                </a:solidFill>
              </a:defRPr>
            </a:pPr>
            <a:r>
              <a:rPr sz="2550" b="1">
                <a:solidFill>
                  <a:srgbClr val="006D8F"/>
                </a:solidFill>
              </a:rPr>
              <a:t>配備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9D36E-D3EF-42D1-BFF3-E01E9A21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28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6D8F"/>
                </a:solidFill>
              </a:defRPr>
            </a:pPr>
            <a:r>
              <a:rPr sz="2550" b="1">
                <a:solidFill>
                  <a:srgbClr val="006D8F"/>
                </a:solidFill>
              </a:rPr>
              <a:t>代替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7871D-C949-4A7A-89FF-C935FF8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B77B9-77FA-42FD-8E49-AB955728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契約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5BA7D-38BD-4758-811A-6CC3CE4B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ソースアクセス / escrow / 標準API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38A6C-8C43-4B82-B95C-62D18B26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試験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9D218-1CAE-47EE-A088-9E09AA2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export・restore / 移行 / API切断 / 縮退運転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22386-7B06-4914-AF24-5115570F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実績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B0BF0-699C-48BB-A96E-DFF9F72E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国内人材・国内組織による本番運用と世代更新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0C24C-D527-4B3D-AA37-35AE388B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現在実証済み / 次のゲート / 長期目標を同じ「○」で比較しない。</a:t>
            </a:r>
          </a:p>
        </p:txBody>
      </p:sp>
    </p:spTree>
    <p:extLst>
      <p:ext uri="{BB962C8B-B14F-4D97-AF65-F5344CB8AC3E}">
        <p14:creationId xmlns:p14="http://schemas.microsoft.com/office/powerpoint/2010/main" val="1203391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92B98-6A5C-4910-AFD8-B03D959B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C9D6"/>
                </a:solidFill>
              </a:defRPr>
            </a:pPr>
            <a:r>
              <a:rPr sz="1200" b="1">
                <a:solidFill>
                  <a:srgbClr val="9FC9D6"/>
                </a:solidFill>
              </a:rPr>
              <a:t>SECTION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73E23-92A1-4A88-8288-1632C578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三本柱と計算経済性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3DBD2-2AB8-45EA-A25A-43A4272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6B01C-5175-43E0-8C17-97A2CD3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E8EE"/>
                </a:solidFill>
              </a:defRPr>
            </a:pPr>
            <a:r>
              <a:rPr sz="2100" b="0">
                <a:solidFill>
                  <a:srgbClr val="DCE8EE"/>
                </a:solidFill>
              </a:rPr>
              <a:t>利用・実行・計算を、一つの改善システムとして接続する。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0E01F-C4C1-4962-8917-B98EEFF0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AD4"/>
                </a:solidFill>
              </a:defRPr>
            </a:pPr>
            <a:r>
              <a:rPr sz="1050" b="0">
                <a:solidFill>
                  <a:srgbClr val="B8CAD4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833162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19467A-A625-413F-946C-A18DB59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THREE PILLARS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86812-5A2A-450E-B2C6-5D8A9329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三本柱は別々の製品ではなく、価値と主権を共同生産する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B2F06-F14F-4BD5-A02C-3813071A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3B60D-70B8-4D4B-8343-9A684D5D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A73A8-9253-468E-B958-13BB5A23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37921-2FD9-4A5F-AA99-1DA2F962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モデル・データ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12C63-4E26-434B-91CD-72824214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判断し、利用から改善する。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主権：評価・知識配置・学習・配備・停止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差別化：outcome接続と改善速度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F62DF-8660-4A88-AB8B-71FFAD8F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C9EEA-2CC5-4E63-BF0F-68E20448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56"/>
                </a:solidFill>
              </a:defRPr>
            </a:pPr>
            <a:r>
              <a:rPr sz="1125" b="1">
                <a:solidFill>
                  <a:srgbClr val="183B56"/>
                </a:solidFill>
              </a:rPr>
              <a:t>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071BC-8FB1-4632-A7B5-7F15409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717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実行基盤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24B78-DFE5-4595-8529-ACD599C5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1467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state、権利、承認、action、provenanceを捕捉・統治する。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主権：状態更新権・実行権・監査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AAB2-C214-45A0-B00A-6646FB72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A1748-E42F-414C-9900-530E1623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64"/>
                </a:solidFill>
              </a:defRPr>
            </a:pPr>
            <a:r>
              <a:rPr sz="1125" b="1">
                <a:solidFill>
                  <a:srgbClr val="147D64"/>
                </a:solidFill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6D873-94A9-48E8-98B4-3C2965DE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717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計算基盤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F8A34-78B3-4C9A-BEA1-FF1F1A40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必要な場所、電力、遅延で常時稼働させる。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主権：計算継続・改変・代替調達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差別化：outcome/TCO</a:t>
            </a:r>
          </a:p>
        </p:txBody>
      </p:sp>
    </p:spTree>
    <p:extLst>
      <p:ext uri="{BB962C8B-B14F-4D97-AF65-F5344CB8AC3E}">
        <p14:creationId xmlns:p14="http://schemas.microsoft.com/office/powerpoint/2010/main" val="2939654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554CBE-15B3-40E0-B47C-502D9767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JOINT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6C42D-1CFF-4F87-82CF-70D1CFC4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高価値データは、判断・統治・継続の三つが揃って初めて生まれる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57509-A5A1-44B4-BCBA-DB2D564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B9550-7BF1-4A7C-B28B-D8D14FFB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28C48-ECA0-4ED4-96FE-45CAC76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75569"/>
                </a:solidFill>
              </a:defRPr>
            </a:pPr>
            <a:r>
              <a:rPr sz="2850" b="1">
                <a:solidFill>
                  <a:srgbClr val="475569"/>
                </a:solidFill>
              </a:rPr>
              <a:t>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EE425-BE20-4BBF-A4E3-EE01801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75569"/>
                </a:solidFill>
              </a:defRPr>
            </a:pPr>
            <a:r>
              <a:rPr sz="2850" b="1">
                <a:solidFill>
                  <a:srgbClr val="475569"/>
                </a:solidFill>
              </a:rPr>
              <a:t>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F6A71-C0E9-4973-BC64-C23B1A3B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065E4-0156-47A1-9A69-747EF44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モデル・データ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B65C9-39E7-4BCF-B090-2859BC7A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判断・修正・失敗・outcomeという内容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CB936-FD70-4FE0-A2CE-D28A1F2A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FE09C-A7F0-400C-98B8-32695EAA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実行基盤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B31DE-B671-454E-85A6-70F326B1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state・権利・承認・actionとして捕捉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0362B-3B08-4B96-8EB5-C72C10F6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860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9F8FC-CE86-444F-AD3E-5D21BA0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670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計算基盤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FB848-57DF-49A5-AF6D-804AE485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場所・電力・レイテンシを満たして継続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38AC9-0AC4-487B-9BD0-051AD7C6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53000"/>
            <a:ext cx="523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A5EC0-37DB-4D39-9D13-B0367E51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768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実用的な学習資産と、改善を続ける能力</a:t>
            </a:r>
          </a:p>
        </p:txBody>
      </p:sp>
    </p:spTree>
    <p:extLst>
      <p:ext uri="{BB962C8B-B14F-4D97-AF65-F5344CB8AC3E}">
        <p14:creationId xmlns:p14="http://schemas.microsoft.com/office/powerpoint/2010/main" val="1081701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60766F-A24A-40B9-96B0-3C1E9A83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64"/>
                </a:solidFill>
              </a:defRPr>
            </a:pPr>
            <a:r>
              <a:rPr sz="1125" b="1">
                <a:solidFill>
                  <a:srgbClr val="147D64"/>
                </a:solidFill>
              </a:rPr>
              <a:t>COMPUTE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90858-9675-46F1-83BC-312B0CA2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AB786-0071-494E-B10B-40784EFB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810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AI専用の高効率・低消費電力計算基盤は、</a:t>
            </a:r>
          </a:p>
          <a:p xmlns:a="http://schemas.openxmlformats.org/drawingml/2006/main">
            <a:pPr algn="l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本番推論のROIを成立させる非オプション能力である。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1122D-0E73-461B-A82F-81BCF352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75569"/>
                </a:solidFill>
              </a:defRPr>
            </a:pPr>
            <a:r>
              <a:rPr sz="2100" b="0">
                <a:solidFill>
                  <a:srgbClr val="475569"/>
                </a:solidFill>
              </a:rPr>
              <a:t>ゲートで判断するのは計算基盤を作るかではなく、そのどの部分を専用シリコン化するかである。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3543D-A730-4861-93E7-A36A7824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25363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6FF69-2E56-4C83-8D73-9E2C53D6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INFERENCE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8DB1E-BD3F-445F-8D6F-3E0D7A50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推論は、AIが使われるたびに全取引へ反復して課される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24AE2-2D06-4FBC-818B-5783C39F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9F571-0F1A-4F62-BB16-761B859F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3B612-88C9-46CA-BFD7-F9B9E02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B56"/>
                </a:solidFill>
              </a:defRPr>
            </a:pPr>
            <a:r>
              <a:rPr sz="2550" b="1">
                <a:solidFill>
                  <a:srgbClr val="183B56"/>
                </a:solidFill>
              </a:rPr>
              <a:t>年間推論総コスト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02097-C885-4C82-8A42-C11EDBE8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6D8F"/>
                </a:solidFill>
              </a:defRPr>
            </a:pPr>
            <a:r>
              <a:rPr sz="2850" b="1">
                <a:solidFill>
                  <a:srgbClr val="006D8F"/>
                </a:solidFill>
              </a:rPr>
              <a:t>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FEE18-E136-4A31-B27E-43519928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利用件数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E9A0F-E5E5-45C6-B393-EE29C95F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どれだけ使われるか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E75AB-1D5B-4E88-80B6-28E3B8A5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D8F"/>
                </a:solidFill>
              </a:defRPr>
            </a:pPr>
            <a:r>
              <a:rPr sz="2100" b="1">
                <a:solidFill>
                  <a:srgbClr val="006D8F"/>
                </a:solidFill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82582-18F5-4F8E-8F24-5C285F40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呼出し回数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AEEAB-6171-4483-A3CD-0653C1B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Agentの多段処理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CAE55-8145-4A83-92DF-CC20E5F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6D8F"/>
                </a:solidFill>
              </a:defRPr>
            </a:pPr>
            <a:r>
              <a:rPr sz="2100" b="1">
                <a:solidFill>
                  <a:srgbClr val="006D8F"/>
                </a:solidFill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0F33D-5800-4FED-8A1B-A85A95D1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193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推論単価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F513C-0DE9-4BAA-925E-D44E465C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71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1回の計算費用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5AE9C-F08B-4165-BF89-845AC6E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7F31E-0FA6-4CAC-B2FA-3CAA1DD9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設備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17032-CFEA-41DA-9E6E-07FE4AD0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GPU・acceleratorの償却、ピーク対応、冗長化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ADA0D-CF83-44D2-883A-3B5DEA7A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57625"/>
            <a:ext cx="1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D940C-5DEF-45E5-AC1E-466D942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エネルギー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324A5-E239-4B54-8795-8448C219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電力、冷却、ラック、施設制約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36306-ACF2-40F8-9CEA-C7496469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57625"/>
            <a:ext cx="1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83BC9-FF1C-4ECC-9398-D65BCB9B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576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</a:defRPr>
            </a:pPr>
            <a:r>
              <a:rPr sz="2025" b="1">
                <a:solidFill>
                  <a:srgbClr val="0B1F33"/>
                </a:solidFill>
              </a:rPr>
              <a:t>運用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474AF-1046-423D-9780-79301C5F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386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保守、監視、縮退、復旧、世代更新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3F847-2074-45F4-B512-98F18760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PoCで性能が出ることと、本番でROIが成立することは同義ではない。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3043841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EB3AE-6426-4233-85A9-8BD58F35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ECONOMIC PRESSURE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DAEB7-3C26-495E-9025-8CD5DA1F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汎用GPUの単純増設だけでは、重点業務のROIが悪化する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36041-4C3A-4C78-8786-62A3C19D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FA0FD-B71D-4868-8D00-15866204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E3548-6911-4954-93E4-7BCC7985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995F3-A4B9-48A9-822B-82421367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62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常時推論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7C9C0-4848-42BC-A990-D9BFEA17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利用量とAgentの多段呼出しに比例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3E6FE-E9AE-4419-8CC5-6BA07C3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1D390-6ED8-4A78-96DE-2FE6921F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5FDBF-05BB-47AD-A54B-5554C396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余剰容量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6A531-C8FD-42A2-B7EF-631CBB6B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ピーク・冗長化・縮退運転へ備える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30587-3DD4-4537-B6B1-473805C7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9A360-536D-4781-9D22-1DAB9CBF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941A4-683B-4EFA-A309-C4A50DBA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Memory / I/O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FBAED-5555-447E-A9CC-867FDE16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861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KV cache・長context・RAG/KGが支配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EFC88-5343-46E6-9A7A-DA92B9DE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D39D9-93B5-41CB-AF89-E4585E7C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0BFC9-0FEC-4190-A1EA-D95664FB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910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施設制約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11FDA-FC60-4CAB-9D06-E43DC1CF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291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給電・冷却・ラックを追加できない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3277BA-67ED-42D6-AFEF-BBB359DA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171AD-6D50-406E-BC4E-8D0ACD36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FB458-3329-440E-A000-94F07729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339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汎用性コスト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01231-E2AB-4037-AC36-A7A8209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72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使わない機能を含むstackへ支払う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CD060-31F7-4AAC-8C5C-E8A2A9C7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483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40252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668F9F-4E88-4CF8-942D-4E86083E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COMPUTE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DB87B-2381-4547-9C4C-20444554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専用性はチップではなく、実ワークロードに合わせた6層の協調最適化で作る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34C11-A967-4A65-9761-3BE7A0F4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3A01B-0226-48E2-8B1E-DF7AC1C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82283-FD6D-494C-B349-1084F380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14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2514C-DFE8-4A70-AF03-3197868F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モデル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2A6A2-B242-479F-A754-21FAF885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526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小型化・MoE・量子化・蒸留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6CD1E-89D4-48BE-8FAA-4BC050E7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14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112D2-7E19-4320-AD54-528DF4C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0E6B9-058F-47A7-9D5A-F7CB1DF4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難度別routing・RAG/KG/ルール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2DE9A-F0F7-4F1C-9F1A-FF017C71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14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90D6E-4D1A-4D5F-975F-E4430C93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992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推論SW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D8B63-EA52-4A23-88A0-AEBE03A0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289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serving・kernel・compiler・runtime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4F06A-2BAB-40E7-8823-3D4F6DC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FC9C2-5366-40B1-B7B8-C4619D7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Memory/I/O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99E1C-3045-4ADC-AF77-CED3765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671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KV cache・HBM/DRAM/CXL・圧縮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66955-E902-4D56-A80E-247F914B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14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07568-9DB5-4845-BBBF-6FD41E0F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演算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3F3F5-E107-4AAC-91E8-E8A4A3D7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053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GPU・accelerator・FPGA・ASIC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AFB39-A9F7-44D5-85D9-7EF490EF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14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AD991-E141-4C16-AD29-B0083BDA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設備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257E9-7CF5-4246-A6C2-0484DFE0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43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電力・冷却・冗長化・保守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88010-E947-4E48-B534-C3EF33C3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Phase 1のGPU上でも、計測・routing・memory管理・運用契約の構築は始まっている。</a:t>
            </a:r>
          </a:p>
        </p:txBody>
      </p:sp>
    </p:spTree>
    <p:extLst>
      <p:ext uri="{BB962C8B-B14F-4D97-AF65-F5344CB8AC3E}">
        <p14:creationId xmlns:p14="http://schemas.microsoft.com/office/powerpoint/2010/main" val="6115062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96E0E-2729-42B4-A938-793E8C7D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ROI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CA70C-C858-49C3-B72D-C71B589A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計算基盤はtokens/secではなく、業務成果に対する総費用で評価する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24C87-20DE-41B1-87C6-742A7836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04ECD-7925-4735-967C-2388AE47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11F40-DC5C-4396-9530-99C52E45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151A9-BEE7-4303-9E8E-4558EC43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1032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年間純便益 ＝ 業務価値・損失回避 − 推論・設備・電力・冷却・保守・運用費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0FA1B-5D5B-463B-959F-15261028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E8833-7DFE-4636-AE74-DBA4B745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業務単位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30DC4-0D0D-4A40-B10F-DB3F419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1業務当たり推論回数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採用判断/action当たり計算費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outcome当たり電力量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8F505-CB68-4F5C-8350-7DBCF78B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29000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AE424-5929-47F0-92A0-BABE1FE1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CCB33-6511-426D-AF1B-D588BFE5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設備単位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71E6B-A495-4914-9656-CBAD598D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利用率とSLO余剰容量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償却込みTCO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SW最適化の削減率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F2ED8-505C-4A87-9016-4B9610D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29000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FFEE6-2A01-4D61-A4EE-BA9929EB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CAPABILITY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F1C27-E1DB-483A-89B4-86803E6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528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国内能力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C1625-A2D1-4159-A17F-8F74A59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9580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要件定義・比較統合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compiler/runtime改変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代替調達・保守・設計IP</a:t>
            </a:r>
          </a:p>
        </p:txBody>
      </p:sp>
    </p:spTree>
    <p:extLst>
      <p:ext uri="{BB962C8B-B14F-4D97-AF65-F5344CB8AC3E}">
        <p14:creationId xmlns:p14="http://schemas.microsoft.com/office/powerpoint/2010/main" val="8443137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5B4F5-7FE9-46EE-913F-A0173974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HARDWARE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BEFDF-6DB8-424F-B9B4-054AB877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ASICを作るかではなく、どこまで専用シリコン化するかを需要ゲートで判断する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D9159-7274-4E34-9BD9-3DF22A38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7EAC4-1537-4933-BF81-72EA4EEF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623BD-80EA-4C84-A15D-93AA6253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BEB54-EDCE-4F28-8C47-E732414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2D9"/>
                </a:solidFill>
              </a:defRPr>
            </a:pPr>
            <a:r>
              <a:rPr sz="1125" b="1">
                <a:solidFill>
                  <a:srgbClr val="2B62D9"/>
                </a:solidFill>
              </a:rPr>
              <a:t>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067B4-A362-426B-B063-0966FE93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専用HWへ進む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1DC6B-B981-400F-9243-2B45656A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853AF-6650-4694-A9B9-4324241C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支配的な演算・data移動が明確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1E85-4A4D-4AD1-8284-29F26F3B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5A2A5-D953-49A9-AEFE-2F32845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既存構成では制約を解けない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64AD8-4110-4981-92E0-F0645E5E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95637-5AA0-445D-8C46-EA251B48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継続需要とoutcome/TCO改善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593B2-FD52-4763-8425-6EE4F4E5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A1AD8-65B5-431E-92F5-94E88502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設計・製造・保守体制がある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19313-8A51-4257-A565-0224AE68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DEC89-BECA-48B4-B709-DB7D45A4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NO-GO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B1596-EEA3-4589-8EF2-5FB9D855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既存シリコンで続ける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993BC-3571-4BE2-BBC9-78125444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3260B6-6B73-4993-8F78-39605138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multi-vendor GPU / accelerator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6911A-B4FD-4BF5-B143-3C8965D5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8F5B9-DA53-4A07-BE0B-F1026C81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86225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FPGA・custom kernel・compiler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4978E-D5AB-4FE3-B21C-ED3DE168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72F743-71DA-4C13-A124-6F8FA601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0100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memory・設備の一体最適化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2243E-B11F-40AF-8954-1AF5D2F6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29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4D4CD5-C1F8-4428-AC49-D82C986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33975"/>
            <a:ext cx="49911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国内実装・保守・代替調達を蓄積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25F1A-2E06-4886-96EC-CE58028D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ASICへ進まない判断も失敗ではない。どちらでも重要業務の継続と国内能力の蓄積を実現する。</a:t>
            </a:r>
          </a:p>
        </p:txBody>
      </p:sp>
    </p:spTree>
    <p:extLst>
      <p:ext uri="{BB962C8B-B14F-4D97-AF65-F5344CB8AC3E}">
        <p14:creationId xmlns:p14="http://schemas.microsoft.com/office/powerpoint/2010/main" val="1345907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83B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FE5D1-B9D0-4F8F-B2EF-8EF038D5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C9D6"/>
                </a:solidFill>
              </a:defRPr>
            </a:pPr>
            <a:r>
              <a:rPr sz="1200" b="1">
                <a:solidFill>
                  <a:srgbClr val="9FC9D6"/>
                </a:solidFill>
              </a:rPr>
              <a:t>SECTION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C465A-C973-4799-9EC0-287AEF36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実装と市場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99F76-8D23-4791-856F-AE58496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2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603EF-47E5-4DA5-BD48-3EAABAAA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19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E8EE"/>
                </a:solidFill>
              </a:defRPr>
            </a:pPr>
            <a:r>
              <a:rPr sz="2100" b="0">
                <a:solidFill>
                  <a:srgbClr val="DCE8EE"/>
                </a:solidFill>
              </a:rPr>
              <a:t>利用から始め、検証ゲートを通り、どちらの分岐でも国内能力を育てる。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4FE89-9072-4D3F-A303-74C2680E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AD4"/>
                </a:solidFill>
              </a:defRPr>
            </a:pPr>
            <a:r>
              <a:rPr sz="1050" b="0">
                <a:solidFill>
                  <a:srgbClr val="B8CAD4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3760898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218734-6AC7-41CF-8841-5E32E1E9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EXECUTION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D977C-3BCE-4DC1-BEA1-2992D0A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実行順は利用から始まり、HWで一方向に終わらず利用へ戻る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1AC1F-FB31-4CD6-AC3E-AE81597B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5A08E-842B-4536-902C-07E45E54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28005-F723-4C44-9759-4527867F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63E28-B3B7-4FEA-8DD2-D2B28EA8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0B4DB-C05C-4B50-9330-909FA937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重点業務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62453-2AEE-4FD8-8ADF-AF3D357F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守る領域とoutcome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1C3B5-6FD5-41D8-B2DA-9C37E9E7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D3AB7-6663-471D-BA77-53EDA7B9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79DA2-45C1-4F45-B8EC-3B6CEE1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03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本番導入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6AB1E-C8DF-4AB4-A036-3D9DC519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A＋Cを同時実装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74583-F7B9-42A8-806E-47AD87DE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4787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216B5-2F0F-4637-8ECC-DA007FB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193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34D2E-9D2C-45E4-A207-5DE238FD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03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改善主権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CC1EE-2A4F-431F-A8BC-6D0E871A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14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評価・配備・停止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F70BD-6FB8-4DD2-A841-EEE141F7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75E8E-10C3-4ECC-8775-20A24F09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D64"/>
                </a:solidFill>
              </a:defRPr>
            </a:pPr>
            <a:r>
              <a:rPr sz="1200" b="1">
                <a:solidFill>
                  <a:srgbClr val="147D64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52B7C-2B37-4F11-AD23-8A737203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計算最適化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B35C4-D721-4933-BFD4-6CDB828D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実workloadから要件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483AB-9805-49D5-9718-9538D4F9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6AE46-F7FC-4F5F-908C-1CE9E003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290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D64"/>
                </a:solidFill>
              </a:defRPr>
            </a:pPr>
            <a:r>
              <a:rPr sz="1200" b="1">
                <a:solidFill>
                  <a:srgbClr val="147D64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DAC10-E98B-45B2-BA1F-B1F90FCB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007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供給能力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F16D2C-0FE4-4E2C-AB22-048FE7CF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24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代替・設計・調達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1F832-9605-4B32-8F97-8575FD64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57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D77BC-B8A9-4A7B-A215-7FE5BFE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D64"/>
                </a:solidFill>
              </a:defRPr>
            </a:pPr>
            <a:r>
              <a:rPr sz="1200" b="1">
                <a:solidFill>
                  <a:srgbClr val="147D64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ECA8A-349A-4D5A-A54B-4ED0AAEB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1007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需要ゲート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8BA57-B92A-4610-B4BB-EEB0048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24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ASIC go / no-go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5E410-204D-4AA2-8766-CB5C6D87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62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47D64"/>
                </a:solidFill>
              </a:defRPr>
            </a:pPr>
            <a:r>
              <a:rPr sz="3000" b="1">
                <a:solidFill>
                  <a:srgbClr val="147D64"/>
                </a:solidFill>
              </a:rPr>
              <a:t>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AACC6-A65B-4921-A773-D7F5A28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どの分岐でも、より多くの利用へ戻し、改善資産と供給能力を育てる。</a:t>
            </a:r>
          </a:p>
        </p:txBody>
      </p:sp>
    </p:spTree>
    <p:extLst>
      <p:ext uri="{BB962C8B-B14F-4D97-AF65-F5344CB8AC3E}">
        <p14:creationId xmlns:p14="http://schemas.microsoft.com/office/powerpoint/2010/main" val="7012523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A8672A-C5E8-42AE-87A4-65070E8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16786-FAAF-4E57-882C-93A433E4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四つのPhaseで、統治可能な利用から能力主権へ進む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32655-5CD2-47BE-A52A-FAF72F71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DB52C-0C4A-4C3A-89F3-C6E5B65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FB10E-B1EB-451F-99C6-9CD94DA4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8834A-6D1E-4112-9CD3-CA531BE0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D8F"/>
                </a:solidFill>
              </a:defRPr>
            </a:pPr>
            <a:r>
              <a:rPr sz="1200" b="1">
                <a:solidFill>
                  <a:srgbClr val="006D8F"/>
                </a:solidFill>
              </a:rPr>
              <a:t>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56B06-84BB-456A-8FB1-B256B7D3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本番利用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DB61A-C1DC-4D4E-ADE8-18D129B8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343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OSS・海外GPUで早期導入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資産・鍵・承認・停止を国内へ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87AD0-FD8B-462C-8F47-9BE5C339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1AB35-4F9A-4F0D-96E1-6F7C8D69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288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3B56"/>
                </a:solidFill>
              </a:defRPr>
            </a:pPr>
            <a:r>
              <a:rPr sz="1200" b="1">
                <a:solidFill>
                  <a:srgbClr val="183B56"/>
                </a:solidFill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AB33A-BF7B-4F60-A696-E2F853E6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0512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改善主権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BD0DA-42E9-422A-8AB0-203AAD9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0"/>
            <a:ext cx="2343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国内で評価・配備・停止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outcome/TCOを計測・改善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4885F-F91B-4189-966B-E6DEEB84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E634D-2DBF-4D32-B4F2-407E0760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288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62D9"/>
                </a:solidFill>
              </a:defRPr>
            </a:pPr>
            <a:r>
              <a:rPr sz="1200" b="1">
                <a:solidFill>
                  <a:srgbClr val="2B62D9"/>
                </a:solidFill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25D9C-0819-4C49-933F-1E0AD0D2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0512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能力主権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62419-3F6E-4020-A552-BBAA39CA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19500"/>
            <a:ext cx="2343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移行試験・国内改変範囲を拡大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HW比較とgo/no-go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3D59F-3BCB-4656-BAC1-E81B22DA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EB529-4514-42B5-B578-0DEB61C2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7D64"/>
                </a:solidFill>
              </a:defRPr>
            </a:pPr>
            <a:r>
              <a:rPr sz="1200" b="1">
                <a:solidFill>
                  <a:srgbClr val="147D64"/>
                </a:solidFill>
              </a:rPr>
              <a:t>PHASE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E8522-F26B-46D1-8973-302DFDFD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0512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供給継続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0BA34-FE70-446A-92BD-ADB209BF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19500"/>
            <a:ext cx="2343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A：HW製品化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B：既存シリコンで専用基盤を更新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E8DD7-505B-4638-80F5-A5731203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国内主導は部品国籍ではなく、各Phaseで決定・実行・移行・継続の証拠を積むこと。</a:t>
            </a:r>
          </a:p>
        </p:txBody>
      </p:sp>
    </p:spTree>
    <p:extLst>
      <p:ext uri="{BB962C8B-B14F-4D97-AF65-F5344CB8AC3E}">
        <p14:creationId xmlns:p14="http://schemas.microsoft.com/office/powerpoint/2010/main" val="158506631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2533C4-2810-442D-A35A-1ACDB59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6E9BF-4E75-4C8B-B1C9-DDE01D44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市場の入口は狭く、共通能力の利用先は広く設計する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6C103-39E8-4E62-84C8-FD3CCA2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DFF5E-C65D-4AC0-B41B-CD9C8E9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029CD-C749-40E3-B693-74398369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56"/>
                </a:solidFill>
              </a:defRPr>
            </a:pPr>
            <a:r>
              <a:rPr sz="1125" b="1">
                <a:solidFill>
                  <a:srgbClr val="183B56"/>
                </a:solidFill>
              </a:rPr>
              <a:t>S / SOVEREIGN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0027D-AEFA-4FDA-9079-C4877B56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主権必須領域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BD5EB-174D-4FCD-9D6B-7DBD19A8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防衛・重要infra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外部最終control不可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air-gapped / 有事継続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役割：能力主権のbeachhead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EE795-2E3F-4954-A9A5-9CF21549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373A5-2DC5-451A-A0EB-169DD833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R / REGULATED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27E28-B92D-4A84-9714-3407A8D6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717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規制・重要商用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42F3C-99D2-4E3C-B06D-9ADF18F1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1467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公共・金融・製造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データ境界・監査・移行性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安定運用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役割：利用量と改善loop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D15AD-C15F-4742-A614-4BD96A50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D1624-840E-4D45-AB0F-886741E4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2D9"/>
                </a:solidFill>
              </a:defRPr>
            </a:pPr>
            <a:r>
              <a:rPr sz="1125" b="1">
                <a:solidFill>
                  <a:srgbClr val="2B62D9"/>
                </a:solidFill>
              </a:rPr>
              <a:t>C / COMMERCIAL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0EFB6-E3B4-4ABA-8BEE-30B1E112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7172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一般商用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49F1D-2DE8-43A7-A6C2-1B05206E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ROI・速度・使いやすさ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低TCO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役割：共通stackを鍛える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outcome優位時に選択展開</a:t>
            </a:r>
          </a:p>
        </p:txBody>
      </p:sp>
    </p:spTree>
    <p:extLst>
      <p:ext uri="{BB962C8B-B14F-4D97-AF65-F5344CB8AC3E}">
        <p14:creationId xmlns:p14="http://schemas.microsoft.com/office/powerpoint/2010/main" val="4870489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4AE77D-37E0-4E2D-B800-7937EBB2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3BBF6-96B7-41CC-AD57-B334256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「主権だから買う」だけに依存しない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8794F-D152-4FA4-9F46-5B23E033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82D8B-06D1-4CC1-90EA-BE1286B3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E7DEB-2866-47AA-823F-C4182E2F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8F"/>
                </a:solidFill>
              </a:defRPr>
            </a:pPr>
            <a:r>
              <a:rPr sz="1350" b="1">
                <a:solidFill>
                  <a:srgbClr val="006D8F"/>
                </a:solidFill>
              </a:rPr>
              <a:t>導入理由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F1BB1-CBD5-43AD-82C1-BB5AA12E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669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実用性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39A6D-A213-4886-B662-5527021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重点業務で価値を出し、本番へ移れる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23DF1-BA76-4BA6-86AC-E96324E1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CC5AD-7A2A-46FD-97FA-C3292739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D8F"/>
                </a:solidFill>
              </a:defRPr>
            </a:pPr>
            <a:r>
              <a:rPr sz="1350" b="1">
                <a:solidFill>
                  <a:srgbClr val="006D8F"/>
                </a:solidFill>
              </a:rPr>
              <a:t>継続理由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A4BAC-09E5-4DE5-BCD8-9C3A4BD3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改善速度と移行性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90E2B-5AFE-4545-87E7-7E39E48A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使うほど性能・運用・選択肢が強くなる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4E127-1BC0-4AFB-9081-B65DFB2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C951C8-6F32-42B4-AC7B-62DD744F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国家的な選択理由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59A44-1C8D-4541-92D8-60BC98A4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481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</a:defRPr>
            </a:pPr>
            <a:r>
              <a:rPr sz="2550" b="1">
                <a:solidFill>
                  <a:srgbClr val="0B1F33"/>
                </a:solidFill>
              </a:rPr>
              <a:t>能力主権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5F7F5-64F9-40CC-BF9C-D1B14CFA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243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外部都合でも重要業務を継続できる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08BF9-C5F7-4007-992D-00EE0F8B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99119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FD4B2-55A7-45BB-BF15-59C2A81A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KPI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42BF0-95A3-43D1-9541-A2DD8EEB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成功は物量ではなく、利用・権利・自律性・継続性・効率で測る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F5B17-0275-4A20-BB23-BEF06529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95C9C-8F0B-46D9-86F3-AF43D2B7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80FD4-991E-4931-B02D-616EC0E8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0EC37-C19D-46AF-B4F3-06E337CE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利用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B17FD-59BA-4198-9044-0F0D56A9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193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本番業務数 / 継続率 / outcome接続率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BDC5D-900B-4F27-952B-04652B82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6D785-E6B4-4A84-8CAC-CF450CDB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権利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49A89-64B3-4830-BCCA-88E0A790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provenance・許諾・削除条件の機械可読率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10B98-A0FF-498D-ACEE-81026BB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19421-A6EB-4D73-B946-3C82D3B1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自律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B9FE2-18D6-44B5-8E92-BA1D0969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052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国内で評価・配備・停止・rollbackできる比率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0A2E3-A9AD-48FD-AD13-029B6118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C6598-0478-4922-95AF-498BEF4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継続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05C3B-DB62-45A7-B434-C94F74E8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481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API切断・vendor障害時の継続・復旧率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CE36F-EFD8-463C-8432-81E8D911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E3F0C-8308-456E-8D72-AC87C4D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効率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6FE8B-B4EE-4285-8FD6-99C5A1B5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911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business outcome per joule / outcome単位TCO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3FC33-B800-4569-91B2-1C81BB3E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GPU台数、model size、tape-out件数は入力値であり、単独の成功KPIではない。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20926951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45145E-A692-4FC4-BE69-DB43FE5F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FALSIFIABILITY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F26A3-0B81-4144-81AB-9EB7B5C4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戦略を信念化しないため、反証条件ごとに代替経路を持つ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DE8CE-4809-4DCD-B815-55199E74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F8A77-9786-4A8B-931C-C162C20C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8F1F8-5480-4E6E-9D8C-61C3B143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C12A3-D8C9-4AA8-97CE-F3EAB630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反証条件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85926-8D4A-47F4-A0C4-BA3912E0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145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観測した事実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903DE-55A8-4708-BEA7-5AD0D5DC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145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CCC16-51D8-4F19-BA6A-E276E55B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12F7C-D92D-4BD6-B807-754A1E9D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85012-6B29-4B90-9940-E5557B25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利用されない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81E1A-7F98-40DD-AA74-287E3F13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実用性・価格・速度で継続劣位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F4016-E459-4728-B08E-2B988CAE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対象業務・提供範囲を見直す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B09BF-0899-4D4F-B157-401196EE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AA5DB-5444-44C6-8DF6-2C32BBF1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DDC8B-F338-404C-BACA-B1322B66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外資が制御権を実証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88B77-AE86-42FC-B59D-82312605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改変・移植・継続を契約と実績で提供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DD3A7-8F19-4E0A-ADE3-EB128773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国籍ではなく制御権で再評価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295F7-FF13-4DE9-9A77-0A7FBAC7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4A4D8-833D-4CF6-9BD7-5C2F93C7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43B7F-E971-439E-A800-58CD1C0F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共有信号が少ない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4EAFE-5A62-44E4-A607-6DABF274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814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顧客間で再利用できない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1389F-E1F8-445A-A41E-8DA8D127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顧客local構成へ集中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503C2-E37C-49F8-AE6F-80E62BFA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B95DB-A487-4D71-BCB7-9FD84C0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C44311-300F-46FE-A0CC-53A6ED3F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ASICが不合理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E05B9-7C88-450D-A7A5-0A867CF8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既存構成よりoutcome/TCOが悪い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8A3B4-949C-4031-B7CB-321D5120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Phase 4Bを継続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3C8D2-3EBD-408B-8D39-6A8609EE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3EF62-2A10-495D-AD48-84FB5125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A046A7-A0EA-4AE3-AA6E-29BF3316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権利処理が高コスト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E1A76-1CD1-4BF4-A4C9-CEBF2650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387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再利用便益を上回る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B5ECB9-381D-4A01-948E-72D0309C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387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共有範囲を縮小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863977-525C-4948-8BAD-502F8667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モデル統合、共有コア、専用HWは、それぞれ独立したゲートで判断する。</a:t>
            </a:r>
          </a:p>
        </p:txBody>
      </p:sp>
    </p:spTree>
    <p:extLst>
      <p:ext uri="{BB962C8B-B14F-4D97-AF65-F5344CB8AC3E}">
        <p14:creationId xmlns:p14="http://schemas.microsoft.com/office/powerpoint/2010/main" val="8451661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5CC67-C2D7-404A-A863-856D2A93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56"/>
                </a:solidFill>
              </a:defRPr>
            </a:pPr>
            <a:r>
              <a:rPr sz="1125" b="1">
                <a:solidFill>
                  <a:srgbClr val="183B56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024F7-FAF3-4290-854F-C85C28C0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7BD66-623E-4F04-BD17-1A3B4B71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810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実用性で使われ、使うほど</a:t>
            </a:r>
          </a:p>
          <a:p xmlns:a="http://schemas.openxmlformats.org/drawingml/2006/main">
            <a:pPr algn="l">
              <a:defRPr sz="4350" b="1">
                <a:solidFill>
                  <a:srgbClr val="0B1F33"/>
                </a:solidFill>
              </a:defRPr>
            </a:pPr>
            <a:r>
              <a:rPr sz="4350" b="1">
                <a:solidFill>
                  <a:srgbClr val="0B1F33"/>
                </a:solidFill>
              </a:rPr>
              <a:t>改善主権と継続能力が日本に残るAIシステムを構築する。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0CCDE-8ADB-4614-B59B-4F29F1BE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75569"/>
                </a:solidFill>
              </a:defRPr>
            </a:pPr>
            <a:r>
              <a:rPr sz="2100" b="0">
                <a:solidFill>
                  <a:srgbClr val="475569"/>
                </a:solidFill>
              </a:rPr>
              <a:t>モデル、データ、実行基盤、計算基盤、半導体、供給網は、この状態を成立させる手段である。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A5678-AFA1-442B-8135-3510610A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4075018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E85215-11B0-4F05-A2A8-AE665B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0AF57-5DC7-44B7-8A62-6C930FB0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現場利用から生まれる実用資産の全項目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439CE-D70D-42F7-915A-F158DCEA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3D638-146E-43B4-9056-A985E14F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FF197-C1AC-41A2-91A6-2D7F3EDE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4CA90-1164-421D-BB57-8CA4BEDA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判断・実行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7DD63-60B1-48B3-9454-309B0C7B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17336-95C4-4779-8B03-9EBA5423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どの状態で、どの判断を行ったか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9A246-6388-49E2-85A2-F41EACAE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5581A-E099-4695-8E92-9E6CC368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専門家が何を修正したか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37A62-8B0F-4628-894B-FA2663D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0611E-993F-4B4F-8BE2-F13ACAAE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何が承認・棄却されたか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8D8A7-82EF-44E1-BA81-EE2771FB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9226A-97B7-411B-BE89-86D98ABA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何を実行し、どの状態遷移が起きたか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70F1F-4C33-4D0B-8DAE-3D2B6107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FE4CA-4D60-4C37-9CD9-396BB673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結果・実装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22AFD-0356-4B6E-923F-65E9E7DC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E2048-85A0-47DF-98DE-AEE8F216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成功・失敗・事故・停止の条件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0EE918-4298-4ED9-8503-AA319F3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D13E4-AC77-4510-AFDC-C953C083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関与したmodel・data・policy・権限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0C46A-B2B5-4DE5-9834-17C9E725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059A1-84B7-470C-A00C-CB0BC42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成果・損失回避・時間・電力効率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9A81F-104C-446B-9904-C5A6BC03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66E8E-400A-4C9B-A3AC-39C9CFFA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720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遅延・電力・memory・cost</a:t>
            </a:r>
          </a:p>
        </p:txBody>
      </p:sp>
    </p:spTree>
    <p:extLst>
      <p:ext uri="{BB962C8B-B14F-4D97-AF65-F5344CB8AC3E}">
        <p14:creationId xmlns:p14="http://schemas.microsoft.com/office/powerpoint/2010/main" val="15941413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8A1020-97B0-401A-B7FF-F3B891F2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7F31E-82D8-4C0F-8C97-9EC98390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学習資産として利用できる六つの条件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0EE75-462A-419E-83A0-0EBCB39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2ECF9-2421-44BD-BD77-FEEA4221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63936-8448-4BB2-9B18-AFCF3C61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32540-9385-404C-8E22-2E9F27EF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0AC2D-93E8-4FF3-B1FD-523A3721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669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確認事項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F53CA-2D92-4E30-A3BB-FFDDA52A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EBF98-0CB8-40F8-B582-B9CB24C3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AE452-D9A6-4BB0-8940-6585FBE5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対応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3957C-DD97-4A82-9FFD-FB3AB3E2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384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判断と実行結果が対応づいている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20A00-52BE-4103-A2FD-EA14089C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67004-7B12-4A42-B454-D76485A2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E76C7-08C8-44DC-8939-26DAC84E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追跡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B41E1-F70A-454E-879A-F3E95F9C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289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データの出所とmodel versionを追跡できる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3132D-43CC-4C82-B213-8129524C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81BFA-28AA-42F4-884F-9859E195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A0572-39B6-4F4F-B859-2E743B3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権利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4E903-C1E4-4482-BC6E-34E637B0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95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目的、許諾、保存期限、削除条件が明確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0DD98-1A58-4A3F-BA2A-851F1209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9933E-7E20-4714-995A-FB94A2FC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668085-35F2-426A-8D17-82EF99A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品質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2EA99-C7C4-422C-B63D-FE67729F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100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評価可能な品質を持つ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5ED2EB-0361-4ECA-92D9-E1204185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D3709-68FC-4E50-8FF5-AF977EA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4F934-3B2C-43F0-9E04-91BE9EAA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D6317-DF2B-4F53-9EB6-332683E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00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重み、RAG、KG、adapter、ルールの配置を判断できる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5CC71-380F-4210-B6E7-44E97B33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73EAF-EE83-441A-B12A-34F7C0D2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CDDB0F-2322-4ED4-87F8-0BD315AC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再配備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E6B5AC-BEDB-46D9-BE2B-1993A944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911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安全に配備し、問題時に停止・rollbackできる</a:t>
            </a:r>
          </a:p>
        </p:txBody>
      </p:sp>
    </p:spTree>
    <p:extLst>
      <p:ext uri="{BB962C8B-B14F-4D97-AF65-F5344CB8AC3E}">
        <p14:creationId xmlns:p14="http://schemas.microsoft.com/office/powerpoint/2010/main" val="19658641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65C06F-E100-4ED3-8310-553C9082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62F45-D81A-4118-B3C1-948FA9F7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競合・構成を評価する五つの問い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E25AC-0598-41A1-84A4-1A6EADD3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21770-61B6-41D8-832E-C91C37FD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40AEF-00CF-431D-9D48-C32A2D49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CBC39-6604-40D1-9299-5531858D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67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F33"/>
                </a:solidFill>
              </a:defRPr>
            </a:pPr>
            <a:r>
              <a:rPr sz="1875" b="0">
                <a:solidFill>
                  <a:srgbClr val="0B1F33"/>
                </a:solidFill>
              </a:rPr>
              <a:t>誰が基盤ソフトウェアの更新方針を決めるか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38179-0B1F-4634-8BD4-FC57EEA2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9236E-3E8E-4771-A190-FF38E473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67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F33"/>
                </a:solidFill>
              </a:defRPr>
            </a:pPr>
            <a:r>
              <a:rPr sz="1875" b="0">
                <a:solidFill>
                  <a:srgbClr val="0B1F33"/>
                </a:solidFill>
              </a:rPr>
              <a:t>誰が顧客モデルを学習・評価・配備・停止できるか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BF259-86B7-4869-9A2B-A7CC9D0B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BB724-8E37-4F4B-B0CF-1E0F0EAE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67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F33"/>
                </a:solidFill>
              </a:defRPr>
            </a:pPr>
            <a:r>
              <a:rPr sz="1875" b="0">
                <a:solidFill>
                  <a:srgbClr val="0B1F33"/>
                </a:solidFill>
              </a:rPr>
              <a:t>データ、モデル、評価、業務ロジックを代替基盤へ移せるか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BE7A9-7D26-483F-973E-6790D0BB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12454-61A9-428D-9525-77D851CB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67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F33"/>
                </a:solidFill>
              </a:defRPr>
            </a:pPr>
            <a:r>
              <a:rPr sz="1875" b="0">
                <a:solidFill>
                  <a:srgbClr val="0B1F33"/>
                </a:solidFill>
              </a:rPr>
              <a:t>契約終了・供給停止時に、どこまで自律継続できるか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3FFFC-5010-47E1-9019-F864041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D8F23-AE02-4DCA-9C16-D6CCCD55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967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1F33"/>
                </a:solidFill>
              </a:defRPr>
            </a:pPr>
            <a:r>
              <a:rPr sz="1875" b="0">
                <a:solidFill>
                  <a:srgbClr val="0B1F33"/>
                </a:solidFill>
              </a:rPr>
              <a:t>ソース、設計IP、鍵、署名、監査証跡を誰が保持するか</a:t>
            </a:r>
          </a:p>
        </p:txBody>
      </p:sp>
    </p:spTree>
    <p:extLst>
      <p:ext uri="{BB962C8B-B14F-4D97-AF65-F5344CB8AC3E}">
        <p14:creationId xmlns:p14="http://schemas.microsoft.com/office/powerpoint/2010/main" val="175125517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E9713-A05D-4362-876B-042F6EF1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81873-6E95-4E82-9C63-088B9BEC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主権と差別化の二軸整理（1/2）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F2708-2050-49CA-8AF3-E6782066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F18EF-3E92-4BBC-BD10-B1A1FDC0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62E02-10DC-4C75-8872-A0DAC4AC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0A473-D43F-440A-BAF2-B00609C1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5A952-F7B5-4247-8CC0-C87D92FE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6692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国内側が確保すべき状態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FA9F0-9E1F-4673-ABD5-550CFDC2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669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主権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7AB2A-2B4B-445D-921B-9A1D04BE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6692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競争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A4C14-6D19-478A-9C3F-E71EA512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D757A-0220-470D-9719-1E17C89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0D30A-BDB6-49BD-97BF-AE26F8A7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利用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59DC9-8A4D-43B4-857F-5E6CC395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336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重点業務への継続導入と顧客接点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C657C-2AA4-4BD4-82C6-2DFBD960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336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改善資産を生む前提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DFCB0-CC81-42A2-874E-AFB6EF92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336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実用性として必須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BD7FC-364C-4363-8F97-1267B14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65E0F-6DDB-4758-A67E-A6D54034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385DF-78B0-4337-91D5-B4A3F693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データ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F6BEA-A239-4913-9580-7D8DBE92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194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原本、権利、来歴、削除条件を統治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F60410-CA52-4283-8C88-FE41DCB1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194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必須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39E1C-3B26-497C-80C5-67601864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194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保存場所だけでは非差別化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4A058-10C0-40BD-BF17-03E2C4EC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C7579-ACBE-4D70-AE89-AC9F1C4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3D7C0-8EA8-48E2-9E4E-CDAA6381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改善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28F87-EB44-434A-9545-6865867F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052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評価、配置、学習、配備、停止、rollback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75FE3E-7C1C-4C7C-9163-64116389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052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中核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E6314-3EC9-4208-A7F4-F70BD6EB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国内独立実行が差別化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63F50C-3104-425A-B797-16608777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C7FA4-B268-4D43-9171-71CE231F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A258E7-4E43-4327-8068-7C91C475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実行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EDC87B-2B01-4F85-A58A-FA5769AC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910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state、policy、承認、action、決済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16BD6B-B0C2-47A6-A5D7-66964E2E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910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必須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908BBD-BFDC-4711-A80D-9E76BA12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910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構造自体は模倣可能</a:t>
            </a:r>
          </a:p>
        </p:txBody>
      </p:sp>
    </p:spTree>
    <p:extLst>
      <p:ext uri="{BB962C8B-B14F-4D97-AF65-F5344CB8AC3E}">
        <p14:creationId xmlns:p14="http://schemas.microsoft.com/office/powerpoint/2010/main" val="13674814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AD21C-FE4C-49CB-923E-B7D08DDB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AF378-76BD-4F0B-BF3B-BE422D37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主権と差別化の二軸整理（2/2）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2DA6F-600A-477A-A04D-28E08BCA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D5C5E-761E-40CE-9C65-25302614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07A79-9003-4338-9EAA-9B2C2E80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EF95A-9511-4456-B575-611C8CF7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B605E-ADE2-4665-8DCE-A09B33EB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669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国内側が確保すべき状態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1E6F6-065C-4E22-9093-B48761FA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669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主権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FF4F7-9B5D-4B24-8E47-00522474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6692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競争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61C1E-B69E-4B92-B799-3677C15F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02C64-1451-45D3-BD7A-DB7909D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BC720-2810-4CBA-A185-E18563DA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計算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04BAF-011F-45BF-8A5F-114D1694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336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高効率・低消費電力、境界内処理、継続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A8A2E-4C14-4798-A11A-DD34CA39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336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非オプション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74968-866B-47BA-92BC-FC5EAFB2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336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outcome/TCO・電力効率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3B178-8AA6-4243-8E5F-AC091A1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99F5D-FA3E-4132-8EFD-57BBF4F6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82E0A-4D9D-42A5-8A15-D2242596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ソフトウェア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7A3F4-6B3D-480B-A077-C0BAFEE3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19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改変、監査、移植、保守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ADD4C-063F-49CE-95E4-374974E1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194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中核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A07E6-5F2D-497F-8A1B-12FEBD00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194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開放性・移植性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ED929F-1890-46F8-B43D-87986720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5DE8FD-A9FD-415E-96B3-5534A74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31077-9AA4-4424-A0B4-62F3266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半導体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5012B-7334-4432-BBEE-AF941588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052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要件定義、検証、統合、代替、設計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091DF-2972-4BD7-9873-9BFB634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長期必須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F8ED0B-5B9E-4725-9816-7BA756A6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実需要で性能・TCO差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98ABA7-F2CA-4D93-9888-2F0F69FD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76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A4799-E922-4DC9-8F16-2A0EED43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F70D1E-FC05-48E5-A394-19F705CC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供給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B7EE5F-AA63-493C-AE97-E204BCAB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910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調達、保守、在庫、代替、有事継続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2E368-9E70-4113-A615-366FB345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910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必須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EBC708-4730-4027-A5D7-F929C396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9107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継続保証</a:t>
            </a:r>
          </a:p>
        </p:txBody>
      </p:sp>
    </p:spTree>
    <p:extLst>
      <p:ext uri="{BB962C8B-B14F-4D97-AF65-F5344CB8AC3E}">
        <p14:creationId xmlns:p14="http://schemas.microsoft.com/office/powerpoint/2010/main" val="16267478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1FDE2-A4DC-44B3-9A4D-18DC0FE1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453C3-86F0-4EC2-AE5F-F8D9981A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権利束：資産ごとに分けて定義する行為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6CBE5-6897-4AB5-B7B5-DF62FC68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6A790-327E-47CB-B0EA-ED5676B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BDE5-DAF0-4617-851F-61B8BE1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利用・派生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EBC87-539E-4DAE-ABB9-F77F9BE9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保有する</a:t>
            </a:r>
          </a:p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利用する</a:t>
            </a:r>
          </a:p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学習へ投入する</a:t>
            </a:r>
          </a:p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派生成果物を作る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65EAB-984E-473A-946B-6B454A5D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90CE2-20C9-4633-AA87-40F94D5F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共有・訂正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07912-37BF-451A-BCAB-82A01734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第三者へ再許諾する</a:t>
            </a:r>
          </a:p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修正・訂正・削除を求める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46934-8A4B-4A4F-8B63-7BBB8BB5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7F467-7FC7-4F35-876C-271EA82E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運用・退出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46D96-8509-4DD5-91B2-E627E7E3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7655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配備・停止・rollbackする</a:t>
            </a:r>
          </a:p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契約終了時に持ち出す</a:t>
            </a:r>
          </a:p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対価・利益配分を受ける</a:t>
            </a:r>
          </a:p>
        </p:txBody>
      </p:sp>
    </p:spTree>
    <p:extLst>
      <p:ext uri="{BB962C8B-B14F-4D97-AF65-F5344CB8AC3E}">
        <p14:creationId xmlns:p14="http://schemas.microsoft.com/office/powerpoint/2010/main" val="53926551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CF0D9-1DA9-425C-9584-102094EE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FEEFA-2D9C-4809-AEAB-8B00CB7D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共有コアへ還流できる六つの条件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F23D7-B1C6-42C0-A43E-9ECDA960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D32B3-0DEA-4744-9CF5-DA489344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D6674-76C5-4B30-B874-1CDA02FE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9E7CD-429B-47F7-A5C3-55287CEC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73F05-9B7E-4CCF-9857-7E1D5DDD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66925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BC5DE-0A58-4EEE-B523-CC23A2E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919D4-07FB-43E6-B105-B91DD31B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FF180-6771-4118-944E-9660AE83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AC5D1-8411-407F-A207-3E4891E1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384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利用目的と反映先が明示されている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C1876-25FF-4267-9413-3C268F75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869C4-26B2-47E0-AB4D-002D7D8E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4C91A-CA5E-4AC7-B8E3-BCF15C3C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許諾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8995B-12E0-4384-BC38-07FD47B9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289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顧客または正当な権利者が許諾している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83BCC-A7BC-474B-9987-B883C551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A0D14-CF05-4D59-A640-0FA9CAA8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293D40-FCF5-4878-B305-E5935BC2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分離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5F75F-96C2-4509-87CF-427AD3FB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95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生データや顧客固有adapterを含まない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B9012-FA7A-4B9C-967D-02EFCE0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7CF6C-E6A5-4C49-BABC-128D0289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EE639-11E0-4E3A-A016-D564E03E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安全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88EE8-D883-48BA-9D0A-30C8B6D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100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再識別・推論攻撃のリスクが評価されている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6EF13-2551-4F4B-9B49-EE3B6169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64025A-C8ED-4280-AFE6-9167A554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DA315-E87C-4C1E-B7AE-A706345C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追跡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62B0C-5D71-42A1-BA7B-398217A0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00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provenanceとmodel versionへの寄与を追跡できる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09AAFC-178F-4DA8-97E3-80D92ED1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7A4C4-91D8-43EF-946A-3FDD5F27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85C799-D0B6-418A-B45D-87DAF4F8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終了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D848C-98F1-4FE7-B45F-6858C31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9117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許諾終了後の扱いが契約で決まっている</a:t>
            </a:r>
          </a:p>
        </p:txBody>
      </p:sp>
    </p:spTree>
    <p:extLst>
      <p:ext uri="{BB962C8B-B14F-4D97-AF65-F5344CB8AC3E}">
        <p14:creationId xmlns:p14="http://schemas.microsoft.com/office/powerpoint/2010/main" val="55330843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2B40E8-3F6E-402D-ACCF-1A3AD44F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522C5-4114-4BBD-836E-8FF6AF74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外資の主権配慮基盤：確認済み事実と未確認事項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5F569-D51E-48D7-8A11-D397F403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0AC93-175F-4256-9130-96A9243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B5BA1-8324-463E-9DAB-275D8270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AF164-C431-4D39-81A4-89970492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確認済み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8539A-DD9E-4B9F-A174-E0002985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F2DB0-0B5D-45BA-BB8F-14007D3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Palantir / NVIDIAのReference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C2A08-291B-4B69-9CA1-020D96E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4A3A9-3564-4E6F-BF52-7A11CC0B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顧客によるdata・model・app制御の説明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CF4F2-5EF7-4D0C-847C-ED6FDE4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DFA17-0A5F-426E-A520-8E885B5C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外部model持込み、開発・評価・release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60381-DDCE-4590-A8F4-8D7ADBCC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569DB-C90F-4248-908C-E47C38FA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未確認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336C1-31F8-40C5-AEC5-7F5F4E97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D013B-F4B2-45B0-90E7-71436851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基盤SWの改変・派生・保守権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64E17-52ED-4128-82A7-5EE37C8D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202A8-F4CB-4EB6-A48A-07D3499D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Ontology・業務logicの完全移植性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D10DC-C869-4435-A82F-243AB347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26580-52AB-4C15-B322-7E9395DC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vendor支援なしの長期運用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038EF-6BD1-40B6-949E-A28539E7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4D301-6D6A-4B83-A0C2-00F2E699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終了時の鍵・評価・運用知識の移転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52831-3B2F-4325-84A4-B526D3B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53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288EA-B589-44F5-A198-C682EC1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57800"/>
            <a:ext cx="499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HW置換と供給継続の範囲</a:t>
            </a:r>
          </a:p>
        </p:txBody>
      </p:sp>
    </p:spTree>
    <p:extLst>
      <p:ext uri="{BB962C8B-B14F-4D97-AF65-F5344CB8AC3E}">
        <p14:creationId xmlns:p14="http://schemas.microsoft.com/office/powerpoint/2010/main" val="118021902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AD4688-935A-4B9F-928F-91B9DD09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EDABC-EB86-444A-9516-BBC433EB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能力比較では「現在」「次のゲート」「長期目標」を分ける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D0A6F-58C8-4E8E-BD11-914E7361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9F3A7-77D6-4FC7-B1C4-A86666EA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EF6A1-8F74-4F53-9225-17DF1E1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64"/>
                </a:solidFill>
              </a:defRPr>
            </a:pPr>
            <a:r>
              <a:rPr sz="1125" b="1">
                <a:solidFill>
                  <a:srgbClr val="147D64"/>
                </a:solidFill>
              </a:rPr>
              <a:t>PROVEN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E40C3-C929-4469-9E4C-DAB4C81D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現在実証済み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E0786-E5C3-4B48-9074-071CCB21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429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本番実績、契約、製品、実測で確認済み。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3CC1A-0BA3-4760-8C6B-9ECE4C9D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B1F2D-DC3E-4947-9199-4CC934E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NEXT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328BD-3B8F-4C5C-B888-B5352954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次フェーズ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B44F2-E033-46A0-8F4B-403AF9EE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57550"/>
            <a:ext cx="3429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次のPilot、移行試験、運用で検証・獲得する能力。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0273D-9B42-49B0-84EC-E9010EFE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796FB-5434-4225-955F-87FB4B29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2D9"/>
                </a:solidFill>
              </a:defRPr>
            </a:pPr>
            <a:r>
              <a:rPr sz="1125" b="1">
                <a:solidFill>
                  <a:srgbClr val="2B62D9"/>
                </a:solidFill>
              </a:rPr>
              <a:t>LONG-TERM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10EAA-2EE2-4B77-B568-495E871D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長期目標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A229C-77DB-4594-827B-4C76EB12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3429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条件を満たした場合の到達状態。現在能力と同じ記号で比較しない。</a:t>
            </a:r>
          </a:p>
        </p:txBody>
      </p:sp>
    </p:spTree>
    <p:extLst>
      <p:ext uri="{BB962C8B-B14F-4D97-AF65-F5344CB8AC3E}">
        <p14:creationId xmlns:p14="http://schemas.microsoft.com/office/powerpoint/2010/main" val="67269826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793232-3E7D-49F7-A641-4000A4AF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138B6-4575-40DF-A17E-61E08A72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三本柱の主権上の役割と競争上の位置づけ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C1236-4BE3-4DD6-9007-2329574D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816C9-2089-4BCC-B97C-3DADC31B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94E8-2128-4669-ACC6-52A2B3EF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76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AA16A-D656-426A-A00E-B085DD49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3838F-5453-400E-A9DD-AE104F90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980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基本役割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C1174-7359-4FCE-B007-2A220F8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主権上の役割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C8644-2426-4693-B8B6-88687403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競争上の位置づけ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54731-56AE-4699-87F4-468D7BF9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3C881-DCBC-4D1E-A253-4F2B7025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33B2C-D015-450A-AB23-8DBE70E2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モデル・データ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110CF-64AF-4C99-897C-B3E0B3E8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480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判断し、利用から改善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1E087-2F84-4B50-8569-E55193A4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480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評価・配置・学習・配備・停止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63FA9-6833-41AE-B0B8-A4AD5AA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480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outcome接続と改善速度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8EC7B-4AEF-4D03-BFB3-BBFF240C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76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482F2-A134-4536-A917-7A376D7A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FB65B-907E-435D-A392-BD49CAA2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実行基盤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45A70-256C-452A-B5DE-72E18BB1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052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状態・権利・履歴・承認・結果を捕捉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D3185-176C-4B06-9A51-09AECE44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052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状態更新権・実行権・監査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06C99-3C7A-412E-BBE0-D616B00F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05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必須だが構造は模倣可能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81D14-AB59-4EBB-8099-206E3DE1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76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60BED-9380-4808-B1C7-02E1352A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120C7-B0F6-4297-A1AA-6C527E6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計算基盤・半導体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499B3-BE19-4FC4-980F-6ABC6253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高効率基盤で境界内常時稼働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5BD129-4112-44E0-A84E-64897B89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625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計算継続・改変・代替調達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DFCFE-C6CD-49B9-A6BB-46DF59A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outcome/TCO・電力効率</a:t>
            </a:r>
          </a:p>
        </p:txBody>
      </p:sp>
    </p:spTree>
    <p:extLst>
      <p:ext uri="{BB962C8B-B14F-4D97-AF65-F5344CB8AC3E}">
        <p14:creationId xmlns:p14="http://schemas.microsoft.com/office/powerpoint/2010/main" val="162689129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3C008E-AAB4-423F-B225-920DD99E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18855-0761-434D-95A0-C2ABF9D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高効率計算基盤で追うROI指標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53735-61BB-4DCC-A5AD-1B5DD4AA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ED161-42E8-460F-BAEE-21A77E20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B540E-4C47-48B0-B31B-C042D908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E68E5-02FE-4178-B223-6375BCDA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業務・計算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86575-D288-4C87-B534-A6438831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14913-9520-40C3-BA54-22C42C0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1業務outcome当たり推論回数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0B32B-0FEF-47D5-B632-887B3C32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8C0F8-8450-473A-A703-A5FF2697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採用判断/action当たり計算費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31A37-1CCD-48A0-A73B-73DB85C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5854C-947C-4779-AC8D-23E0FA1D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outcome当たり電力量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5315B-FFE3-4F76-A080-2B01FC5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605AC-6AD9-495B-B0DE-6B554585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software最適化の削減率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70203-034A-4FF3-8E10-55DE1B66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CD5F4-1678-4C97-870B-CFC6FDC4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設備・投資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F828A-2A44-4E33-BE4F-95FD954D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80042-D803-41EC-B41C-278B8613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平常時・ピーク時の設備利用率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781EB-7920-4490-866A-DCF4313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67DF6-361A-46D9-BC49-C2C8F1C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909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SLO維持に必要な余剰容量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2C628-63A0-49D4-B1C9-B6A74F75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E5A9C-E60E-4B84-946F-5A47123C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償却を含む総保有cost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679EC-6B1F-44AA-82A7-72B4F198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5679E-9B7F-407D-BFE7-D4609988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720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3"/>
                </a:solidFill>
              </a:defRPr>
            </a:pPr>
            <a:r>
              <a:rPr sz="1575" b="0">
                <a:solidFill>
                  <a:srgbClr val="0B1F33"/>
                </a:solidFill>
              </a:rPr>
              <a:t>年間純便益と投資効率</a:t>
            </a:r>
          </a:p>
        </p:txBody>
      </p:sp>
    </p:spTree>
    <p:extLst>
      <p:ext uri="{BB962C8B-B14F-4D97-AF65-F5344CB8AC3E}">
        <p14:creationId xmlns:p14="http://schemas.microsoft.com/office/powerpoint/2010/main" val="114103298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75557-84EC-4B53-8919-C1FC5CDC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6DEE0-AB1C-457A-92DF-AB164521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国内に残すべき設計・代替能力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E5706-B1F0-4C9B-A317-27E630CC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458BD-B5D6-466C-9886-C6D6E6F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CC7FD-7D47-4D27-B02F-D97265A7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D83F1-C1D0-445D-B7E1-74892B4B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59879-4B9F-46A6-A8E5-A2056BDD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66925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4D6AA-1B5E-4F80-BD49-21218138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19C64-C3B8-4326-BF2C-E2C6E4B1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1FA0D-EA76-4719-80A5-F25D8FFD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要件定義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AE182-FD12-45BF-BA69-1028930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3842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実workloadから性能・memory・電力・遅延要件を定義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B740D-09B9-4065-95A6-B132A40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E7D4E-FD4D-4130-AA6F-8BD2D5CB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20E09-CFCB-4FC3-9833-578C6D3B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比較・統合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20BDA-226A-4614-BF41-8B2706DF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2897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GPU、FPGA、複数acceleratorを比較・統合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D60AF-A197-481B-970A-0E9CE3A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006E3-4B6E-4FDB-A3F3-AFEF358E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33319-F2A4-41F3-9296-FD36217F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Software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58E18-8239-4665-AAFF-D93AD06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1952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compiler、runtime、SDKを理解・改変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2AE0C-E422-44A1-B0B8-89EFA9A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D5245-DFE2-4ED5-8A2F-DC059898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79884-76A9-4E6C-9D72-3B885D10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0FB02E-8716-49B3-94AC-16BFDFDC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007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board、memory、network、packageを統合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B1768-0B96-4B9C-A411-4207AFC0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8588B-9485-4100-BC5B-3E303E6E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7F644E-93C8-4D9F-B8FA-2C710862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Supply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3D21F-AE34-4F2F-91D5-243A5650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0062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代替調達、在庫、保守、世代更新を設計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31CAA-1334-4BDE-B606-DEB4A1BC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ADF84C-168D-497D-A071-D55A3FC3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B9CF2-35B6-444F-859C-F3ED9D54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Design/IP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B9101-CCA1-4101-B1F7-0956B54A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9117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必要時に国内主導で半導体設計へ進める人材とIP</a:t>
            </a:r>
          </a:p>
        </p:txBody>
      </p:sp>
    </p:spTree>
    <p:extLst>
      <p:ext uri="{BB962C8B-B14F-4D97-AF65-F5344CB8AC3E}">
        <p14:creationId xmlns:p14="http://schemas.microsoft.com/office/powerpoint/2010/main" val="173122778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D0DEB1-620C-4DC0-A190-4C6D0B4D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AE0FA-0C8C-4623-9B7B-B02CBE55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専用ASIC等の製品化を判断する五つのゲート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569A9-9388-4A3F-BDDF-A6A81BC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75800-7F88-444D-9C73-D0331446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8F7F7-8C55-4E85-9E77-AC11BC8E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AB8D2-6A12-4CCE-8504-7219DEA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33"/>
                </a:solidFill>
              </a:defRPr>
            </a:pPr>
            <a:r>
              <a:rPr sz="1800" b="0">
                <a:solidFill>
                  <a:srgbClr val="0B1F33"/>
                </a:solidFill>
              </a:rPr>
              <a:t>対象演算がTCO、電力、遅延の支配的要因である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5DDCF-598C-44FB-8780-AB920F58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DEECC-764A-4A57-AAA4-E843CAC4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33"/>
                </a:solidFill>
              </a:defRPr>
            </a:pPr>
            <a:r>
              <a:rPr sz="1800" b="0">
                <a:solidFill>
                  <a:srgbClr val="0B1F33"/>
                </a:solidFill>
              </a:rPr>
              <a:t>software最適化、既存GPU、FPGA、代替acceleratorでは解けない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064CA-7ABB-481E-BAD1-5780B3FA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4D8E3-87CC-44C7-BA42-746471B0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33"/>
                </a:solidFill>
              </a:defRPr>
            </a:pPr>
            <a:r>
              <a:rPr sz="1800" b="0">
                <a:solidFill>
                  <a:srgbClr val="0B1F33"/>
                </a:solidFill>
              </a:rPr>
              <a:t>複数顧客または国家需要による継続的な利用量がある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AD267-7DAA-4297-B24E-3998DE17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C0715-092A-4D89-8DF3-81C2AFDC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33"/>
                </a:solidFill>
              </a:defRPr>
            </a:pPr>
            <a:r>
              <a:rPr sz="1800" b="0">
                <a:solidFill>
                  <a:srgbClr val="0B1F33"/>
                </a:solidFill>
              </a:rPr>
              <a:t>既存構成に対する明確なoutcome/TCO改善を示せる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7F9A4-0DEB-41F4-9711-8F8B4994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3974B-02FD-499A-B560-FED5F8E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67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33"/>
                </a:solidFill>
              </a:defRPr>
            </a:pPr>
            <a:r>
              <a:rPr sz="1800" b="0">
                <a:solidFill>
                  <a:srgbClr val="0B1F33"/>
                </a:solidFill>
              </a:rPr>
              <a:t>設計、製造、実装、保守、世代更新を支える体制がある</a:t>
            </a:r>
          </a:p>
        </p:txBody>
      </p:sp>
    </p:spTree>
    <p:extLst>
      <p:ext uri="{BB962C8B-B14F-4D97-AF65-F5344CB8AC3E}">
        <p14:creationId xmlns:p14="http://schemas.microsoft.com/office/powerpoint/2010/main" val="192075612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0A577-B381-404A-87EA-D91021A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5DFE8-3F3D-471A-A91B-BB9C6318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Phase 1–2：本番利用から改善主権の実証へ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168DE-A77F-428B-8A3E-F2E99900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C11AE-79FD-4F34-AABA-3BCB69B4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C9033-D33C-46DD-9DA4-841B15DC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921CA-642B-4033-846F-15BFE8E7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8F"/>
                </a:solidFill>
              </a:defRPr>
            </a:pPr>
            <a:r>
              <a:rPr sz="1125" b="1">
                <a:solidFill>
                  <a:srgbClr val="006D8F"/>
                </a:solidFill>
              </a:rPr>
              <a:t>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D332E-F5D3-4E42-9C51-CF9E4312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国内統治可能な本番利用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46118-7DD6-4456-805C-32853E00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2E0C2-9366-47B5-ACE3-549DF2FD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OSS・海外GPU・既存toolを利用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52AA6-E27C-4F35-B5FD-7EE4F527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63246-3BC4-4930-999C-26F84633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outcomeと継続利用を測る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CE18A-F879-42C5-925C-C426F804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B39D0-4B7D-4755-92B9-15557B42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資産・鍵・評価・承認・停止を国内へ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72A42-468E-4003-8BE7-0493E100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966FB-B0E1-478F-8CB3-3CD23AAD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6825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export/restoreとAPI停止を試験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7F9A4-FA6C-4331-9A15-51525B2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5632D-2552-483B-A5F7-74D63BBF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B56"/>
                </a:solidFill>
              </a:defRPr>
            </a:pPr>
            <a:r>
              <a:rPr sz="1125" b="1">
                <a:solidFill>
                  <a:srgbClr val="183B56"/>
                </a:solidFill>
              </a:rPr>
              <a:t>PHASE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3459B-EF38-45C9-8198-1F8E1550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改善主権を実証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5817F-5503-4FFF-A573-2A7C53C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50832-0577-4979-B5FF-A5C58105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19475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RAG/KG/adapter/評価を改善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77656-D1A0-4691-88BC-04F7AD11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25868-7B7D-4D82-9DC8-CCABB98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71925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国内で評価・配備・rollback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59D112-B0F2-45F7-9FD4-3C7E2A2B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EEC61-2965-4D1C-8FEB-DBD767D9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24375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権利処理済み資産だけ再利用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771BD-C92A-47F5-9B29-9CD8929F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13BDE-3A15-459A-86D6-C7A2D7B0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76825"/>
            <a:ext cx="499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</a:defRPr>
            </a:pPr>
            <a:r>
              <a:rPr sz="1500" b="0">
                <a:solidFill>
                  <a:srgbClr val="0B1F33"/>
                </a:solidFill>
              </a:rPr>
              <a:t>outcome/TCOとoutcome/jouleを測定</a:t>
            </a:r>
          </a:p>
        </p:txBody>
      </p:sp>
    </p:spTree>
    <p:extLst>
      <p:ext uri="{BB962C8B-B14F-4D97-AF65-F5344CB8AC3E}">
        <p14:creationId xmlns:p14="http://schemas.microsoft.com/office/powerpoint/2010/main" val="45132777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995182-696B-4A7F-AA2D-1F865AD3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79947-CF6B-42F7-923E-EABFE8C8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Phase 3–4：能力主権とAI+HWの分岐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07432-B24F-4F2E-A7D2-216B2E5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F9983-5A93-4004-81FE-865CD73C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347E9-DC29-4B7E-873E-A3BF3615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62D9"/>
                </a:solidFill>
              </a:defRPr>
            </a:pPr>
            <a:r>
              <a:rPr sz="1125" b="1">
                <a:solidFill>
                  <a:srgbClr val="2B62D9"/>
                </a:solidFill>
              </a:rPr>
              <a:t>PHASE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F7639-1785-4401-8079-69CB141B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能力主権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FF5FB-0CDB-409F-917F-57E7C7E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国内改変範囲を拡大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競合基盤からの移行試験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支配的計算・data移動を特定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ASIC範囲をgo/no-go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8F90E-30AA-43B8-9C04-54A8304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AD382-EDAB-4685-807A-D800541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64"/>
                </a:solidFill>
              </a:defRPr>
            </a:pPr>
            <a:r>
              <a:rPr sz="1125" b="1">
                <a:solidFill>
                  <a:srgbClr val="147D64"/>
                </a:solidFill>
              </a:rPr>
              <a:t>PHASE 4A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7CF24-34D8-4107-A08B-59F9F8FB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HW製品化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41776-390E-4B0A-9E74-0B4E1AE8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国産設計IPとSW互換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量産・実装・保守・世代更新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単一foundry障害への計画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4F9BE-5F17-4647-8008-3CABCE4B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9550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81060-8CDD-4D2D-8A91-079908C4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</a:defRPr>
            </a:pPr>
            <a:r>
              <a:rPr sz="1125" b="1">
                <a:solidFill>
                  <a:srgbClr val="475569"/>
                </a:solidFill>
              </a:rPr>
              <a:t>PHASE 4B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8B153-5F23-4776-A510-2A6EBBDE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既存シリコン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72B21-7173-4FFA-8EFC-0B199881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342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multi-vendor移植性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国内compiler/runtime/FPGA</a:t>
            </a:r>
          </a:p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board・保守・在庫・代替調達</a:t>
            </a:r>
          </a:p>
        </p:txBody>
      </p:sp>
    </p:spTree>
    <p:extLst>
      <p:ext uri="{BB962C8B-B14F-4D97-AF65-F5344CB8AC3E}">
        <p14:creationId xmlns:p14="http://schemas.microsoft.com/office/powerpoint/2010/main" val="101724304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6B367-B932-4E00-B0D9-A6DB68B2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7C422-6FCF-4BC3-9050-A6EE6DB4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KPI詳細（1/2）：利用・権利・改善主権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C2487-3AD5-4AAB-B4A4-2673C077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98BE0-C87A-4F4A-9FAB-1EA69CF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0EE9C-E2BB-4BED-A1EC-898AA012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利用と成果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3AA2B-7D3A-48E4-83EF-7A19D0C0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本番導入業務数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PoC→本番移行率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継続利用率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判断→action/outcome接続率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確認済み業務成果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4C44A-CC52-42B9-932C-EBCB52B9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54F24-58FC-41A3-B6A5-97CD2C1E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実用資産と権利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C9C2F-92DB-4CD4-88AF-AD651FF9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2892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判断・結果の対応率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権利条件の機械可読率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資産分類率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明示許諾再利用率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削除・訂正SLA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1FA70-2E74-4DAE-B9C7-C1598EA2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478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DEEA1-AA0F-40B0-83CA-54EF1A7D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47875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改善主権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E4260-BC3E-470C-8724-D0B4BAD9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28925"/>
            <a:ext cx="3429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国内評価・配備・停止比率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国内署名・rollback比率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知見反映時間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移行試験成功率</a:t>
            </a:r>
          </a:p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export/restore可能率</a:t>
            </a:r>
          </a:p>
        </p:txBody>
      </p:sp>
    </p:spTree>
    <p:extLst>
      <p:ext uri="{BB962C8B-B14F-4D97-AF65-F5344CB8AC3E}">
        <p14:creationId xmlns:p14="http://schemas.microsoft.com/office/powerpoint/2010/main" val="72492239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0BA19-0FDF-4209-9B97-77017294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C5093-D51F-405C-9597-BB32BCD3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KPI詳細（2/2）：継続性と効率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5A1D1-7277-49E8-9919-F79DC4F4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C5859-5181-4A09-A039-2047AF60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A95F2-44A5-465D-8F1D-467D5912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98285-B5CE-4428-9A3F-138E653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実行・計算・供給継続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CCCD8-254C-47EF-A825-009EAD1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671DE-ECF3-44CA-A607-01E83F13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国内policyで統治される実行比率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5E2DB-886B-4D78-A78D-BAF81529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03D94-11B6-4736-B9B2-17680F74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API切断訓練の継続率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DA92B-B509-47E2-8308-64C89A77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630C7-425D-4561-8E60-C1E25938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目標時間内の縮退・復旧率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80558-9734-43F8-A187-7BC82D2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25188-2EA2-4707-9791-22476CB5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単一vendor非依存構成比率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94794-52DA-4F3A-B78A-48212EE3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69379-C9E3-4E65-B6F4-A6879D25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国内改変・保守可能SW範囲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B978D-17CA-480C-BC3E-AB0F70B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0818E-FF50-47BE-AD0D-6A792645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代替調達比率と在庫日数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66A0A-6BDB-4B0F-81EA-5974289A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E00CA-A9B9-47AC-9CE0-3644D178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</a:defRPr>
            </a:pPr>
            <a:r>
              <a:rPr sz="2325" b="1">
                <a:solidFill>
                  <a:srgbClr val="0B1F33"/>
                </a:solidFill>
              </a:rPr>
              <a:t>効率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4AB9F-27EA-4220-B9BD-F6436C24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28A09-93A9-4702-8081-CBD45B5C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intelligence per joule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16B22-BEB4-4511-B600-3454E0CD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9D0C5-D439-4317-AE82-2E357316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business outcome per joule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4EF4E-D1B5-4430-A11E-DC017FD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49E68-7CBA-41C0-9135-F3080FFC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outcome単位TCO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3C520-3BD9-45F6-9515-0E10C20E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28689-BB4F-4A83-AC87-97D932FB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339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action当たり推論費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A5490-C0B0-4149-BEBE-16780B9F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C7225D-94E2-4564-87E0-00F6398F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101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設備利用率・余剰率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E5B37-BC12-451C-A982-28D44725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81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6BB0D8-31F2-4DCC-8A55-BF9C89A0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864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年間推論総費用と投資効率</a:t>
            </a:r>
          </a:p>
        </p:txBody>
      </p:sp>
    </p:spTree>
    <p:extLst>
      <p:ext uri="{BB962C8B-B14F-4D97-AF65-F5344CB8AC3E}">
        <p14:creationId xmlns:p14="http://schemas.microsoft.com/office/powerpoint/2010/main" val="4502788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83B7E0-A5F4-45D8-B504-31F8EB70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5BEF8-2688-4617-BC1D-D0C37611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反証条件と戦略上の対応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39740-DCAA-40D1-98FB-EDF239BB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A4948-1E57-4BA3-92F7-61EF8FEE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98A0A-50D0-477B-BF23-9F4A808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241BC-93B2-4D71-A155-D6172360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反証条件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01D50-0C5A-45F4-B5D8-5C9C25DC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6692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43B89-7EAA-4B5D-BD2F-DD4EFED5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130D2-B88D-4024-A03F-DFA0EE4C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A91F5-808E-4174-AF79-B4706A46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国内主導構成が利用されない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B2AE3-0847-499E-8405-730E17AC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384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対象業務、提供範囲、共通化方法を見直す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A6635-4020-4432-9E9E-B3EF7C0F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E18EA-97DD-4D57-825C-C64061A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92CDB-3FBA-4E8B-A398-73B86F69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外資基盤が制御権を実証する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A68B3-4144-4120-9CA3-B37BFA7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2897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国籍ではなく実証済み制御権で再評価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3F46A-965B-4A72-81A0-944FC972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211BE-1DC3-46D1-BFDA-85A8581A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B9FC3-3E79-4F26-AC74-00A743CD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outcome dataがmodel改善に有効でない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CDB64-EF98-48C6-AE58-578AE8FE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95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RAG、rule、業務設計、評価へ資源移動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510CF-0474-457E-ABB1-856ED279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C7204-E6C0-4E33-94B8-506BE9FE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48B7D-6E2B-405E-BF6C-D16682E9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共有可能信号が少ない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3EDD9-7A99-493F-A3B1-DC1A9FF8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1007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領域専門家・顧客local構成を維持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D52CE7-5E8D-4AFD-A74A-ED9CEA2D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F3113-8DFE-43F1-9E4A-F55D1ED3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B2AEE-D6FE-45F2-97E9-D2222267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専用ASICが経済合理性を持たない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DC29CC-2D91-48DA-8977-55FE08DD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006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Phase 4Bで専用計算基盤を継続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8678B-D90E-4752-A296-CB2520A3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AF8FDD-498D-472E-AA95-4E78B57E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FEA60-66AC-4D0D-83F4-D9BD7720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権利処理costが便益を上回る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E9354B-05A8-4DFB-9B1A-7FED0A66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9117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共有範囲を縮小し顧客境界内改善へ</a:t>
            </a:r>
          </a:p>
        </p:txBody>
      </p:sp>
    </p:spTree>
    <p:extLst>
      <p:ext uri="{BB962C8B-B14F-4D97-AF65-F5344CB8AC3E}">
        <p14:creationId xmlns:p14="http://schemas.microsoft.com/office/powerpoint/2010/main" val="96158262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CE9836-1910-41D2-8FF0-4F0B0068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8EC68-220F-4D11-8A50-6C2649FA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誤読を避ける七つの整理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C4589-EC67-4809-946C-54B1551E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39A26-AD36-4A86-9F6F-A2D5B5C9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FC591-D21C-41F8-A05E-65240E83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338C6-DB70-4D0E-B225-E55319BD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誤読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7D33E-AD5C-4526-84DD-E0989287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695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正しい理解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C2A99-9515-423F-BF21-9D046D85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270E8-0836-444A-87E7-0558942D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7D502-67F4-4A3F-8334-A4C901E1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外資技術を使わない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E0138-8FE7-4C4B-9052-25C54A62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外部技術を使いながら四条件を国内側へ残す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14561-2E35-4659-92D9-42811116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D3462-CC4B-4905-AC43-8E6EBF98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6E8E7-E5A2-4B79-B624-F68068DA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国内企業なら主権的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8DA04-5C8E-47F8-9173-08290AA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33725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顧客が制御できなければ国内vendor lock-in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5A264-8F8C-4BF8-9AB3-43C08604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856B9-65AE-49CD-B62E-08642CA4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769E3-9537-4CCB-A868-6E6B23D1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オンプレなら主権がある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621C-31E3-4534-9E79-AFC128A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評価・改変・停止・移行・供給継続まで確認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18F7A-D62E-4FEA-B3F4-AADBF310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64CD1-306D-41C0-B191-551DC419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727D3-0F22-4B6D-825E-B48A7198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柱Cは濠でないので不要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5C6C4-DB5B-4C88-A267-DA7823D7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9575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模倣可能でも状態更新権を守る必須能力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CA6029-BE5D-434F-BA54-D98789DC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B20BC-2D5B-42B6-94E8-56BA85DE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1FB6D-49CD-410A-8011-9AB3D69C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専用計算基盤も需要次第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049D6-E056-418B-B066-F747E63B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25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基盤は必須。ゲートは専用ASIC化の範囲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B0DC5-0136-4221-B10A-43F17412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C23CC-1ED3-4A41-92F5-92BC45B2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97E5D-6AD8-46F5-B653-F004165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顧客dataを国家共有coreへ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A8863-D76D-408D-8AC6-0BD47F9A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05425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顧客境界に残し、限定信号だけを許諾共有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2720F-C8BD-4A92-819D-91984F2F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763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4A2FC-1697-4A63-A599-590D3C8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11C29C-E723-4CEF-8B59-88E67C39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巨大共有coreが最終goal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ED7C9A-CF38-4DEE-90EB-14550212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4835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RAG/KG/rule/local modelを条件で選ぶ</a:t>
            </a:r>
          </a:p>
        </p:txBody>
      </p:sp>
    </p:spTree>
    <p:extLst>
      <p:ext uri="{BB962C8B-B14F-4D97-AF65-F5344CB8AC3E}">
        <p14:creationId xmlns:p14="http://schemas.microsoft.com/office/powerpoint/2010/main" val="70277353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D8534-AB83-4324-8AEA-1D32CEEB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EB69F-D5F4-4CFB-8E06-7147E045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既存文書を改訂するときの十の判断原則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2BAFE-ADF0-4AC8-985C-7BADA4F4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C94A6-3888-4B63-8083-4FCC7D8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90069-0C88-4054-B87A-7CE725EB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856BE-FBD7-4336-B9D8-57DE3F0B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価値・資産・主権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54C25-E8D8-478F-865C-E5D572B3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3F68A-FCBB-46C9-862E-5C7588ED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誰に、どの業務価値を出すか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D32C7-7F5A-4D61-B6E7-52FBB844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975B1-4542-4AEA-877A-480A08D8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利用から何の実用資産が生まれるか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35AB8-A6E8-4952-B4CC-E0710711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BDF5B-8D2F-411F-BC04-78E8B780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権利者と利用条件を誰が決めるか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64692-2144-4FBB-B9CF-DEC5BB3B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7AC51-AF12-4376-9F9B-292F27E6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国内側が何を決定・実行・移行・継続できるか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16D0C-FF9D-4765-81D4-0DE1B994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CDA02-B53D-4E8B-A976-A5E29D8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主権上必要か、競争上の差別化か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18865-832E-4AC4-B8AE-6CFEEE97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AA49A-78C8-4B7B-8DCF-B2BEF34E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</a:defRPr>
            </a:pPr>
            <a:r>
              <a:rPr sz="2175" b="1">
                <a:solidFill>
                  <a:srgbClr val="0B1F33"/>
                </a:solidFill>
              </a:rPr>
              <a:t>証拠・代替・検証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29CDF-18E1-4E7E-911C-4A4A3024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4F9DB-51DB-4C85-9284-8A48B8A2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現在/次gate/長期目標のどこか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58210-914E-4368-8E05-264F5C7E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11551-4ECF-49F6-BF69-CC1C6D0C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事実/仮説/戦略推論のどれか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61AC3-8ED8-4A8B-AF94-DD5585DD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E94E4-A589-48D7-B990-80273A78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失敗/no-go時の代替経路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98BDA-D06A-4C64-A931-0B75B6A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F9458-CDD3-48F6-A650-A1A2446E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3390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顧客を国内vendorへlock-inしないか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98AE1-819F-4413-967E-7AC35A6C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C7FD4-E667-4933-8AB3-BFEA701A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10150"/>
            <a:ext cx="499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3"/>
                </a:solidFill>
              </a:defRPr>
            </a:pPr>
            <a:r>
              <a:rPr sz="1425" b="0">
                <a:solidFill>
                  <a:srgbClr val="0B1F33"/>
                </a:solidFill>
              </a:rPr>
              <a:t>KPIと反証条件を定義できるか</a:t>
            </a:r>
          </a:p>
        </p:txBody>
      </p:sp>
    </p:spTree>
    <p:extLst>
      <p:ext uri="{BB962C8B-B14F-4D97-AF65-F5344CB8AC3E}">
        <p14:creationId xmlns:p14="http://schemas.microsoft.com/office/powerpoint/2010/main" val="181872997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7E653-9356-4175-8681-C0BF21ED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10A3A-1763-41D9-9AD4-D5378C52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用語を統一し、論理の混線を防ぐ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A36A6-76A8-4661-94B0-8E2E9E3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7F8A9-EC14-4ACD-BBF2-DC0DDD5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B0AB3-0973-453B-91D7-F6A13F42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62278-1171-4550-BB40-A51FE352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避ける表現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8F5C9-3AF0-41FC-AF41-921AF477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669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標準表現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A2ADA-1F83-4DCF-9875-F29F82A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21A0B-E8E2-41AC-88EC-FCD16185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1AA7A-78D8-4118-B680-0B4B2973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国産所有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20E67-5577-4889-B7B0-0372CEF0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384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誰がどの権利を持つか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5E06A-5A9D-4005-9DB0-BEB3F0FB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7EF5C-08CB-4467-B17A-4A4F5ED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6BC74-1BA8-4B7F-9C60-1D02967D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Layer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1AA40-C0E5-445E-AEB5-3FF922D8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共有コア / 顧客主権資産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4FF12C-CE00-4405-A6A8-CE36A273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76BFC-726D-4EEE-88E5-D85FD8B9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CE919-36CC-4F26-B17F-AFFCECB2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主権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CCD65-73CE-40B7-B6C5-DB4D9F9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195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決定・実行・移行・継続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C5204-0F68-4224-BE92-E4B77BD6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6B589-0008-483A-A02E-BAD8F7C5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9B022-61F4-4436-8E76-FC2EB56D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濠と必須能力の混同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6F559-FD95-45D5-A84E-CE61A20A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00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競争上の差別化 / 主権上の必須能力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BA45D-43D0-46A3-B4B4-999048A6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7E3FA-214D-40AA-A8C0-6926FB20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DC83A-47C8-4113-81B4-824AACC8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現在と将来の混同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05DCA-4216-40F5-8B41-E5FEDE1A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006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Proven / Next gate / Long-term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236DA-A585-4C62-B121-90EFCA78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1076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A00E8-DF07-454C-9AE4-0F618084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C977BE-1207-4AE1-8656-3E3171C1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専用計算基盤とASICの混同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1EC34E-4D44-4CAD-864A-467067DD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9117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必須の計算基盤 / gate判断する専用silicon</a:t>
            </a:r>
          </a:p>
        </p:txBody>
      </p:sp>
    </p:spTree>
    <p:extLst>
      <p:ext uri="{BB962C8B-B14F-4D97-AF65-F5344CB8AC3E}">
        <p14:creationId xmlns:p14="http://schemas.microsoft.com/office/powerpoint/2010/main" val="103964235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73BF32-26F4-4C7E-90A2-34C0D94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8BCBA-752C-42C5-A209-356EA215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戦略ナラティブ冒頭への反映案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2F578-0FED-4556-AE4B-E74E028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4D4F7-AEF0-4E0D-A606-44366E9B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3491A-7CBC-4333-B74D-6B9B0FF6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日本がAI時代に守るべきものは、データの保存場所だけではない。</a:t>
            </a:r>
          </a:p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現場でAIが使われることによって生まれる判断、専門家の修正、失敗、例外処理、状態遷移、実行結果を、次の改善へつなげる能力である。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最大のリスクは、外資AIが存在することではない。何を学習し、どう評価し、どのモデルを配備し、いつ停止し、供給障害時にどう継続するかを、日本側が決められなくなることである。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KairosAIは、OSSや海外GPUで本番利用を早期に成立させながら、制御能力を国内へ蓄積する。使われない国産AIでは、使われる外資AIから主権を守れない。だから、実用性で選ばれ、使うほど国内能力が強くなる構造をつくる。</a:t>
            </a:r>
          </a:p>
        </p:txBody>
      </p:sp>
    </p:spTree>
    <p:extLst>
      <p:ext uri="{BB962C8B-B14F-4D97-AF65-F5344CB8AC3E}">
        <p14:creationId xmlns:p14="http://schemas.microsoft.com/office/powerpoint/2010/main" val="86436653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9E6F24-EC15-49CE-ABF6-3F6454D9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A00"/>
                </a:solidFill>
              </a:defRPr>
            </a:pPr>
            <a:r>
              <a:rPr sz="1125" b="1">
                <a:solidFill>
                  <a:srgbClr val="C47A00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1C222-C1AC-4488-B801-46727F5E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</a:defRPr>
            </a:pPr>
            <a:r>
              <a:rPr sz="3600" b="1">
                <a:solidFill>
                  <a:srgbClr val="0B1F33"/>
                </a:solidFill>
              </a:rPr>
              <a:t>主要参考資料と文書コンテキスト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7A75F-BEE7-49A8-9DDD-C3F66E12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68161-1C6D-480A-84CB-EE0C62E7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AEA70-2BB9-4B73-80D6-3F5E1E1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E6534-1A02-4FC1-B9D3-5C74A730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主要参考資料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AB141-4283-4B69-BD7B-C9D53024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219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Chen et al. (2026), AI+HW 2035, arXiv:2603.05225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Delavande et al. (2026), Understanding Efficiency, arXiv:2601.22362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Bandwidth, Compute, Synchronization, and Capacity (2025)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The Cost of Dynamic Reasoning (2025)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MLPerf Inference v6.0 Results (2026)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Palantir / NVIDIA Sovereign AI OS (2026-03-12)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Palantir Model connectivity and development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74E2B-98AB-4B57-B3B7-AB029E8C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643C0-7505-4C25-B147-2656A6D8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219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文書コンテキスト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1B92F-26E2-4231-A926-B28DCE25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5219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原文作成日：2026-06-22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原文版：v0.2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本スライド版：v0.3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v0.2の論理を保持しつつ、デザインルールに基づき本編30枚＋章扉4枚＋付録23枚へ再構成。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主な強化：四条件、権利モデル、競合比較、計算ROI、ASIC gate、Phase 4A/4B、S/R/C市場、KPI、反証条件。</a:t>
            </a:r>
          </a:p>
        </p:txBody>
      </p:sp>
    </p:spTree>
    <p:extLst>
      <p:ext uri="{BB962C8B-B14F-4D97-AF65-F5344CB8AC3E}">
        <p14:creationId xmlns:p14="http://schemas.microsoft.com/office/powerpoint/2010/main" val="542490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2026-06-22T06:56:20.7300000Z</dcterms:created>
  <dcterms:modified xsi:type="dcterms:W3CDTF">2026-06-22T06:56:20.7300000Z</dcterms:modified>
</coreProperties>
</file>