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3f74dc22afd4ff6" /><Relationship Type="http://schemas.openxmlformats.org/officeDocument/2006/relationships/extended-properties" Target="/docProps/app.xml" Id="R071b75d685a74bdc" /><Relationship Type="http://schemas.openxmlformats.org/officeDocument/2006/relationships/officeDocument" Target="/ppt/presentation.xml" Id="R0c7769cf092e484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720f28772754d3c"/>
  </p:sldMasterIdLst>
  <p:notesMasterIdLst>
    <p:notesMasterId xmlns:r="http://schemas.openxmlformats.org/officeDocument/2006/relationships" r:id="Re9ade9a4d9434487"/>
  </p:notesMasterIdLst>
  <p:sldIdLst>
    <p:sldId xmlns:r="http://schemas.openxmlformats.org/officeDocument/2006/relationships" id="256" r:id="R3be623dde5a34f68"/>
    <p:sldId xmlns:r="http://schemas.openxmlformats.org/officeDocument/2006/relationships" id="257" r:id="Rb4da6e2ce870469a"/>
    <p:sldId xmlns:r="http://schemas.openxmlformats.org/officeDocument/2006/relationships" id="258" r:id="Ra5ea12799f334349"/>
    <p:sldId xmlns:r="http://schemas.openxmlformats.org/officeDocument/2006/relationships" id="259" r:id="Rc7e741bd711b480a"/>
    <p:sldId xmlns:r="http://schemas.openxmlformats.org/officeDocument/2006/relationships" id="260" r:id="R2bd0f81c61084a80"/>
    <p:sldId xmlns:r="http://schemas.openxmlformats.org/officeDocument/2006/relationships" id="261" r:id="R4470d22cb6be49e0"/>
    <p:sldId xmlns:r="http://schemas.openxmlformats.org/officeDocument/2006/relationships" id="262" r:id="R80490b4d698a4d9e"/>
    <p:sldId xmlns:r="http://schemas.openxmlformats.org/officeDocument/2006/relationships" id="263" r:id="Rbc6ead6af5f04643"/>
    <p:sldId xmlns:r="http://schemas.openxmlformats.org/officeDocument/2006/relationships" id="264" r:id="R8a5263c6c6b842e5"/>
    <p:sldId xmlns:r="http://schemas.openxmlformats.org/officeDocument/2006/relationships" id="265" r:id="R68fcf6060a9d43d6"/>
    <p:sldId xmlns:r="http://schemas.openxmlformats.org/officeDocument/2006/relationships" id="266" r:id="R63ca67976abc4f8b"/>
    <p:sldId xmlns:r="http://schemas.openxmlformats.org/officeDocument/2006/relationships" id="267" r:id="R4053b8cbe7af4e9e"/>
    <p:sldId xmlns:r="http://schemas.openxmlformats.org/officeDocument/2006/relationships" id="268" r:id="R4276a3bc62304f2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5e893f80ab64115" /><Relationship Type="http://schemas.openxmlformats.org/officeDocument/2006/relationships/slideMaster" Target="/ppt/slideMasters/slideMaster1.xml" Id="R8720f28772754d3c" /><Relationship Type="http://schemas.openxmlformats.org/officeDocument/2006/relationships/notesMaster" Target="/ppt/notesMasters/notesMaster1.xml" Id="Re9ade9a4d9434487" /><Relationship Type="http://schemas.openxmlformats.org/officeDocument/2006/relationships/presProps" Target="/ppt/presProps.xml" Id="R3e061cb146704922" /><Relationship Type="http://schemas.openxmlformats.org/officeDocument/2006/relationships/viewProps" Target="/ppt/viewProps.xml" Id="R30e04768388544eb" /><Relationship Type="http://schemas.openxmlformats.org/officeDocument/2006/relationships/tableStyles" Target="/ppt/tableStyles.xml" Id="Rd98d535a895940e4" /><Relationship Type="http://schemas.openxmlformats.org/officeDocument/2006/relationships/slide" Target="/ppt/slides/slide1.xml" Id="R3be623dde5a34f68" /><Relationship Type="http://schemas.openxmlformats.org/officeDocument/2006/relationships/slide" Target="/ppt/slides/slide2.xml" Id="Rb4da6e2ce870469a" /><Relationship Type="http://schemas.openxmlformats.org/officeDocument/2006/relationships/slide" Target="/ppt/slides/slide3.xml" Id="Ra5ea12799f334349" /><Relationship Type="http://schemas.openxmlformats.org/officeDocument/2006/relationships/slide" Target="/ppt/slides/slide4.xml" Id="Rc7e741bd711b480a" /><Relationship Type="http://schemas.openxmlformats.org/officeDocument/2006/relationships/slide" Target="/ppt/slides/slide5.xml" Id="R2bd0f81c61084a80" /><Relationship Type="http://schemas.openxmlformats.org/officeDocument/2006/relationships/slide" Target="/ppt/slides/slide6.xml" Id="R4470d22cb6be49e0" /><Relationship Type="http://schemas.openxmlformats.org/officeDocument/2006/relationships/slide" Target="/ppt/slides/slide7.xml" Id="R80490b4d698a4d9e" /><Relationship Type="http://schemas.openxmlformats.org/officeDocument/2006/relationships/slide" Target="/ppt/slides/slide8.xml" Id="Rbc6ead6af5f04643" /><Relationship Type="http://schemas.openxmlformats.org/officeDocument/2006/relationships/slide" Target="/ppt/slides/slide9.xml" Id="R8a5263c6c6b842e5" /><Relationship Type="http://schemas.openxmlformats.org/officeDocument/2006/relationships/slide" Target="/ppt/slides/slide10.xml" Id="R68fcf6060a9d43d6" /><Relationship Type="http://schemas.openxmlformats.org/officeDocument/2006/relationships/slide" Target="/ppt/slides/slide11.xml" Id="R63ca67976abc4f8b" /><Relationship Type="http://schemas.openxmlformats.org/officeDocument/2006/relationships/slide" Target="/ppt/slides/slide12.xml" Id="R4053b8cbe7af4e9e" /><Relationship Type="http://schemas.openxmlformats.org/officeDocument/2006/relationships/slide" Target="/ppt/slides/slide13.xml" Id="R4276a3bc62304f2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3d9dc033b9548e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5022712ffad4143" /><Relationship Type="http://schemas.openxmlformats.org/officeDocument/2006/relationships/notesMaster" Target="/ppt/notesMasters/notesMaster1.xml" Id="Rb593a7134a7f4aa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b3bef66892a43fc" /><Relationship Type="http://schemas.openxmlformats.org/officeDocument/2006/relationships/notesMaster" Target="/ppt/notesMasters/notesMaster1.xml" Id="R273e76ede1324e0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8c4ad0dc73445e4" /><Relationship Type="http://schemas.openxmlformats.org/officeDocument/2006/relationships/notesMaster" Target="/ppt/notesMasters/notesMaster1.xml" Id="R867236595c6342e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006496b82134ae2" /><Relationship Type="http://schemas.openxmlformats.org/officeDocument/2006/relationships/notesMaster" Target="/ppt/notesMasters/notesMaster1.xml" Id="Reb22c0f89a3e46f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d0ae3c45c834f7b" /><Relationship Type="http://schemas.openxmlformats.org/officeDocument/2006/relationships/notesMaster" Target="/ppt/notesMasters/notesMaster1.xml" Id="Re0631593407749f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42f6f1df0184183" /><Relationship Type="http://schemas.openxmlformats.org/officeDocument/2006/relationships/notesMaster" Target="/ppt/notesMasters/notesMaster1.xml" Id="R0d76c489e00745c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c9dbc0cd9dd4053" /><Relationship Type="http://schemas.openxmlformats.org/officeDocument/2006/relationships/notesMaster" Target="/ppt/notesMasters/notesMaster1.xml" Id="Rafad765a7d644b8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74156f7dbe546fd" /><Relationship Type="http://schemas.openxmlformats.org/officeDocument/2006/relationships/notesMaster" Target="/ppt/notesMasters/notesMaster1.xml" Id="R429b08ab63064f8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059c895bd754f95" /><Relationship Type="http://schemas.openxmlformats.org/officeDocument/2006/relationships/notesMaster" Target="/ppt/notesMasters/notesMaster1.xml" Id="Red838248ea82466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4d573103d844bd7" /><Relationship Type="http://schemas.openxmlformats.org/officeDocument/2006/relationships/notesMaster" Target="/ppt/notesMasters/notesMaster1.xml" Id="Rab96322137a94ec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51d106dfdc64a6d" /><Relationship Type="http://schemas.openxmlformats.org/officeDocument/2006/relationships/notesMaster" Target="/ppt/notesMasters/notesMaster1.xml" Id="R79c291b7f7bc4f8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d65e8ffa0fe4371" /><Relationship Type="http://schemas.openxmlformats.org/officeDocument/2006/relationships/notesMaster" Target="/ppt/notesMasters/notesMaster1.xml" Id="Rda6fe4ecd32f48b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af6c2fce01344fe" /><Relationship Type="http://schemas.openxmlformats.org/officeDocument/2006/relationships/notesMaster" Target="/ppt/notesMasters/notesMaster1.xml" Id="Rd583c2d8f44a46b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71c1c238cd4a0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95987fb91154a15" /><Relationship Type="http://schemas.openxmlformats.org/officeDocument/2006/relationships/slideLayout" Target="/ppt/slideLayouts/slideLayout1.xml" Id="R80853ba3673e49d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0853ba3673e49d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7b9c4f07f94acf" /><Relationship Type="http://schemas.openxmlformats.org/officeDocument/2006/relationships/notesSlide" Target="/ppt/notesSlides/notesSlide1.xml" Id="R22a364dd2b64433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90558cb0344755" /><Relationship Type="http://schemas.openxmlformats.org/officeDocument/2006/relationships/notesSlide" Target="/ppt/notesSlides/notesSlide2.xml" Id="Rbfaae54ae918423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0fdd78c64f4067" /><Relationship Type="http://schemas.openxmlformats.org/officeDocument/2006/relationships/notesSlide" Target="/ppt/notesSlides/notesSlide3.xml" Id="Re9f945f5d6884ea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fc146f7971457a" /><Relationship Type="http://schemas.openxmlformats.org/officeDocument/2006/relationships/notesSlide" Target="/ppt/notesSlides/notesSlide4.xml" Id="Rd46b1fdb2acc481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ef70503e214cfc" /><Relationship Type="http://schemas.openxmlformats.org/officeDocument/2006/relationships/notesSlide" Target="/ppt/notesSlides/notesSlide5.xml" Id="R182eba95addb4f2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a51a7e0ef34f61" /><Relationship Type="http://schemas.openxmlformats.org/officeDocument/2006/relationships/notesSlide" Target="/ppt/notesSlides/notesSlide6.xml" Id="Rf72f75fa89d74cc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8789fd67b44708" /><Relationship Type="http://schemas.openxmlformats.org/officeDocument/2006/relationships/notesSlide" Target="/ppt/notesSlides/notesSlide7.xml" Id="Re5adbad5e3334f3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abd34e745f42d8" /><Relationship Type="http://schemas.openxmlformats.org/officeDocument/2006/relationships/notesSlide" Target="/ppt/notesSlides/notesSlide8.xml" Id="R4088ed5ecc294b7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9eb79e233e48e8" /><Relationship Type="http://schemas.openxmlformats.org/officeDocument/2006/relationships/notesSlide" Target="/ppt/notesSlides/notesSlide9.xml" Id="Raecf39f745724ed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51b753d9f64b57" /><Relationship Type="http://schemas.openxmlformats.org/officeDocument/2006/relationships/notesSlide" Target="/ppt/notesSlides/notesSlide10.xml" Id="R44169ee48745475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5f308e8e7e4523" /><Relationship Type="http://schemas.openxmlformats.org/officeDocument/2006/relationships/notesSlide" Target="/ppt/notesSlides/notesSlide11.xml" Id="R006aaaed2510469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7b91a8fa2d4cc3" /><Relationship Type="http://schemas.openxmlformats.org/officeDocument/2006/relationships/notesSlide" Target="/ppt/notesSlides/notesSlide12.xml" Id="R4e372039e337451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14eb17aa4b4d5d" /><Relationship Type="http://schemas.openxmlformats.org/officeDocument/2006/relationships/notesSlide" Target="/ppt/notesSlides/notesSlide13.xml" Id="Rde727a8986de411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2E2381-76D4-4389-BCA1-F291FEBB0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836DD7-CCB1-474C-9010-3EFBDA6E4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04900"/>
            <a:ext cx="3048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252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0252D"/>
                </a:solidFill>
                <a:latin typeface="Arial"/>
                <a:ea typeface="Arial"/>
                <a:cs typeface="Arial"/>
              </a:rPr>
              <a:t>KairosAI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122CA2-DE91-403A-A2B5-32A58706F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590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A53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A5360"/>
                </a:solidFill>
                <a:latin typeface="Arial"/>
                <a:ea typeface="Arial"/>
                <a:cs typeface="Arial"/>
              </a:rPr>
              <a:t>Private Operational AI Infrastructure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D0E231-6F6B-4496-8C08-DDDFDD242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9334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20252D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20252D"/>
                </a:solidFill>
                <a:latin typeface="Arial"/>
                <a:ea typeface="Arial"/>
                <a:cs typeface="Arial"/>
              </a:rPr>
              <a:t>規制産業の現場実装から、</a:t>
            </a:r>
          </a:p>
          <a:p xmlns:a="http://schemas.openxmlformats.org/drawingml/2006/main">
            <a:pPr algn="l">
              <a:defRPr sz="4350" b="1">
                <a:solidFill>
                  <a:srgbClr val="20252D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20252D"/>
                </a:solidFill>
                <a:latin typeface="Arial"/>
                <a:ea typeface="Arial"/>
                <a:cs typeface="Arial"/>
              </a:rPr>
              <a:t>主権AI・次世代HWへ遡る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861064-35BC-4F7D-A259-E6BDF6338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876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54DB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54DB8"/>
                </a:solidFill>
                <a:latin typeface="Arial"/>
                <a:ea typeface="Arial"/>
                <a:cs typeface="Arial"/>
              </a:rPr>
              <a:t>ソフトで実装し、オンプレで守り、省電力HWで伸ばす。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16D76B-3698-49FA-BA2B-CCC08DA09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DFDF"/>
          </a:solidFill>
          <a:ln xmlns:a="http://schemas.openxmlformats.org/drawingml/2006/main" w="0">
            <a:solidFill>
              <a:srgbClr val="DFDFD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BBD4C2-7FEC-4618-8DA5-2A9DF515E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578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A536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A5360"/>
                </a:solidFill>
                <a:latin typeface="Arial"/>
                <a:ea typeface="Arial"/>
                <a:cs typeface="Arial"/>
              </a:rPr>
              <a:t>Business Model Pitch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EEC261-7B1E-40CE-9F91-B2703D2AD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857875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A536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4A5360"/>
                </a:solidFill>
                <a:latin typeface="Arial"/>
                <a:ea typeface="Arial"/>
                <a:cs typeface="Arial"/>
              </a:rPr>
              <a:t>2026年6月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F131B0-70AB-467C-A81E-ACEA1688F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486525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0252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0252D"/>
                </a:solidFill>
                <a:latin typeface="Arial"/>
                <a:ea typeface="Arial"/>
                <a:cs typeface="Arial"/>
              </a:rPr>
              <a:t>Confidential: Internal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687390-8488-4BA8-A3C5-3A9479FB5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486525"/>
            <a:ext cx="228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20252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20252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3772926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rule">
            <a:extLst xmlns:a="http://schemas.openxmlformats.org/drawingml/2006/main">
              <a:ext uri="{FF2B5EF4-FFF2-40B4-BE49-F238E27FC236}">
                <a16:creationId xmlns:a16="http://schemas.microsoft.com/office/drawing/2014/main" id="{278F08F3-20AC-420D-9637-3045B256A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0955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252D"/>
          </a:solidFill>
          <a:ln xmlns:a="http://schemas.openxmlformats.org/drawingml/2006/main" w="0">
            <a:solidFill>
              <a:srgbClr val="C9252D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7D5B472-F798-444B-9527-A92797E6D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04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52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0252D"/>
                </a:solidFill>
                <a:latin typeface="Arial"/>
                <a:ea typeface="Arial"/>
                <a:cs typeface="Arial"/>
              </a:rPr>
              <a:t>規制産業のAIは、PoC後の「本番化」で止まる</a:t>
            </a:r>
          </a:p>
        </p:txBody>
      </p:sp>
      <p:sp>
        <p:nvSpPr>
          <p:cNvPr id="3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3A18B549-E81C-4E65-A8F6-18AE100D1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42975"/>
            <a:ext cx="1158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52D"/>
          </a:solidFill>
          <a:ln xmlns:a="http://schemas.openxmlformats.org/drawingml/2006/main" w="0">
            <a:solidFill>
              <a:srgbClr val="20252D"/>
            </a:solidFill>
            <a:prstDash val="solid"/>
          </a:ln>
        </p:spPr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FFF3B1A-86A3-4194-AA1F-6A2D143BB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62050"/>
            <a:ext cx="1133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A536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A5360"/>
                </a:solidFill>
                <a:latin typeface="Arial"/>
                <a:ea typeface="Arial"/>
                <a:cs typeface="Arial"/>
              </a:rPr>
              <a:t>ボトルネックはモデル性能ではない。業務実行・監査・データ主権・コストを一体で扱う運用基盤が欠けている。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408567-6C48-46A5-AC2B-233966A25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486525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0252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0252D"/>
                </a:solidFill>
                <a:latin typeface="Arial"/>
                <a:ea typeface="Arial"/>
                <a:cs typeface="Arial"/>
              </a:rPr>
              <a:t>Confidential: Internal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5EE37F-7414-4ED6-8429-269FCCDF1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486525"/>
            <a:ext cx="228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20252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20252D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E0FD70-182D-4844-BCBE-1067E4BE0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14550"/>
            <a:ext cx="247650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49260E-A124-4F45-9ADE-43388F0BE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1455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80"/>
          </a:solidFill>
          <a:ln xmlns:a="http://schemas.openxmlformats.org/drawingml/2006/main" w="0">
            <a:solidFill>
              <a:srgbClr val="315F8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1A6868-A162-4C92-9FC4-450C21980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0980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941112-6920-4093-9BC9-3A9100FCD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241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025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52D"/>
                </a:solidFill>
                <a:latin typeface="Arial"/>
                <a:ea typeface="Arial"/>
                <a:cs typeface="Arial"/>
              </a:rPr>
              <a:t>実行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AA4FF0-2BA6-4E93-9D8C-AB82C3F09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14675"/>
            <a:ext cx="2171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7"/>
          </a:solidFill>
          <a:ln xmlns:a="http://schemas.openxmlformats.org/drawingml/2006/main" w="0">
            <a:solidFill>
              <a:srgbClr val="D7D0C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840053-D850-4C3D-A2A6-887703F5A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95650"/>
            <a:ext cx="21526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A536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A5360"/>
                </a:solidFill>
                <a:latin typeface="Arial"/>
                <a:ea typeface="Arial"/>
                <a:cs typeface="Arial"/>
              </a:rPr>
              <a:t>回答はできるが、承認・例外処理・業務システムへの安全なwriteがない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102BAB-A1CD-487B-9868-77E97DFC7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114550"/>
            <a:ext cx="247650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C08F1E-CE0B-432E-8565-BEAE39FB1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11455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765"/>
          </a:solidFill>
          <a:ln xmlns:a="http://schemas.openxmlformats.org/drawingml/2006/main" w="0">
            <a:solidFill>
              <a:srgbClr val="60776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40B63C-C437-42DD-980B-AA08C0352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20980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9F0799-43FE-4CCF-9F01-309148ABE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241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025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52D"/>
                </a:solidFill>
                <a:latin typeface="Arial"/>
                <a:ea typeface="Arial"/>
                <a:cs typeface="Arial"/>
              </a:rPr>
              <a:t>監査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92DE63-7EED-4547-BC36-1A9C62792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14675"/>
            <a:ext cx="2171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7"/>
          </a:solidFill>
          <a:ln xmlns:a="http://schemas.openxmlformats.org/drawingml/2006/main" w="0">
            <a:solidFill>
              <a:srgbClr val="D7D0C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76C007-8884-40AB-84E5-82A31B8AC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295650"/>
            <a:ext cx="21526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A536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A5360"/>
                </a:solidFill>
                <a:latin typeface="Arial"/>
                <a:ea typeface="Arial"/>
                <a:cs typeface="Arial"/>
              </a:rPr>
              <a:t>判断根拠・モデル呼出し・ポリシー判定を説明できない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50F25F-92A8-46B1-A944-A224A0FB3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114550"/>
            <a:ext cx="247650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28EE68-D77D-4540-BA02-C0FD97C79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11455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6D7B"/>
          </a:solidFill>
          <a:ln xmlns:a="http://schemas.openxmlformats.org/drawingml/2006/main" w="0">
            <a:solidFill>
              <a:srgbClr val="7B6D7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62EB2C-28BC-4503-BEF0-D1659D6D4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0980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329489-986E-41A6-8705-6DD06360F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7241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025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52D"/>
                </a:solidFill>
                <a:latin typeface="Arial"/>
                <a:ea typeface="Arial"/>
                <a:cs typeface="Arial"/>
              </a:rPr>
              <a:t>主権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9D5E4C-C339-45C9-A8DB-7193095B5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114675"/>
            <a:ext cx="2171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7"/>
          </a:solidFill>
          <a:ln xmlns:a="http://schemas.openxmlformats.org/drawingml/2006/main" w="0">
            <a:solidFill>
              <a:srgbClr val="D7D0C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7B8271-D539-4B71-9ED4-55C3CC237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295650"/>
            <a:ext cx="21526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A536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A5360"/>
                </a:solidFill>
                <a:latin typeface="Arial"/>
                <a:ea typeface="Arial"/>
                <a:cs typeface="Arial"/>
              </a:rPr>
              <a:t>機密データを管理境界の外に送れず、汎用クラウドAIを採用できない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D488A3-B2CF-411F-A726-06DA7B94B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114550"/>
            <a:ext cx="247650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059639-9A99-4009-8179-8A8CC23FA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11455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6E3B"/>
          </a:solidFill>
          <a:ln xmlns:a="http://schemas.openxmlformats.org/drawingml/2006/main" w="0">
            <a:solidFill>
              <a:srgbClr val="BF6E3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0C013F-69E6-4073-A159-1E9FFF3BF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20980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7D306A0-3970-49C7-A6C8-75518FA17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7241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025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52D"/>
                </a:solidFill>
                <a:latin typeface="Arial"/>
                <a:ea typeface="Arial"/>
                <a:cs typeface="Arial"/>
              </a:rPr>
              <a:t>経済性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A5AF57-E9BF-45F3-A71B-281B5F9DA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114675"/>
            <a:ext cx="2171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7"/>
          </a:solidFill>
          <a:ln xmlns:a="http://schemas.openxmlformats.org/drawingml/2006/main" w="0">
            <a:solidFill>
              <a:srgbClr val="D7D0C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36652DE-A982-471D-98FE-4E1295E91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295650"/>
            <a:ext cx="21526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A536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A5360"/>
                </a:solidFill>
                <a:latin typeface="Arial"/>
                <a:ea typeface="Arial"/>
                <a:cs typeface="Arial"/>
              </a:rPr>
              <a:t>GPUコスト・電力・品質と、業務成果の関係を測れない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C0C209B-2457-4668-AB64-6DB88BB5E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000375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99A3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99A3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17999DF-A77E-407D-B451-D1A9530F7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000375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99A3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99A3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3BCD447-F708-4368-86B3-E0C362606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000375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99A3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99A3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E714ABF-7430-4D11-B639-56D7EE4B5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686300"/>
            <a:ext cx="7810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52D"/>
          </a:solidFill>
          <a:ln xmlns:a="http://schemas.openxmlformats.org/drawingml/2006/main" w="0">
            <a:solidFill>
              <a:srgbClr val="20252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17AC9A0-6585-46ED-933A-39D6DFAB4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8577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9A3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99A32"/>
                </a:solidFill>
                <a:latin typeface="Arial"/>
                <a:ea typeface="Arial"/>
                <a:cs typeface="Arial"/>
              </a:rPr>
              <a:t>欠けている運用レイヤー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ADAD080-EB21-4781-A1DE-9925390B0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181600"/>
            <a:ext cx="7143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AIを「回答」から「責任ある業務実行」へ変える基盤</a:t>
            </a:r>
          </a:p>
        </p:txBody>
      </p:sp>
    </p:spTree>
    <p:extLst>
      <p:ext uri="{BB962C8B-B14F-4D97-AF65-F5344CB8AC3E}">
        <p14:creationId xmlns:p14="http://schemas.microsoft.com/office/powerpoint/2010/main" val="110613267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rule">
            <a:extLst xmlns:a="http://schemas.openxmlformats.org/drawingml/2006/main">
              <a:ext uri="{FF2B5EF4-FFF2-40B4-BE49-F238E27FC236}">
                <a16:creationId xmlns:a16="http://schemas.microsoft.com/office/drawing/2014/main" id="{C72A2E8E-A275-4616-BFC9-0EDBAC6AB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0955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252D"/>
          </a:solidFill>
          <a:ln xmlns:a="http://schemas.openxmlformats.org/drawingml/2006/main" w="0">
            <a:solidFill>
              <a:srgbClr val="C9252D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B1668D1-C6B6-48A4-A391-ECDA8F212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04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52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0252D"/>
                </a:solidFill>
                <a:latin typeface="Arial"/>
                <a:ea typeface="Arial"/>
                <a:cs typeface="Arial"/>
              </a:rPr>
              <a:t>最初の顧客は、痛みが強くクラウド回避が構造的な企業</a:t>
            </a:r>
          </a:p>
        </p:txBody>
      </p:sp>
      <p:sp>
        <p:nvSpPr>
          <p:cNvPr id="3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89649CA5-BF1D-4385-AF9F-1397BFBFC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42975"/>
            <a:ext cx="1158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52D"/>
          </a:solidFill>
          <a:ln xmlns:a="http://schemas.openxmlformats.org/drawingml/2006/main" w="0">
            <a:solidFill>
              <a:srgbClr val="20252D"/>
            </a:solidFill>
            <a:prstDash val="solid"/>
          </a:ln>
        </p:spPr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DE79714-09F2-48DF-A293-D96F80950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62050"/>
            <a:ext cx="1133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A536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A5360"/>
                </a:solidFill>
                <a:latin typeface="Arial"/>
                <a:ea typeface="Arial"/>
                <a:cs typeface="Arial"/>
              </a:rPr>
              <a:t>日本の規制産業で、領域AIを内製したい企業を最優先ICPとする。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8E69FC-6263-4AF9-8582-81729A426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486525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0252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0252D"/>
                </a:solidFill>
                <a:latin typeface="Arial"/>
                <a:ea typeface="Arial"/>
                <a:cs typeface="Arial"/>
              </a:rPr>
              <a:t>Confidential: Internal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4A79FA-3465-4130-8392-4745373EF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486525"/>
            <a:ext cx="228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20252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20252D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438BEC-2BBD-45AF-854A-CFDF676C2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0025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C758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C7580"/>
                </a:solidFill>
                <a:latin typeface="Arial"/>
                <a:ea typeface="Arial"/>
                <a:cs typeface="Arial"/>
              </a:rPr>
              <a:t>優先度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5E5F3D-C2A6-4B09-9F2F-1FCB29B9F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000250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C758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C7580"/>
                </a:solidFill>
                <a:latin typeface="Arial"/>
                <a:ea typeface="Arial"/>
                <a:cs typeface="Arial"/>
              </a:rPr>
              <a:t>顧客像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4B4EF2-51C2-4010-91A0-216C18B72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00250"/>
            <a:ext cx="466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C758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C7580"/>
                </a:solidFill>
                <a:latin typeface="Arial"/>
                <a:ea typeface="Arial"/>
                <a:cs typeface="Arial"/>
              </a:rPr>
              <a:t>構造的な採用理由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41B528-FB9E-4C33-81CD-1BEEE842E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24100"/>
            <a:ext cx="108394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710462-032C-4EBC-9A78-20FE769FC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24100"/>
            <a:ext cx="9906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80"/>
          </a:solidFill>
          <a:ln xmlns:a="http://schemas.openxmlformats.org/drawingml/2006/main" w="0">
            <a:solidFill>
              <a:srgbClr val="315F8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22E5FC-40F9-4C4E-AB6E-CE3EC9BDE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717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最優先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E775D8-A272-4C8B-9141-E4B62A429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5336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52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52D"/>
                </a:solidFill>
                <a:latin typeface="Arial"/>
                <a:ea typeface="Arial"/>
                <a:cs typeface="Arial"/>
              </a:rPr>
              <a:t>金融・製造・医療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65D774-F1FD-4C4A-AA86-324E37382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14600"/>
            <a:ext cx="6572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A536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A5360"/>
                </a:solidFill>
                <a:latin typeface="Arial"/>
                <a:ea typeface="Arial"/>
                <a:cs typeface="Arial"/>
              </a:rPr>
              <a:t>データ主権 + 内製化 + 評価 + 監査が同時に必要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2F2F57-2578-4E52-AC75-62F08B028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95650"/>
            <a:ext cx="108394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12034F-8D1D-4BE6-949E-7EED3A85E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95650"/>
            <a:ext cx="9906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765"/>
          </a:solidFill>
          <a:ln xmlns:a="http://schemas.openxmlformats.org/drawingml/2006/main" w="0">
            <a:solidFill>
              <a:srgbClr val="60776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53D6B0-4F7F-462F-B600-C0AE120B7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4330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D7179E-9007-4931-A342-8DC16EC6C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5052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52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52D"/>
                </a:solidFill>
                <a:latin typeface="Arial"/>
                <a:ea typeface="Arial"/>
                <a:cs typeface="Arial"/>
              </a:rPr>
              <a:t>エネルギー・公共 / 防衛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E94B98-0C32-4E17-9901-922907E95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86150"/>
            <a:ext cx="6572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A536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A5360"/>
                </a:solidFill>
                <a:latin typeface="Arial"/>
                <a:ea typeface="Arial"/>
                <a:cs typeface="Arial"/>
              </a:rPr>
              <a:t>Air-gapped要件により、汎用クラウドAIが選択肢にならない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8668A1-ABC8-4912-B9F6-3CDA330ED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67200"/>
            <a:ext cx="108394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B75172-C176-485B-84B5-7BB4CB648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67200"/>
            <a:ext cx="9906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6D7B"/>
          </a:solidFill>
          <a:ln xmlns:a="http://schemas.openxmlformats.org/drawingml/2006/main" w="0">
            <a:solidFill>
              <a:srgbClr val="7B6D7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A0B2F8-1A73-4BDC-A290-76C5162AA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14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中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D71919-86EE-47F5-81F4-110702927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767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52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52D"/>
                </a:solidFill>
                <a:latin typeface="Arial"/>
                <a:ea typeface="Arial"/>
                <a:cs typeface="Arial"/>
              </a:rPr>
              <a:t>領域AIスタートアップ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BAA7EE-BFE2-4FB2-A089-EE81E772F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57700"/>
            <a:ext cx="6572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A536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A5360"/>
                </a:solidFill>
                <a:latin typeface="Arial"/>
                <a:ea typeface="Arial"/>
                <a:cs typeface="Arial"/>
              </a:rPr>
              <a:t>データ管理・評価・監査の再発明コストが成長を阻害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832253-57CB-4276-B609-5DA888AE9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81625"/>
            <a:ext cx="108394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6"/>
          </a:solidFill>
          <a:ln xmlns:a="http://schemas.openxmlformats.org/drawingml/2006/main" w="9525">
            <a:solidFill>
              <a:srgbClr val="315F8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6AB406-456E-4E0D-9FF5-A272A0D99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91175"/>
            <a:ext cx="66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32"/>
          </a:solidFill>
          <a:ln xmlns:a="http://schemas.openxmlformats.org/drawingml/2006/main" w="0">
            <a:solidFill>
              <a:srgbClr val="C99A3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3A1AC2-2D8C-4CBD-BBC4-7EB313796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0225"/>
            <a:ext cx="1447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252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0252D"/>
                </a:solidFill>
                <a:latin typeface="Arial"/>
                <a:ea typeface="Arial"/>
                <a:cs typeface="Arial"/>
              </a:rPr>
              <a:t>組織内の買い手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4F9281E-B73E-42CC-99DA-D5F6EF210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514975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0252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0252D"/>
                </a:solidFill>
                <a:latin typeface="Arial"/>
                <a:ea typeface="Arial"/>
                <a:cs typeface="Arial"/>
              </a:rPr>
              <a:t>CTO / CDO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909550-4F38-4EE4-B3A8-ACBCAD58D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781675"/>
            <a:ext cx="190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A536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A5360"/>
                </a:solidFill>
                <a:latin typeface="Arial"/>
                <a:ea typeface="Arial"/>
                <a:cs typeface="Arial"/>
              </a:rPr>
              <a:t>本番化と継続改善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BCCD89A-7E90-4206-A509-4FE5FF1AB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5514975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0252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0252D"/>
                </a:solidFill>
                <a:latin typeface="Arial"/>
                <a:ea typeface="Arial"/>
                <a:cs typeface="Arial"/>
              </a:rPr>
              <a:t>監査・コンプラ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CB87CEC-E614-45DF-9AAB-4FBFB4B71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5781675"/>
            <a:ext cx="190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A536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A5360"/>
                </a:solidFill>
                <a:latin typeface="Arial"/>
                <a:ea typeface="Arial"/>
                <a:cs typeface="Arial"/>
              </a:rPr>
              <a:t>判断根拠と全証跡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A9F5FB7-A15C-433D-BC6D-D724FCC63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514975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0252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0252D"/>
                </a:solidFill>
                <a:latin typeface="Arial"/>
                <a:ea typeface="Arial"/>
                <a:cs typeface="Arial"/>
              </a:rPr>
              <a:t>情報セキュリティ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0B3933E-17D7-425F-88D6-1EB915B4F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781675"/>
            <a:ext cx="190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A536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A5360"/>
                </a:solidFill>
                <a:latin typeface="Arial"/>
                <a:ea typeface="Arial"/>
                <a:cs typeface="Arial"/>
              </a:rPr>
              <a:t>管理境界内のAI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65ABFD3-10F0-4E16-86DC-C896D6AA6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514975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0252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0252D"/>
                </a:solidFill>
                <a:latin typeface="Arial"/>
                <a:ea typeface="Arial"/>
                <a:cs typeface="Arial"/>
              </a:rPr>
              <a:t>経営・調達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DAA7674-F908-474B-A983-6F821327C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781675"/>
            <a:ext cx="190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A536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A5360"/>
                </a:solidFill>
                <a:latin typeface="Arial"/>
                <a:ea typeface="Arial"/>
                <a:cs typeface="Arial"/>
              </a:rPr>
              <a:t>段階的自動化とROI</a:t>
            </a:r>
          </a:p>
        </p:txBody>
      </p:sp>
    </p:spTree>
    <p:extLst>
      <p:ext uri="{BB962C8B-B14F-4D97-AF65-F5344CB8AC3E}">
        <p14:creationId xmlns:p14="http://schemas.microsoft.com/office/powerpoint/2010/main" val="116147894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rule">
            <a:extLst xmlns:a="http://schemas.openxmlformats.org/drawingml/2006/main">
              <a:ext uri="{FF2B5EF4-FFF2-40B4-BE49-F238E27FC236}">
                <a16:creationId xmlns:a16="http://schemas.microsoft.com/office/drawing/2014/main" id="{44793087-3747-492C-879F-F812A01EC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0955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252D"/>
          </a:solidFill>
          <a:ln xmlns:a="http://schemas.openxmlformats.org/drawingml/2006/main" w="0">
            <a:solidFill>
              <a:srgbClr val="C9252D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DC8B56C-9577-4E6E-8DF4-CFF513957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04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52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0252D"/>
                </a:solidFill>
                <a:latin typeface="Arial"/>
                <a:ea typeface="Arial"/>
                <a:cs typeface="Arial"/>
              </a:rPr>
              <a:t>3つの提供ソリューションは、一本の因果連鎖である</a:t>
            </a:r>
          </a:p>
        </p:txBody>
      </p:sp>
      <p:sp>
        <p:nvSpPr>
          <p:cNvPr id="3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80173BFE-82B7-40CF-8A34-3E855691C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42975"/>
            <a:ext cx="1158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52D"/>
          </a:solidFill>
          <a:ln xmlns:a="http://schemas.openxmlformats.org/drawingml/2006/main" w="0">
            <a:solidFill>
              <a:srgbClr val="20252D"/>
            </a:solidFill>
            <a:prstDash val="solid"/>
          </a:ln>
        </p:spPr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0E27BBF-4DEB-4FB9-9E7E-E9F03EEC2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62050"/>
            <a:ext cx="1133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A536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A5360"/>
                </a:solidFill>
                <a:latin typeface="Arial"/>
                <a:ea typeface="Arial"/>
                <a:cs typeface="Arial"/>
              </a:rPr>
              <a:t>切り売りは可能。しかし、競合が再現しにくい価値は三層を一体で回したときに生まれる。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8CA30E-7C4D-4045-8484-0C2B1C5DE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486525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0252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0252D"/>
                </a:solidFill>
                <a:latin typeface="Arial"/>
                <a:ea typeface="Arial"/>
                <a:cs typeface="Arial"/>
              </a:rPr>
              <a:t>Confidential: Internal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0BBA8D-2B9C-4A30-BE28-1BB7871D1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486525"/>
            <a:ext cx="228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20252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20252D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7" name="solution-1-box">
            <a:extLst xmlns:a="http://schemas.openxmlformats.org/drawingml/2006/main">
              <a:ext uri="{FF2B5EF4-FFF2-40B4-BE49-F238E27FC236}">
                <a16:creationId xmlns:a16="http://schemas.microsoft.com/office/drawing/2014/main" id="{44D553BA-14F2-426F-90F5-145EC1451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33600"/>
            <a:ext cx="3429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7"/>
            </a:solidFill>
            <a:prstDash val="solid"/>
          </a:ln>
        </p:spPr>
      </p:sp>
      <p:sp>
        <p:nvSpPr>
          <p:cNvPr id="8" name="solution-1-header">
            <a:extLst xmlns:a="http://schemas.openxmlformats.org/drawingml/2006/main">
              <a:ext uri="{FF2B5EF4-FFF2-40B4-BE49-F238E27FC236}">
                <a16:creationId xmlns:a16="http://schemas.microsoft.com/office/drawing/2014/main" id="{BB5705A2-C6A5-4BCE-B3CD-48E487B66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33600"/>
            <a:ext cx="342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80"/>
          </a:solidFill>
          <a:ln xmlns:a="http://schemas.openxmlformats.org/drawingml/2006/main" w="0">
            <a:solidFill>
              <a:srgbClr val="315F8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183865-A54C-4929-AE1C-9AE733E74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28850"/>
            <a:ext cx="3162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SOLUTION 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976ACD-673F-4BA0-B50F-32449A034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00300"/>
            <a:ext cx="3162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Agentic AI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811669-4D7F-4A62-AE05-DA8BD8ED9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76550"/>
            <a:ext cx="3124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15F8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15F80"/>
                </a:solidFill>
                <a:latin typeface="Arial"/>
                <a:ea typeface="Arial"/>
                <a:cs typeface="Arial"/>
              </a:rPr>
              <a:t>業務outcomeを学習信号に変える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778BAE-F657-4569-9CD7-CC5DB978A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90875"/>
            <a:ext cx="312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7"/>
          </a:solidFill>
          <a:ln xmlns:a="http://schemas.openxmlformats.org/drawingml/2006/main" w="0">
            <a:solidFill>
              <a:srgbClr val="D7D0C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7E6ABA-5277-48DA-A578-11B8AE32A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52800"/>
            <a:ext cx="3124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A536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A5360"/>
                </a:solidFill>
                <a:latin typeface="Arial"/>
                <a:ea typeface="Arial"/>
                <a:cs typeface="Arial"/>
              </a:rPr>
              <a:t>・ 現場実行で評価データを生成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2D9CFD-10D0-4554-B35B-EC2108DD7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52850"/>
            <a:ext cx="3124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A536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A5360"/>
                </a:solidFill>
                <a:latin typeface="Arial"/>
                <a:ea typeface="Arial"/>
                <a:cs typeface="Arial"/>
              </a:rPr>
              <a:t>・ Staging GraphとPolicy Gateで統治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C2A8FC-0C0F-400C-81C8-7CA0E977A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52900"/>
            <a:ext cx="3124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A536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A5360"/>
                </a:solidFill>
                <a:latin typeface="Arial"/>
                <a:ea typeface="Arial"/>
                <a:cs typeface="Arial"/>
              </a:rPr>
              <a:t>・ Eval Harnessで継続改善</a:t>
            </a:r>
          </a:p>
        </p:txBody>
      </p:sp>
      <p:sp>
        <p:nvSpPr>
          <p:cNvPr id="16" name="solution-2-box">
            <a:extLst xmlns:a="http://schemas.openxmlformats.org/drawingml/2006/main">
              <a:ext uri="{FF2B5EF4-FFF2-40B4-BE49-F238E27FC236}">
                <a16:creationId xmlns:a16="http://schemas.microsoft.com/office/drawing/2014/main" id="{B54A3FCD-F131-4105-B07F-5A7A0DD43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33600"/>
            <a:ext cx="3429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7"/>
            </a:solidFill>
            <a:prstDash val="solid"/>
          </a:ln>
        </p:spPr>
      </p:sp>
      <p:sp>
        <p:nvSpPr>
          <p:cNvPr id="17" name="solution-2-header">
            <a:extLst xmlns:a="http://schemas.openxmlformats.org/drawingml/2006/main">
              <a:ext uri="{FF2B5EF4-FFF2-40B4-BE49-F238E27FC236}">
                <a16:creationId xmlns:a16="http://schemas.microsoft.com/office/drawing/2014/main" id="{9F81AAB0-5583-45A0-AAB0-31FEF29A1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33600"/>
            <a:ext cx="342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765"/>
          </a:solidFill>
          <a:ln xmlns:a="http://schemas.openxmlformats.org/drawingml/2006/main" w="0">
            <a:solidFill>
              <a:srgbClr val="60776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3190B0-1263-4C04-B8AB-B2879AFFD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228850"/>
            <a:ext cx="3162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SOLUTION 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C04A57-4AF4-412F-8272-10A36F4EB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00300"/>
            <a:ext cx="3162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データ主権オンプレ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433146-44F6-4A75-AE82-66289FF81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876550"/>
            <a:ext cx="3124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0776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07765"/>
                </a:solidFill>
                <a:latin typeface="Arial"/>
                <a:ea typeface="Arial"/>
                <a:cs typeface="Arial"/>
              </a:rPr>
              <a:t>計算を、データのある場所へ持ち込む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24BECB-AF19-4F18-9CFD-6FFEDF5FF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190875"/>
            <a:ext cx="312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7"/>
          </a:solidFill>
          <a:ln xmlns:a="http://schemas.openxmlformats.org/drawingml/2006/main" w="0">
            <a:solidFill>
              <a:srgbClr val="D7D0C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A40499-5AA7-4EA0-BBB0-3D95C3BAF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352800"/>
            <a:ext cx="3124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A536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A5360"/>
                </a:solidFill>
                <a:latin typeface="Arial"/>
                <a:ea typeface="Arial"/>
                <a:cs typeface="Arial"/>
              </a:rPr>
              <a:t>・ 顧客の管理境界内で実行・蓄積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5E4F24-9C19-4EDF-BDA7-55CFA0FE9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752850"/>
            <a:ext cx="3124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A536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A5360"/>
                </a:solidFill>
                <a:latin typeface="Arial"/>
                <a:ea typeface="Arial"/>
                <a:cs typeface="Arial"/>
              </a:rPr>
              <a:t>・ 監査・鍵・モデル・実行権を制御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BE99F0-B3B1-40A5-98F1-27E8930C6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152900"/>
            <a:ext cx="3124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A536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A5360"/>
                </a:solidFill>
                <a:latin typeface="Arial"/>
                <a:ea typeface="Arial"/>
                <a:cs typeface="Arial"/>
              </a:rPr>
              <a:t>・ Profile段階制で学習を拡張</a:t>
            </a:r>
          </a:p>
        </p:txBody>
      </p:sp>
      <p:sp>
        <p:nvSpPr>
          <p:cNvPr id="25" name="solution-3-box">
            <a:extLst xmlns:a="http://schemas.openxmlformats.org/drawingml/2006/main">
              <a:ext uri="{FF2B5EF4-FFF2-40B4-BE49-F238E27FC236}">
                <a16:creationId xmlns:a16="http://schemas.microsoft.com/office/drawing/2014/main" id="{70A27E8F-786E-461C-BD84-E06FA39B2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33600"/>
            <a:ext cx="3429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7"/>
            </a:solidFill>
            <a:prstDash val="solid"/>
          </a:ln>
        </p:spPr>
      </p:sp>
      <p:sp>
        <p:nvSpPr>
          <p:cNvPr id="26" name="solution-3-header">
            <a:extLst xmlns:a="http://schemas.openxmlformats.org/drawingml/2006/main">
              <a:ext uri="{FF2B5EF4-FFF2-40B4-BE49-F238E27FC236}">
                <a16:creationId xmlns:a16="http://schemas.microsoft.com/office/drawing/2014/main" id="{4254A1DA-478A-4A8F-ABE9-FD32804BA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33600"/>
            <a:ext cx="342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6D7B"/>
          </a:solidFill>
          <a:ln xmlns:a="http://schemas.openxmlformats.org/drawingml/2006/main" w="0">
            <a:solidFill>
              <a:srgbClr val="7B6D7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70FDC1-8937-4CAF-A558-B695E4EAA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228850"/>
            <a:ext cx="3162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SOLUTION 03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E000E8-57C4-43A7-AE63-06FD57601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00300"/>
            <a:ext cx="3162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超長VP + MXU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E2191F-F258-467F-B7DC-EA8D9E58E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76550"/>
            <a:ext cx="3124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B6D7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B6D7B"/>
                </a:solidFill>
                <a:latin typeface="Arial"/>
                <a:ea typeface="Arial"/>
                <a:cs typeface="Arial"/>
              </a:rPr>
              <a:t>オンプレ制約を、効率の競争へ変える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945E5D7-BC39-4018-B8B0-F37692E90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190875"/>
            <a:ext cx="312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7"/>
          </a:solidFill>
          <a:ln xmlns:a="http://schemas.openxmlformats.org/drawingml/2006/main" w="0">
            <a:solidFill>
              <a:srgbClr val="D7D0C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58F6093-45FC-4CD3-B6F9-57EAA26BF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52800"/>
            <a:ext cx="3124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A536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A5360"/>
                </a:solidFill>
                <a:latin typeface="Arial"/>
                <a:ea typeface="Arial"/>
                <a:cs typeface="Arial"/>
              </a:rPr>
              <a:t>・ 実ワークロードで設計要件を確定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2B87F41-98E2-405E-807B-7FB4459E4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752850"/>
            <a:ext cx="3124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A536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A5360"/>
                </a:solidFill>
                <a:latin typeface="Arial"/>
                <a:ea typeface="Arial"/>
                <a:cs typeface="Arial"/>
              </a:rPr>
              <a:t>・ 電力・冷却・TCOを低減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4067AFC-3AAA-4187-A1AB-C6BD4FED9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152900"/>
            <a:ext cx="3124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A536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A5360"/>
                </a:solidFill>
                <a:latin typeface="Arial"/>
                <a:ea typeface="Arial"/>
                <a:cs typeface="Arial"/>
              </a:rPr>
              <a:t>・ business outcome per jouleを最適化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1E6C409-9C90-4D47-BF04-5EF4DC342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524250"/>
            <a:ext cx="438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99A3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99A3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F864DA8-466B-495A-92CA-945F88C4D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524250"/>
            <a:ext cx="438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99A3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99A3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60E055D-5C6F-4FF8-B420-D09A2190E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667375"/>
            <a:ext cx="8039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52D"/>
          </a:solidFill>
          <a:ln xmlns:a="http://schemas.openxmlformats.org/drawingml/2006/main" w="0">
            <a:solidFill>
              <a:srgbClr val="20252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486337D-5F52-44DF-992F-0B14A06A0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772150"/>
            <a:ext cx="7658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①のテレメトリが③を設計し、③が②のTCOを下げ、②が①の導入障壁を下げる</a:t>
            </a:r>
          </a:p>
        </p:txBody>
      </p:sp>
    </p:spTree>
    <p:extLst>
      <p:ext uri="{BB962C8B-B14F-4D97-AF65-F5344CB8AC3E}">
        <p14:creationId xmlns:p14="http://schemas.microsoft.com/office/powerpoint/2010/main" val="37308496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rule">
            <a:extLst xmlns:a="http://schemas.openxmlformats.org/drawingml/2006/main">
              <a:ext uri="{FF2B5EF4-FFF2-40B4-BE49-F238E27FC236}">
                <a16:creationId xmlns:a16="http://schemas.microsoft.com/office/drawing/2014/main" id="{5854D9C8-E5A6-4813-BE24-C41EC3361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0955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252D"/>
          </a:solidFill>
          <a:ln xmlns:a="http://schemas.openxmlformats.org/drawingml/2006/main" w="0">
            <a:solidFill>
              <a:srgbClr val="C9252D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A5A2A00-CA8B-4D96-B52E-4238745F1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04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52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0252D"/>
                </a:solidFill>
                <a:latin typeface="Arial"/>
                <a:ea typeface="Arial"/>
                <a:cs typeface="Arial"/>
              </a:rPr>
              <a:t>KairosAIは、業務結果を「統治された学習信号」に変える</a:t>
            </a:r>
          </a:p>
        </p:txBody>
      </p:sp>
      <p:sp>
        <p:nvSpPr>
          <p:cNvPr id="3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DF2EA6C7-0E19-4384-854F-DFF15BA8A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42975"/>
            <a:ext cx="1158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52D"/>
          </a:solidFill>
          <a:ln xmlns:a="http://schemas.openxmlformats.org/drawingml/2006/main" w="0">
            <a:solidFill>
              <a:srgbClr val="20252D"/>
            </a:solidFill>
            <a:prstDash val="solid"/>
          </a:ln>
        </p:spPr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29E5F0F-49CC-455A-884E-496FBDEA0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62050"/>
            <a:ext cx="1133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A536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A5360"/>
                </a:solidFill>
                <a:latin typeface="Arial"/>
                <a:ea typeface="Arial"/>
                <a:cs typeface="Arial"/>
              </a:rPr>
              <a:t>モデル単体では観測できない業務outcomeを、実行基盤が報酬・評価・改善へ接続する。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8812BC-2C79-44AE-882C-13D411344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486525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0252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0252D"/>
                </a:solidFill>
                <a:latin typeface="Arial"/>
                <a:ea typeface="Arial"/>
                <a:cs typeface="Arial"/>
              </a:rPr>
              <a:t>Confidential: Internal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55AE07-438D-4937-8FC8-7A4671034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486525"/>
            <a:ext cx="228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20252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20252D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975C69-DD51-49BD-B955-E82FFC22D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704850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2CAB65-71C6-4AA2-9B3B-45CE1C37B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7048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80"/>
          </a:solidFill>
          <a:ln xmlns:a="http://schemas.openxmlformats.org/drawingml/2006/main" w="0">
            <a:solidFill>
              <a:srgbClr val="315F8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01B99B-8422-4CAA-B3CE-5975E66BE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24100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52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52D"/>
                </a:solidFill>
                <a:latin typeface="Arial"/>
                <a:ea typeface="Arial"/>
                <a:cs typeface="Arial"/>
              </a:rPr>
              <a:t>Outcome-to-Learning Loop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7E265A-603C-4413-9DE5-0DE9760BB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1300"/>
            <a:ext cx="514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80"/>
          </a:solidFill>
          <a:ln xmlns:a="http://schemas.openxmlformats.org/drawingml/2006/main" w="0">
            <a:solidFill>
              <a:srgbClr val="315F8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89AF4D-1B74-459C-9CDA-82342687D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90DFDD-B5A4-497B-A9BD-B412A58EE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781300"/>
            <a:ext cx="5676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85D980-A45A-4362-A9D3-2BCA55B3D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876550"/>
            <a:ext cx="5410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25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252D"/>
                </a:solidFill>
                <a:latin typeface="Arial"/>
                <a:ea typeface="Arial"/>
                <a:cs typeface="Arial"/>
              </a:rPr>
              <a:t>現場イベント / 文書 / 業務要求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D92192-7A96-4304-BA90-D2CC825BD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28975"/>
            <a:ext cx="514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80"/>
          </a:solidFill>
          <a:ln xmlns:a="http://schemas.openxmlformats.org/drawingml/2006/main" w="0">
            <a:solidFill>
              <a:srgbClr val="315F8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E12364-6E01-4759-AF06-38988F98D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05175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56CA3B-63C5-40C8-BCEC-3432C1DD8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28975"/>
            <a:ext cx="5676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197CFC-C9E0-4022-87CB-AFBA4667D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324225"/>
            <a:ext cx="5410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25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252D"/>
                </a:solidFill>
                <a:latin typeface="Arial"/>
                <a:ea typeface="Arial"/>
                <a:cs typeface="Arial"/>
              </a:rPr>
              <a:t>AI提案をStaging Graphへ分離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0C2AB5-7103-4A8C-8719-8A746F43A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76650"/>
            <a:ext cx="514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765"/>
          </a:solidFill>
          <a:ln xmlns:a="http://schemas.openxmlformats.org/drawingml/2006/main" w="0">
            <a:solidFill>
              <a:srgbClr val="60776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798A17-A63A-4CB9-86D7-E7E1D35B5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528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EA3887-DC20-4B2A-8142-EAB5032B4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76650"/>
            <a:ext cx="5676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3E5DF0-25BA-4787-993C-895362AF4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771900"/>
            <a:ext cx="5410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25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252D"/>
                </a:solidFill>
                <a:latin typeface="Arial"/>
                <a:ea typeface="Arial"/>
                <a:cs typeface="Arial"/>
              </a:rPr>
              <a:t>Validation + Policy Gate + 人間承認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066D93-FE3A-40D9-93E9-DCF79BA45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24325"/>
            <a:ext cx="514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765"/>
          </a:solidFill>
          <a:ln xmlns:a="http://schemas.openxmlformats.org/drawingml/2006/main" w="0">
            <a:solidFill>
              <a:srgbClr val="60776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0CA538-5C2E-4330-B19D-7B94DE6FE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00525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9A895F-E3B4-433E-AC79-AC7F33B8E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124325"/>
            <a:ext cx="5676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826383-EE1F-4A0B-8D89-A270AA4D0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219575"/>
            <a:ext cx="5410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25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252D"/>
                </a:solidFill>
                <a:latin typeface="Arial"/>
                <a:ea typeface="Arial"/>
                <a:cs typeface="Arial"/>
              </a:rPr>
              <a:t>Workflow実行 + 全証跡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78B45A-F599-4A24-B451-878E39463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72000"/>
            <a:ext cx="514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6D7B"/>
          </a:solidFill>
          <a:ln xmlns:a="http://schemas.openxmlformats.org/drawingml/2006/main" w="0">
            <a:solidFill>
              <a:srgbClr val="7B6D7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D2EAFE-8C7D-443A-8B0C-A7C749418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4820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AA9BC9-F819-4A91-B2F0-C990BCF7A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72000"/>
            <a:ext cx="5676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B231C9-E33A-4205-9C1F-D24CE74A8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667250"/>
            <a:ext cx="5410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25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252D"/>
                </a:solidFill>
                <a:latin typeface="Arial"/>
                <a:ea typeface="Arial"/>
                <a:cs typeface="Arial"/>
              </a:rPr>
              <a:t>業務outcomeを評価・報酬へ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B34D6BD-BA03-4598-AD62-31EA7466A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19675"/>
            <a:ext cx="514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6D7B"/>
          </a:solidFill>
          <a:ln xmlns:a="http://schemas.openxmlformats.org/drawingml/2006/main" w="0">
            <a:solidFill>
              <a:srgbClr val="7B6D7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A3E4D4E-2C0F-4DBE-8D6A-443A14A58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95875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72319E7-DE0F-49D0-A3ED-0582E836F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019675"/>
            <a:ext cx="5676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4C236E2-86DA-46B1-BAC2-2884E814F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114925"/>
            <a:ext cx="5410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25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252D"/>
                </a:solidFill>
                <a:latin typeface="Arial"/>
                <a:ea typeface="Arial"/>
                <a:cs typeface="Arial"/>
              </a:rPr>
              <a:t>Eval Gate → promote / rollback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CD6C0DD-4B1A-4765-9F68-396CFE6B9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95500"/>
            <a:ext cx="398145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6"/>
          </a:solidFill>
          <a:ln xmlns:a="http://schemas.openxmlformats.org/drawingml/2006/main" w="9525">
            <a:solidFill>
              <a:srgbClr val="D7D0C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C7AAB8A-317C-4EF7-9BEE-288DAD34C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95500"/>
            <a:ext cx="7620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6E3B"/>
          </a:solidFill>
          <a:ln xmlns:a="http://schemas.openxmlformats.org/drawingml/2006/main" w="0">
            <a:solidFill>
              <a:srgbClr val="BF6E3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14C732A-D879-4671-871E-C70155614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62200"/>
            <a:ext cx="3333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52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0252D"/>
                </a:solidFill>
                <a:latin typeface="Arial"/>
                <a:ea typeface="Arial"/>
                <a:cs typeface="Arial"/>
              </a:rPr>
              <a:t>差別化は、モデルではなく制御点に宿る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530A9BD-2F34-40BD-83D6-72F38E43E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05150"/>
            <a:ext cx="66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80"/>
          </a:solidFill>
          <a:ln xmlns:a="http://schemas.openxmlformats.org/drawingml/2006/main" w="0">
            <a:solidFill>
              <a:srgbClr val="315F8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1A1C5A6-BF75-4AB8-9EFD-7D3943344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124200"/>
            <a:ext cx="2971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252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0252D"/>
                </a:solidFill>
                <a:latin typeface="Arial"/>
                <a:ea typeface="Arial"/>
                <a:cs typeface="Arial"/>
              </a:rPr>
              <a:t>事実と推測を分離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48FC28D-8BC2-42E3-8A7D-439DD9EC4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86150"/>
            <a:ext cx="3143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A536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A5360"/>
                </a:solidFill>
                <a:latin typeface="Arial"/>
                <a:ea typeface="Arial"/>
                <a:cs typeface="Arial"/>
              </a:rPr>
              <a:t>Staging GraphがAI候補を本番データから隔離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4178A29-A7A3-470C-830F-E1B13884F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00500"/>
            <a:ext cx="66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765"/>
          </a:solidFill>
          <a:ln xmlns:a="http://schemas.openxmlformats.org/drawingml/2006/main" w="0">
            <a:solidFill>
              <a:srgbClr val="60776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2A94F1F-7836-4B52-A136-923E9E8BD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019550"/>
            <a:ext cx="2971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252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0252D"/>
                </a:solidFill>
                <a:latin typeface="Arial"/>
                <a:ea typeface="Arial"/>
                <a:cs typeface="Arial"/>
              </a:rPr>
              <a:t>自動化を段階制御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9E0B5E5-53A3-4CDA-BB0A-7F2A99008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381500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A536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A5360"/>
                </a:solidFill>
                <a:latin typeface="Arial"/>
                <a:ea typeface="Arial"/>
                <a:cs typeface="Arial"/>
              </a:rPr>
              <a:t>Autonomy Tier L0-L3と承認ゲートで責任範囲を定義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1C816F2-B0C8-4045-96D1-8C757A6FC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38700"/>
            <a:ext cx="66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6D7B"/>
          </a:solidFill>
          <a:ln xmlns:a="http://schemas.openxmlformats.org/drawingml/2006/main" w="0">
            <a:solidFill>
              <a:srgbClr val="7B6D7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4959728-3957-467A-9B91-9CB3F74C5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857750"/>
            <a:ext cx="2971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252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0252D"/>
                </a:solidFill>
                <a:latin typeface="Arial"/>
                <a:ea typeface="Arial"/>
                <a:cs typeface="Arial"/>
              </a:rPr>
              <a:t>本番を止めずに改善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D8DC739-3B32-4006-9588-DD21CBD81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181600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A536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A5360"/>
                </a:solidFill>
                <a:latin typeface="Arial"/>
                <a:ea typeface="Arial"/>
                <a:cs typeface="Arial"/>
              </a:rPr>
              <a:t>推論環境と学習・評価環境を分離し、canary / rollbackを標準化</a:t>
            </a:r>
          </a:p>
        </p:txBody>
      </p:sp>
    </p:spTree>
    <p:extLst>
      <p:ext uri="{BB962C8B-B14F-4D97-AF65-F5344CB8AC3E}">
        <p14:creationId xmlns:p14="http://schemas.microsoft.com/office/powerpoint/2010/main" val="149887745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rule">
            <a:extLst xmlns:a="http://schemas.openxmlformats.org/drawingml/2006/main">
              <a:ext uri="{FF2B5EF4-FFF2-40B4-BE49-F238E27FC236}">
                <a16:creationId xmlns:a16="http://schemas.microsoft.com/office/drawing/2014/main" id="{11AD6A98-02B0-4299-A64D-FE0C10795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0955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252D"/>
          </a:solidFill>
          <a:ln xmlns:a="http://schemas.openxmlformats.org/drawingml/2006/main" w="0">
            <a:solidFill>
              <a:srgbClr val="C9252D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CAA1A95-CED7-4675-8154-C34EFD37D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04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52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0252D"/>
                </a:solidFill>
                <a:latin typeface="Arial"/>
                <a:ea typeface="Arial"/>
                <a:cs typeface="Arial"/>
              </a:rPr>
              <a:t>Landは「もう一つのPoC」ではなく、8-12週の本番相当検証</a:t>
            </a:r>
          </a:p>
        </p:txBody>
      </p:sp>
      <p:sp>
        <p:nvSpPr>
          <p:cNvPr id="3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6FCB2458-2B34-407A-A6E0-4A42AC324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42975"/>
            <a:ext cx="1158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52D"/>
          </a:solidFill>
          <a:ln xmlns:a="http://schemas.openxmlformats.org/drawingml/2006/main" w="0">
            <a:solidFill>
              <a:srgbClr val="20252D"/>
            </a:solidFill>
            <a:prstDash val="solid"/>
          </a:ln>
        </p:spPr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FFC98D1-FF27-4693-8CA8-2C0DF99FC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62050"/>
            <a:ext cx="1133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A536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A5360"/>
                </a:solidFill>
                <a:latin typeface="Arial"/>
                <a:ea typeface="Arial"/>
                <a:cs typeface="Arial"/>
              </a:rPr>
              <a:t>最初はモデル重みを触らず、評価・監査・業務成果を証明する。改善データが溜まったら軽量学習へ進む。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993E5B-86E9-42D8-8E0E-D958B247B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486525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0252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0252D"/>
                </a:solidFill>
                <a:latin typeface="Arial"/>
                <a:ea typeface="Arial"/>
                <a:cs typeface="Arial"/>
              </a:rPr>
              <a:t>Confidential: Internal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D2729F-589C-41A9-AAA4-7F8DA6FF1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486525"/>
            <a:ext cx="228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20252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20252D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7" name="pilot-1-box">
            <a:extLst xmlns:a="http://schemas.openxmlformats.org/drawingml/2006/main">
              <a:ext uri="{FF2B5EF4-FFF2-40B4-BE49-F238E27FC236}">
                <a16:creationId xmlns:a16="http://schemas.microsoft.com/office/drawing/2014/main" id="{438FB16E-4C6B-4158-A86B-6216883E3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09800"/>
            <a:ext cx="247650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7"/>
            </a:solidFill>
            <a:prstDash val="solid"/>
          </a:ln>
        </p:spPr>
      </p:sp>
      <p:sp>
        <p:nvSpPr>
          <p:cNvPr id="8" name="pilot-1-header">
            <a:extLst xmlns:a="http://schemas.openxmlformats.org/drawingml/2006/main">
              <a:ext uri="{FF2B5EF4-FFF2-40B4-BE49-F238E27FC236}">
                <a16:creationId xmlns:a16="http://schemas.microsoft.com/office/drawing/2014/main" id="{484D9D38-4D45-4F47-9F61-BB3FF49B7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09800"/>
            <a:ext cx="2476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80"/>
          </a:solidFill>
          <a:ln xmlns:a="http://schemas.openxmlformats.org/drawingml/2006/main" w="0">
            <a:solidFill>
              <a:srgbClr val="315F8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05F5E8-59A2-46F2-AFB1-F8D410302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95525"/>
            <a:ext cx="2247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STEP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A5579B-0D75-4B82-B553-7D9A18E78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4150"/>
            <a:ext cx="2247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25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0252D"/>
                </a:solidFill>
                <a:latin typeface="Arial"/>
                <a:ea typeface="Arial"/>
                <a:cs typeface="Arial"/>
              </a:rPr>
              <a:t>Wedge選定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A1763F-308E-4C36-AA0A-0DF2EBBF8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57525"/>
            <a:ext cx="2247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C758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C7580"/>
                </a:solidFill>
                <a:latin typeface="Arial"/>
                <a:ea typeface="Arial"/>
                <a:cs typeface="Arial"/>
              </a:rPr>
              <a:t>Week 0-2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E9DBAF-E243-4A42-992D-624DC10F2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0"/>
            <a:ext cx="2247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7"/>
          </a:solidFill>
          <a:ln xmlns:a="http://schemas.openxmlformats.org/drawingml/2006/main" w="0">
            <a:solidFill>
              <a:srgbClr val="D7D0C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004319-72E9-47AC-ADA6-79F902342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67100"/>
            <a:ext cx="2247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15F8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15F80"/>
                </a:solidFill>
                <a:latin typeface="Arial"/>
                <a:ea typeface="Arial"/>
                <a:cs typeface="Arial"/>
              </a:rPr>
              <a:t>成果KPIと責任境界を定義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07C841-6E2E-4F00-AEA0-03C0CD227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A536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A5360"/>
                </a:solidFill>
                <a:latin typeface="Arial"/>
                <a:ea typeface="Arial"/>
                <a:cs typeface="Arial"/>
              </a:rPr>
              <a:t>採用される業務を絞る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DDC8AE-5F40-4ED8-9AF6-D1FD55A84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124200"/>
            <a:ext cx="342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99A3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99A3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6" name="pilot-2-box">
            <a:extLst xmlns:a="http://schemas.openxmlformats.org/drawingml/2006/main">
              <a:ext uri="{FF2B5EF4-FFF2-40B4-BE49-F238E27FC236}">
                <a16:creationId xmlns:a16="http://schemas.microsoft.com/office/drawing/2014/main" id="{1EA7412D-5E98-415F-B412-5888A6F75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209800"/>
            <a:ext cx="247650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7"/>
            </a:solidFill>
            <a:prstDash val="solid"/>
          </a:ln>
        </p:spPr>
      </p:sp>
      <p:sp>
        <p:nvSpPr>
          <p:cNvPr id="17" name="pilot-2-header">
            <a:extLst xmlns:a="http://schemas.openxmlformats.org/drawingml/2006/main">
              <a:ext uri="{FF2B5EF4-FFF2-40B4-BE49-F238E27FC236}">
                <a16:creationId xmlns:a16="http://schemas.microsoft.com/office/drawing/2014/main" id="{D230C7FE-3982-457D-8299-BC806FC89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209800"/>
            <a:ext cx="2476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80"/>
          </a:solidFill>
          <a:ln xmlns:a="http://schemas.openxmlformats.org/drawingml/2006/main" w="0">
            <a:solidFill>
              <a:srgbClr val="315F8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E7DB47-BD71-4EA3-B274-F96D6871C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295525"/>
            <a:ext cx="2247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STEP 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6F02E6-E359-4A5F-86B8-EB323D4EB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724150"/>
            <a:ext cx="2247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25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0252D"/>
                </a:solidFill>
                <a:latin typeface="Arial"/>
                <a:ea typeface="Arial"/>
                <a:cs typeface="Arial"/>
              </a:rPr>
              <a:t>統合・統治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B5A5BB-A1FE-4778-A938-0D77BE691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057525"/>
            <a:ext cx="2247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C758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C7580"/>
                </a:solidFill>
                <a:latin typeface="Arial"/>
                <a:ea typeface="Arial"/>
                <a:cs typeface="Arial"/>
              </a:rPr>
              <a:t>Week 2-5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C1378D-DF7F-42B8-BADA-543DE5FAA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333750"/>
            <a:ext cx="2247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7"/>
          </a:solidFill>
          <a:ln xmlns:a="http://schemas.openxmlformats.org/drawingml/2006/main" w="0">
            <a:solidFill>
              <a:srgbClr val="D7D0C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A80662-B67D-4380-BC49-F43734558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467100"/>
            <a:ext cx="2247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15F8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15F80"/>
                </a:solidFill>
                <a:latin typeface="Arial"/>
                <a:ea typeface="Arial"/>
                <a:cs typeface="Arial"/>
              </a:rPr>
              <a:t>接続 / Staging / Policy / 監査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E7181A-22CB-4BFA-8C52-C8B129943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81000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A536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A5360"/>
                </a:solidFill>
                <a:latin typeface="Arial"/>
                <a:ea typeface="Arial"/>
                <a:cs typeface="Arial"/>
              </a:rPr>
              <a:t>本番化の壁を実装で除く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3EE816-0BD0-4D50-A3D4-AF1592F61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124200"/>
            <a:ext cx="342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99A3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99A3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5" name="pilot-3-box">
            <a:extLst xmlns:a="http://schemas.openxmlformats.org/drawingml/2006/main">
              <a:ext uri="{FF2B5EF4-FFF2-40B4-BE49-F238E27FC236}">
                <a16:creationId xmlns:a16="http://schemas.microsoft.com/office/drawing/2014/main" id="{3F4D59BE-B771-4475-9065-232FA240D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209800"/>
            <a:ext cx="247650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7"/>
            </a:solidFill>
            <a:prstDash val="solid"/>
          </a:ln>
        </p:spPr>
      </p:sp>
      <p:sp>
        <p:nvSpPr>
          <p:cNvPr id="26" name="pilot-3-header">
            <a:extLst xmlns:a="http://schemas.openxmlformats.org/drawingml/2006/main">
              <a:ext uri="{FF2B5EF4-FFF2-40B4-BE49-F238E27FC236}">
                <a16:creationId xmlns:a16="http://schemas.microsoft.com/office/drawing/2014/main" id="{508AB0B9-28B7-4C80-9258-983B5D4A6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209800"/>
            <a:ext cx="2476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765"/>
          </a:solidFill>
          <a:ln xmlns:a="http://schemas.openxmlformats.org/drawingml/2006/main" w="0">
            <a:solidFill>
              <a:srgbClr val="60776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3A8CF2-94BF-43D2-94BD-24EA28F6E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95525"/>
            <a:ext cx="2247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STEP 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4A888C-0BC5-46CF-ACD7-6B0481184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24150"/>
            <a:ext cx="2247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25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0252D"/>
                </a:solidFill>
                <a:latin typeface="Arial"/>
                <a:ea typeface="Arial"/>
                <a:cs typeface="Arial"/>
              </a:rPr>
              <a:t>評価ハーネス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03D1A2-3415-4435-A2CB-832308F05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57525"/>
            <a:ext cx="2247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C758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C7580"/>
                </a:solidFill>
                <a:latin typeface="Arial"/>
                <a:ea typeface="Arial"/>
                <a:cs typeface="Arial"/>
              </a:rPr>
              <a:t>Week 5-8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3D3F923-8BBC-4CDE-9242-66F04449D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33750"/>
            <a:ext cx="2247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7"/>
          </a:solidFill>
          <a:ln xmlns:a="http://schemas.openxmlformats.org/drawingml/2006/main" w="0">
            <a:solidFill>
              <a:srgbClr val="D7D0C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BF4E6A9-3BCB-44B1-8012-87DC6106A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67100"/>
            <a:ext cx="2247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0776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07765"/>
                </a:solidFill>
                <a:latin typeface="Arial"/>
                <a:ea typeface="Arial"/>
                <a:cs typeface="Arial"/>
              </a:rPr>
              <a:t>golden set / regression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AC9BEBF-0F9A-4FD5-8888-762FAB579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000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A536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A5360"/>
                </a:solidFill>
                <a:latin typeface="Arial"/>
                <a:ea typeface="Arial"/>
                <a:cs typeface="Arial"/>
              </a:rPr>
              <a:t>モデル更新リスクを管理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A0E3D10-FBEF-4EF9-8EE1-D8162428F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124200"/>
            <a:ext cx="342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99A3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99A3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4" name="pilot-4-box">
            <a:extLst xmlns:a="http://schemas.openxmlformats.org/drawingml/2006/main">
              <a:ext uri="{FF2B5EF4-FFF2-40B4-BE49-F238E27FC236}">
                <a16:creationId xmlns:a16="http://schemas.microsoft.com/office/drawing/2014/main" id="{374F5CFE-13D8-47DB-B5B9-666766EE4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09800"/>
            <a:ext cx="247650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7"/>
            </a:solidFill>
            <a:prstDash val="solid"/>
          </a:ln>
        </p:spPr>
      </p:sp>
      <p:sp>
        <p:nvSpPr>
          <p:cNvPr id="35" name="pilot-4-header">
            <a:extLst xmlns:a="http://schemas.openxmlformats.org/drawingml/2006/main">
              <a:ext uri="{FF2B5EF4-FFF2-40B4-BE49-F238E27FC236}">
                <a16:creationId xmlns:a16="http://schemas.microsoft.com/office/drawing/2014/main" id="{4629D5B8-5372-457F-91AD-11D9DE49F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09800"/>
            <a:ext cx="2476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6D7B"/>
          </a:solidFill>
          <a:ln xmlns:a="http://schemas.openxmlformats.org/drawingml/2006/main" w="0">
            <a:solidFill>
              <a:srgbClr val="7B6D7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6103097-DEA0-477D-9E2C-C2DECB0B5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295525"/>
            <a:ext cx="2247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STEP 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C54E01E-3056-41D0-8CC5-C32AF028E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724150"/>
            <a:ext cx="2247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25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0252D"/>
                </a:solidFill>
                <a:latin typeface="Arial"/>
                <a:ea typeface="Arial"/>
                <a:cs typeface="Arial"/>
              </a:rPr>
              <a:t>本番相当運用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773D433-2B62-4D7F-9EA8-AC192A86E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57525"/>
            <a:ext cx="2247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C758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C7580"/>
                </a:solidFill>
                <a:latin typeface="Arial"/>
                <a:ea typeface="Arial"/>
                <a:cs typeface="Arial"/>
              </a:rPr>
              <a:t>Week 8-12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467CECF-372A-4291-87DF-796F3D9B9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333750"/>
            <a:ext cx="2247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7"/>
          </a:solidFill>
          <a:ln xmlns:a="http://schemas.openxmlformats.org/drawingml/2006/main" w="0">
            <a:solidFill>
              <a:srgbClr val="D7D0C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53A50D7-55FD-4EA4-8FCA-BE4D34ABE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467100"/>
            <a:ext cx="2247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B6D7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B6D7B"/>
                </a:solidFill>
                <a:latin typeface="Arial"/>
                <a:ea typeface="Arial"/>
                <a:cs typeface="Arial"/>
              </a:rPr>
              <a:t>業務outcomeとROIを測定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9EBB8F3-5486-45D3-821C-1A9F80D41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81000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A536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A5360"/>
                </a:solidFill>
                <a:latin typeface="Arial"/>
                <a:ea typeface="Arial"/>
                <a:cs typeface="Arial"/>
              </a:rPr>
              <a:t>Production Starterへ拡張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73D986F-F9F4-48C5-A54B-4F62290FD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76800"/>
            <a:ext cx="109918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52D"/>
          </a:solidFill>
          <a:ln xmlns:a="http://schemas.openxmlformats.org/drawingml/2006/main" w="0">
            <a:solidFill>
              <a:srgbClr val="20252D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592BD17-978D-4418-B381-6CC8C0FB8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6A2B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6A2B5"/>
                </a:solidFill>
                <a:latin typeface="Arial"/>
                <a:ea typeface="Arial"/>
                <a:cs typeface="Arial"/>
              </a:rPr>
              <a:t>初期プロファイル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5882371-B46B-43CA-9249-81C6A27B5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05425"/>
            <a:ext cx="209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1-2 GPU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6410A22-B513-4634-976C-18B816A4E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67375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6A2B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86A2B5"/>
                </a:solidFill>
                <a:latin typeface="Arial"/>
                <a:ea typeface="Arial"/>
                <a:cs typeface="Arial"/>
              </a:rPr>
              <a:t>Pilot-in-a-Box / Profile B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9E2CD9F-C20C-4787-BCD3-596C10BA6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4825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6A2B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6A2B5"/>
                </a:solidFill>
                <a:latin typeface="Arial"/>
                <a:ea typeface="Arial"/>
                <a:cs typeface="Arial"/>
              </a:rPr>
              <a:t>初期の学習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30FE158-EB72-4AB5-9E6D-C6FF2A317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305425"/>
            <a:ext cx="228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重み更新なし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D011571-434B-4519-AAAA-6DC13D8C7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667375"/>
            <a:ext cx="2286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6A2B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86A2B5"/>
                </a:solidFill>
                <a:latin typeface="Arial"/>
                <a:ea typeface="Arial"/>
                <a:cs typeface="Arial"/>
              </a:rPr>
              <a:t>評価・データ蓄積・RLAIF生成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A1DBAAF-1344-47B7-B691-3B6204B80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4825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6A2B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6A2B5"/>
                </a:solidFill>
                <a:latin typeface="Arial"/>
                <a:ea typeface="Arial"/>
                <a:cs typeface="Arial"/>
              </a:rPr>
              <a:t>次の拡張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3E2A906-5E92-4C12-B1B4-8993DCD73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305425"/>
            <a:ext cx="228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4-8 GPU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6B3AB75-F8F1-4A2C-A7F9-F2482E9AE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667375"/>
            <a:ext cx="2286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6A2B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86A2B5"/>
                </a:solidFill>
                <a:latin typeface="Arial"/>
                <a:ea typeface="Arial"/>
                <a:cs typeface="Arial"/>
              </a:rPr>
              <a:t>Production Starter / LoRA・DPO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6499F31-5EE0-48C6-8EEA-F40EC9CAB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0482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6A2B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6A2B5"/>
                </a:solidFill>
                <a:latin typeface="Arial"/>
                <a:ea typeface="Arial"/>
                <a:cs typeface="Arial"/>
              </a:rPr>
              <a:t>顧客への約束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FF36E94-EC9C-45EF-96F7-9CCC3A8BF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305425"/>
            <a:ext cx="209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管理境界内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49732EA-7230-4201-9AFD-C69C4C04D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667375"/>
            <a:ext cx="2095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6A2B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86A2B5"/>
                </a:solidFill>
                <a:latin typeface="Arial"/>
                <a:ea typeface="Arial"/>
                <a:cs typeface="Arial"/>
              </a:rPr>
              <a:t>データ・モデル・実行・監査</a:t>
            </a:r>
          </a:p>
        </p:txBody>
      </p:sp>
    </p:spTree>
    <p:extLst>
      <p:ext uri="{BB962C8B-B14F-4D97-AF65-F5344CB8AC3E}">
        <p14:creationId xmlns:p14="http://schemas.microsoft.com/office/powerpoint/2010/main" val="73687981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rule">
            <a:extLst xmlns:a="http://schemas.openxmlformats.org/drawingml/2006/main">
              <a:ext uri="{FF2B5EF4-FFF2-40B4-BE49-F238E27FC236}">
                <a16:creationId xmlns:a16="http://schemas.microsoft.com/office/drawing/2014/main" id="{8EC6166D-B390-4661-A5A1-E10FCE378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0955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252D"/>
          </a:solidFill>
          <a:ln xmlns:a="http://schemas.openxmlformats.org/drawingml/2006/main" w="0">
            <a:solidFill>
              <a:srgbClr val="C9252D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E276534-3A50-4D2A-8700-114DA0A56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04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52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0252D"/>
                </a:solidFill>
                <a:latin typeface="Arial"/>
                <a:ea typeface="Arial"/>
                <a:cs typeface="Arial"/>
              </a:rPr>
              <a:t>収益はソフトウェアから始まり、主権基盤とComputeへ積み上がる</a:t>
            </a:r>
          </a:p>
        </p:txBody>
      </p:sp>
      <p:sp>
        <p:nvSpPr>
          <p:cNvPr id="3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BF50996C-1082-4069-BACE-9C2B82C07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42975"/>
            <a:ext cx="1158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52D"/>
          </a:solidFill>
          <a:ln xmlns:a="http://schemas.openxmlformats.org/drawingml/2006/main" w="0">
            <a:solidFill>
              <a:srgbClr val="20252D"/>
            </a:solidFill>
            <a:prstDash val="solid"/>
          </a:ln>
        </p:spPr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6EA8349-24D1-46F9-9EA1-B5F6B536E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62050"/>
            <a:ext cx="1133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A536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A5360"/>
                </a:solidFill>
                <a:latin typeface="Arial"/>
                <a:ea typeface="Arial"/>
                <a:cs typeface="Arial"/>
              </a:rPr>
              <a:t>顧客の成熟度に合わせて、導入支援から継続課金・インフラ・将来HWへ収益レイヤーを増やす。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55EBCC-2DB1-44C8-A1D0-740C128D3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486525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0252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0252D"/>
                </a:solidFill>
                <a:latin typeface="Arial"/>
                <a:ea typeface="Arial"/>
                <a:cs typeface="Arial"/>
              </a:rPr>
              <a:t>Confidential: Internal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991E8C-1FDC-4023-BBC6-4B86370B2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486525"/>
            <a:ext cx="228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20252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20252D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6905F2-292C-499F-973C-674568D88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48250"/>
            <a:ext cx="7429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141EC6-35BA-4539-A5F2-1BE59E845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48250"/>
            <a:ext cx="5524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6E3B"/>
          </a:solidFill>
          <a:ln xmlns:a="http://schemas.openxmlformats.org/drawingml/2006/main" w="0">
            <a:solidFill>
              <a:srgbClr val="BF6E3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C4E40C-E9B4-46A3-BFA9-0E7DBD937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48275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762AE0-89C2-43F2-890D-944F3F5F5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62550"/>
            <a:ext cx="22383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25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0252D"/>
                </a:solidFill>
                <a:latin typeface="Arial"/>
                <a:ea typeface="Arial"/>
                <a:cs typeface="Arial"/>
              </a:rPr>
              <a:t>導入・統合支援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890854-C145-41EC-9D2F-774FCF8D7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372100"/>
            <a:ext cx="22383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F6E3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F6E3B"/>
                </a:solidFill>
                <a:latin typeface="Arial"/>
                <a:ea typeface="Arial"/>
                <a:cs typeface="Arial"/>
              </a:rPr>
              <a:t>プロジェクト売上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2563EF-B543-41AD-8C56-F49161758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219700"/>
            <a:ext cx="3810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A536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A5360"/>
                </a:solidFill>
                <a:latin typeface="Arial"/>
                <a:ea typeface="Arial"/>
                <a:cs typeface="Arial"/>
              </a:rPr>
              <a:t>最初の業務を本番化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927C27-69A2-434A-8FF7-82518D2E6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81500"/>
            <a:ext cx="6762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FE3B63-DC22-4D5E-92A9-AE2AEB971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81500"/>
            <a:ext cx="5524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80"/>
          </a:solidFill>
          <a:ln xmlns:a="http://schemas.openxmlformats.org/drawingml/2006/main" w="0">
            <a:solidFill>
              <a:srgbClr val="315F8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EFA71C-4BBD-4A41-BE00-212CCE1B9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81525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E6FFC3-3FF0-4253-AF1F-F626C41C9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495800"/>
            <a:ext cx="22383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25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0252D"/>
                </a:solidFill>
                <a:latin typeface="Arial"/>
                <a:ea typeface="Arial"/>
                <a:cs typeface="Arial"/>
              </a:rPr>
              <a:t>Core Platform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B90473-5D98-40BC-8BEF-C85FC6755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705350"/>
            <a:ext cx="22383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15F8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15F80"/>
                </a:solidFill>
                <a:latin typeface="Arial"/>
                <a:ea typeface="Arial"/>
                <a:cs typeface="Arial"/>
              </a:rPr>
              <a:t>月額 / 年額利用料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E42C84-C157-4A4D-80FF-471671F71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552950"/>
            <a:ext cx="3143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A536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A5360"/>
                </a:solidFill>
                <a:latin typeface="Arial"/>
                <a:ea typeface="Arial"/>
                <a:cs typeface="Arial"/>
              </a:rPr>
              <a:t>Agent Runtime・Graph・Policy・Eval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28F964-52A9-4AD2-9C88-AA5DCDE99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714750"/>
            <a:ext cx="6096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908934-E3BC-4DAC-8DA9-6D5D98E6D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714750"/>
            <a:ext cx="5524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765"/>
          </a:solidFill>
          <a:ln xmlns:a="http://schemas.openxmlformats.org/drawingml/2006/main" w="0">
            <a:solidFill>
              <a:srgbClr val="60776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D9A67F-41E0-47CE-A180-3F7F47C1C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914775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F9F3FC-3875-4DE9-81EF-A48B71E67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829050"/>
            <a:ext cx="22383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25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0252D"/>
                </a:solidFill>
                <a:latin typeface="Arial"/>
                <a:ea typeface="Arial"/>
                <a:cs typeface="Arial"/>
              </a:rPr>
              <a:t>Domain / Industry Pack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E369C6-C436-4743-B993-293436CC7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038600"/>
            <a:ext cx="22383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0776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07765"/>
                </a:solidFill>
                <a:latin typeface="Arial"/>
                <a:ea typeface="Arial"/>
                <a:cs typeface="Arial"/>
              </a:rPr>
              <a:t>追加ライセンス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F70EFC-4F73-4971-AF52-A89462DDD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88620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A536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A5360"/>
                </a:solidFill>
                <a:latin typeface="Arial"/>
                <a:ea typeface="Arial"/>
                <a:cs typeface="Arial"/>
              </a:rPr>
              <a:t>2本目以降の業務展開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F90809-19E0-4A35-B59A-2078B5232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048000"/>
            <a:ext cx="5429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066AF1-6DBD-4799-8A86-620A1CA8F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048000"/>
            <a:ext cx="5524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6D7B"/>
          </a:solidFill>
          <a:ln xmlns:a="http://schemas.openxmlformats.org/drawingml/2006/main" w="0">
            <a:solidFill>
              <a:srgbClr val="7B6D7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D19091-E856-4E1D-9BE2-70AEDFD2A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248025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AB9472-44A5-4621-81F5-224C37631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162300"/>
            <a:ext cx="22383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25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0252D"/>
                </a:solidFill>
                <a:latin typeface="Arial"/>
                <a:ea typeface="Arial"/>
                <a:cs typeface="Arial"/>
              </a:rPr>
              <a:t>Sovereign環境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DFF8A01-7C93-4F7B-AFB2-9323BED4E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371850"/>
            <a:ext cx="22383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B6D7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B6D7B"/>
                </a:solidFill>
                <a:latin typeface="Arial"/>
                <a:ea typeface="Arial"/>
                <a:cs typeface="Arial"/>
              </a:rPr>
              <a:t>年間利用料 + 保守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91512D2-E5E1-4F2B-B8FD-F9DED9185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21945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A536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A5360"/>
                </a:solidFill>
                <a:latin typeface="Arial"/>
                <a:ea typeface="Arial"/>
                <a:cs typeface="Arial"/>
              </a:rPr>
              <a:t>オンプレ導入・運用・専用Compute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1B2158F-08B2-4375-BE5D-748182281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81250"/>
            <a:ext cx="4762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2C81F91-6A49-4FF3-BA0E-067604F58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81250"/>
            <a:ext cx="5524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32"/>
          </a:solidFill>
          <a:ln xmlns:a="http://schemas.openxmlformats.org/drawingml/2006/main" w="0">
            <a:solidFill>
              <a:srgbClr val="C99A3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E31E064-972A-4736-93B5-4C9FD5D5C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581275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E8A5F3F-2D47-41AD-BC16-B119D6402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495550"/>
            <a:ext cx="22383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25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0252D"/>
                </a:solidFill>
                <a:latin typeface="Arial"/>
                <a:ea typeface="Arial"/>
                <a:cs typeface="Arial"/>
              </a:rPr>
              <a:t>Compute / HW option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E8976EB-1913-4EF1-8E8B-DD9785297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705100"/>
            <a:ext cx="22383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99A3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99A32"/>
                </a:solidFill>
                <a:latin typeface="Arial"/>
                <a:ea typeface="Arial"/>
                <a:cs typeface="Arial"/>
              </a:rPr>
              <a:t>機器・ランタイム・共同開発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0F3D619-633E-4067-A024-B46F35A84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5270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A536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A5360"/>
                </a:solidFill>
                <a:latin typeface="Arial"/>
                <a:ea typeface="Arial"/>
                <a:cs typeface="Arial"/>
              </a:rPr>
              <a:t>テレメトリが正当化した領域のみ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FC975C0-7522-46FA-9A72-87C096129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81250"/>
            <a:ext cx="31051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52D"/>
          </a:solidFill>
          <a:ln xmlns:a="http://schemas.openxmlformats.org/drawingml/2006/main" w="0">
            <a:solidFill>
              <a:srgbClr val="20252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D891FAB-4214-4D22-9CEB-2A89FA796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670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99A3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99A32"/>
                </a:solidFill>
                <a:latin typeface="Arial"/>
                <a:ea typeface="Arial"/>
                <a:cs typeface="Arial"/>
              </a:rPr>
              <a:t>収益品質の変化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6487302-E2F9-4B8F-95A0-C83E9DD71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05150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5360"/>
          </a:solidFill>
          <a:ln xmlns:a="http://schemas.openxmlformats.org/drawingml/2006/main" w="0">
            <a:solidFill>
              <a:srgbClr val="4A536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52DF723-774A-49D1-AD9F-724108DA7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9090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6A2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6A2B5"/>
                </a:solidFill>
                <a:latin typeface="Arial"/>
                <a:ea typeface="Arial"/>
                <a:cs typeface="Arial"/>
              </a:rPr>
              <a:t>短期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B42E015-3025-4CFA-B0C9-1CCFD2178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352800"/>
            <a:ext cx="1771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導入キャッシュ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3620179-AC65-40A3-B049-554BA1D17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2430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6A2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6A2B5"/>
                </a:solidFill>
                <a:latin typeface="Arial"/>
                <a:ea typeface="Arial"/>
                <a:cs typeface="Arial"/>
              </a:rPr>
              <a:t>中期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DEBE4C7-E470-44D8-A747-0FED6EA09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886200"/>
            <a:ext cx="1771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Platform + Packの継続課金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419F406-DFA3-406E-A096-306039760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5770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6A2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6A2B5"/>
                </a:solidFill>
                <a:latin typeface="Arial"/>
                <a:ea typeface="Arial"/>
                <a:cs typeface="Arial"/>
              </a:rPr>
              <a:t>長期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501DAE4-255E-4E6E-8341-83B6EEF20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419600"/>
            <a:ext cx="1771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Sovereign運用 + Compute効率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7C78CC1-26CC-4E17-8483-3FE265954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99110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6A2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6A2B5"/>
                </a:solidFill>
                <a:latin typeface="Arial"/>
                <a:ea typeface="Arial"/>
                <a:cs typeface="Arial"/>
              </a:rPr>
              <a:t>Option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CD7B007-1A6F-4B71-A256-A0703722C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953000"/>
            <a:ext cx="1771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専用HW / 共同開発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7E3ACA6-98B8-41B3-9765-EE7D0A940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768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6A2B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86A2B5"/>
                </a:solidFill>
                <a:latin typeface="Arial"/>
                <a:ea typeface="Arial"/>
                <a:cs typeface="Arial"/>
              </a:rPr>
              <a:t>価格・ARR・粗利は今後の検証項目</a:t>
            </a:r>
          </a:p>
        </p:txBody>
      </p:sp>
    </p:spTree>
    <p:extLst>
      <p:ext uri="{BB962C8B-B14F-4D97-AF65-F5344CB8AC3E}">
        <p14:creationId xmlns:p14="http://schemas.microsoft.com/office/powerpoint/2010/main" val="98051803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rule">
            <a:extLst xmlns:a="http://schemas.openxmlformats.org/drawingml/2006/main">
              <a:ext uri="{FF2B5EF4-FFF2-40B4-BE49-F238E27FC236}">
                <a16:creationId xmlns:a16="http://schemas.microsoft.com/office/drawing/2014/main" id="{B3E5709B-A2D1-43D0-8722-7B35F9617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0955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252D"/>
          </a:solidFill>
          <a:ln xmlns:a="http://schemas.openxmlformats.org/drawingml/2006/main" w="0">
            <a:solidFill>
              <a:srgbClr val="C9252D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180FE71-A823-4A31-BBA3-5F1C7B449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04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52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0252D"/>
                </a:solidFill>
                <a:latin typeface="Arial"/>
                <a:ea typeface="Arial"/>
                <a:cs typeface="Arial"/>
              </a:rPr>
              <a:t>Land and Expandは、顧客価値とKairosAI資産を同時に深める</a:t>
            </a:r>
          </a:p>
        </p:txBody>
      </p:sp>
      <p:sp>
        <p:nvSpPr>
          <p:cNvPr id="3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55BDA08E-7D84-40A5-AB7D-30E131992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42975"/>
            <a:ext cx="1158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52D"/>
          </a:solidFill>
          <a:ln xmlns:a="http://schemas.openxmlformats.org/drawingml/2006/main" w="0">
            <a:solidFill>
              <a:srgbClr val="20252D"/>
            </a:solidFill>
            <a:prstDash val="solid"/>
          </a:ln>
        </p:spPr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2CE3216-066C-425B-9102-1B82DF866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62050"/>
            <a:ext cx="1133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A536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A5360"/>
                </a:solidFill>
                <a:latin typeface="Arial"/>
                <a:ea typeface="Arial"/>
                <a:cs typeface="Arial"/>
              </a:rPr>
              <a:t>拡張するほど継続収益が増え、Layer 2テレメトリがPackとCompute設計を改善する。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2E620A-0DB2-4AE0-AF69-6036E14E0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486525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0252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0252D"/>
                </a:solidFill>
                <a:latin typeface="Arial"/>
                <a:ea typeface="Arial"/>
                <a:cs typeface="Arial"/>
              </a:rPr>
              <a:t>Confidential: Internal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B4D3B9-4442-4845-BE12-328489B5E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486525"/>
            <a:ext cx="228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20252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20252D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7" name="expand-1-box">
            <a:extLst xmlns:a="http://schemas.openxmlformats.org/drawingml/2006/main">
              <a:ext uri="{FF2B5EF4-FFF2-40B4-BE49-F238E27FC236}">
                <a16:creationId xmlns:a16="http://schemas.microsoft.com/office/drawing/2014/main" id="{4C8EC07C-4F1B-49B4-9257-29ABA5632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152650"/>
            <a:ext cx="20955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7"/>
            </a:solidFill>
            <a:prstDash val="solid"/>
          </a:ln>
        </p:spPr>
      </p:sp>
      <p:sp>
        <p:nvSpPr>
          <p:cNvPr id="8" name="expand-1-header">
            <a:extLst xmlns:a="http://schemas.openxmlformats.org/drawingml/2006/main">
              <a:ext uri="{FF2B5EF4-FFF2-40B4-BE49-F238E27FC236}">
                <a16:creationId xmlns:a16="http://schemas.microsoft.com/office/drawing/2014/main" id="{2B36111F-5E58-45D5-A2E0-3E1894913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152650"/>
            <a:ext cx="2095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80"/>
          </a:solidFill>
          <a:ln xmlns:a="http://schemas.openxmlformats.org/drawingml/2006/main" w="0">
            <a:solidFill>
              <a:srgbClr val="315F8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BDB612-CAF6-4390-AD39-5D6320B5E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3837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STEP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EBB2AC-0C52-4917-8B45-EF696BA25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0"/>
            <a:ext cx="1866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25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0252D"/>
                </a:solidFill>
                <a:latin typeface="Arial"/>
                <a:ea typeface="Arial"/>
                <a:cs typeface="Arial"/>
              </a:rPr>
              <a:t>Pilot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2346CD-537C-482E-B17A-9CC61D24A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0037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C758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C7580"/>
                </a:solidFill>
                <a:latin typeface="Arial"/>
                <a:ea typeface="Arial"/>
                <a:cs typeface="Arial"/>
              </a:rPr>
              <a:t>8-12週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2F1877-024E-438D-B817-9CCC7C496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76600"/>
            <a:ext cx="1866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7"/>
          </a:solidFill>
          <a:ln xmlns:a="http://schemas.openxmlformats.org/drawingml/2006/main" w="0">
            <a:solidFill>
              <a:srgbClr val="D7D0C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867464-FAD0-465E-BEB2-51C33FDE9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09950"/>
            <a:ext cx="1866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15F8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15F80"/>
                </a:solidFill>
                <a:latin typeface="Arial"/>
                <a:ea typeface="Arial"/>
                <a:cs typeface="Arial"/>
              </a:rPr>
              <a:t>業務outcomeを証明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D21C62-3581-4C8A-81A4-D1C0B541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5285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A536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A5360"/>
                </a:solidFill>
                <a:latin typeface="Arial"/>
                <a:ea typeface="Arial"/>
                <a:cs typeface="Arial"/>
              </a:rPr>
              <a:t>導入売上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A3B6DE-629E-4C8F-9B04-53CA46208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124200"/>
            <a:ext cx="247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99A3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99A3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6" name="expand-2-box">
            <a:extLst xmlns:a="http://schemas.openxmlformats.org/drawingml/2006/main">
              <a:ext uri="{FF2B5EF4-FFF2-40B4-BE49-F238E27FC236}">
                <a16:creationId xmlns:a16="http://schemas.microsoft.com/office/drawing/2014/main" id="{1E3979CB-2E94-4520-BBEF-614A45962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2152650"/>
            <a:ext cx="20955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7"/>
            </a:solidFill>
            <a:prstDash val="solid"/>
          </a:ln>
        </p:spPr>
      </p:sp>
      <p:sp>
        <p:nvSpPr>
          <p:cNvPr id="17" name="expand-2-header">
            <a:extLst xmlns:a="http://schemas.openxmlformats.org/drawingml/2006/main">
              <a:ext uri="{FF2B5EF4-FFF2-40B4-BE49-F238E27FC236}">
                <a16:creationId xmlns:a16="http://schemas.microsoft.com/office/drawing/2014/main" id="{CE8C9DB5-CD51-48DB-8683-9498FABDD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2152650"/>
            <a:ext cx="2095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80"/>
          </a:solidFill>
          <a:ln xmlns:a="http://schemas.openxmlformats.org/drawingml/2006/main" w="0">
            <a:solidFill>
              <a:srgbClr val="315F8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0A4298-42EA-449D-92BA-E4FD6F477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23837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STEP 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2334A1-8E2C-4850-B026-8B55192E5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667000"/>
            <a:ext cx="1866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25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0252D"/>
                </a:solidFill>
                <a:latin typeface="Arial"/>
                <a:ea typeface="Arial"/>
                <a:cs typeface="Arial"/>
              </a:rPr>
              <a:t>1部門本番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D3FE21-A446-4A89-A2FC-94AF617E4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00037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C758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C7580"/>
                </a:solidFill>
                <a:latin typeface="Arial"/>
                <a:ea typeface="Arial"/>
                <a:cs typeface="Arial"/>
              </a:rPr>
              <a:t>Profile 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008C40-44F7-4CC6-B965-CC894FDB2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276600"/>
            <a:ext cx="1866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7"/>
          </a:solidFill>
          <a:ln xmlns:a="http://schemas.openxmlformats.org/drawingml/2006/main" w="0">
            <a:solidFill>
              <a:srgbClr val="D7D0C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E8C521-237F-4671-A955-3D8A82FE2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409950"/>
            <a:ext cx="1866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15F8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15F80"/>
                </a:solidFill>
                <a:latin typeface="Arial"/>
                <a:ea typeface="Arial"/>
                <a:cs typeface="Arial"/>
              </a:rPr>
              <a:t>Core + 1 Pack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D23C98-4823-425A-B68A-0BB2A1F86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75285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A536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A5360"/>
                </a:solidFill>
                <a:latin typeface="Arial"/>
                <a:ea typeface="Arial"/>
                <a:cs typeface="Arial"/>
              </a:rPr>
              <a:t>継続利用料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CC1A86-F890-4882-888B-681AD11F0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124200"/>
            <a:ext cx="247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99A3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99A3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5" name="expand-3-box">
            <a:extLst xmlns:a="http://schemas.openxmlformats.org/drawingml/2006/main">
              <a:ext uri="{FF2B5EF4-FFF2-40B4-BE49-F238E27FC236}">
                <a16:creationId xmlns:a16="http://schemas.microsoft.com/office/drawing/2014/main" id="{DD388D2E-4BE0-46B2-8524-5E126E06D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152650"/>
            <a:ext cx="20955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7"/>
            </a:solidFill>
            <a:prstDash val="solid"/>
          </a:ln>
        </p:spPr>
      </p:sp>
      <p:sp>
        <p:nvSpPr>
          <p:cNvPr id="26" name="expand-3-header">
            <a:extLst xmlns:a="http://schemas.openxmlformats.org/drawingml/2006/main">
              <a:ext uri="{FF2B5EF4-FFF2-40B4-BE49-F238E27FC236}">
                <a16:creationId xmlns:a16="http://schemas.microsoft.com/office/drawing/2014/main" id="{3B3974B5-A00F-43FD-A6EB-CE97E322C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152650"/>
            <a:ext cx="2095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765"/>
          </a:solidFill>
          <a:ln xmlns:a="http://schemas.openxmlformats.org/drawingml/2006/main" w="0">
            <a:solidFill>
              <a:srgbClr val="60776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26A1E3-0ECF-49FC-8B3E-6694A99FE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23837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STEP 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0315FD-5D9E-4632-BA8C-51B481A1A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667000"/>
            <a:ext cx="1866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25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0252D"/>
                </a:solidFill>
                <a:latin typeface="Arial"/>
                <a:ea typeface="Arial"/>
                <a:cs typeface="Arial"/>
              </a:rPr>
              <a:t>複数Pack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0AED7F2-4C82-436F-866F-3530429F4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00037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C758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C7580"/>
                </a:solidFill>
                <a:latin typeface="Arial"/>
                <a:ea typeface="Arial"/>
                <a:cs typeface="Arial"/>
              </a:rPr>
              <a:t>部門横展開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D3B145D-02E1-4452-8364-4C4A15A92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276600"/>
            <a:ext cx="1866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7"/>
          </a:solidFill>
          <a:ln xmlns:a="http://schemas.openxmlformats.org/drawingml/2006/main" w="0">
            <a:solidFill>
              <a:srgbClr val="D7D0C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84B7DD2-6172-4CC5-B85A-67DB00F31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409950"/>
            <a:ext cx="1866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0776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07765"/>
                </a:solidFill>
                <a:latin typeface="Arial"/>
                <a:ea typeface="Arial"/>
                <a:cs typeface="Arial"/>
              </a:rPr>
              <a:t>Graph / Harnessを再利用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9C36531-C1A9-4522-9258-5C9C17EA5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75285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A536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A5360"/>
                </a:solidFill>
                <a:latin typeface="Arial"/>
                <a:ea typeface="Arial"/>
                <a:cs typeface="Arial"/>
              </a:rPr>
              <a:t>追加ライセンス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73EB7BA-1C25-444B-9C59-CBE66FBD3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124200"/>
            <a:ext cx="247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99A3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99A3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4" name="expand-4-box">
            <a:extLst xmlns:a="http://schemas.openxmlformats.org/drawingml/2006/main">
              <a:ext uri="{FF2B5EF4-FFF2-40B4-BE49-F238E27FC236}">
                <a16:creationId xmlns:a16="http://schemas.microsoft.com/office/drawing/2014/main" id="{BA4D1F8C-81C6-4827-B49A-EC51D82E6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152650"/>
            <a:ext cx="20955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7"/>
            </a:solidFill>
            <a:prstDash val="solid"/>
          </a:ln>
        </p:spPr>
      </p:sp>
      <p:sp>
        <p:nvSpPr>
          <p:cNvPr id="35" name="expand-4-header">
            <a:extLst xmlns:a="http://schemas.openxmlformats.org/drawingml/2006/main">
              <a:ext uri="{FF2B5EF4-FFF2-40B4-BE49-F238E27FC236}">
                <a16:creationId xmlns:a16="http://schemas.microsoft.com/office/drawing/2014/main" id="{035038F1-59D5-406F-AC81-B132E763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152650"/>
            <a:ext cx="2095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6D7B"/>
          </a:solidFill>
          <a:ln xmlns:a="http://schemas.openxmlformats.org/drawingml/2006/main" w="0">
            <a:solidFill>
              <a:srgbClr val="7B6D7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AE9BCFE-10D7-4A51-BFBE-D73229217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223837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STEP 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2165DF6-3195-44D4-AD51-31B5F4424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2667000"/>
            <a:ext cx="1866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25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0252D"/>
                </a:solidFill>
                <a:latin typeface="Arial"/>
                <a:ea typeface="Arial"/>
                <a:cs typeface="Arial"/>
              </a:rPr>
              <a:t>Sovereign化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14C6161-998D-43A8-AB85-FFC413E0E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300037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C758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C7580"/>
                </a:solidFill>
                <a:latin typeface="Arial"/>
                <a:ea typeface="Arial"/>
                <a:cs typeface="Arial"/>
              </a:rPr>
              <a:t>規制・全社展開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03D1C95-8722-4BFC-8087-CC1F72BCD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3276600"/>
            <a:ext cx="1866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7"/>
          </a:solidFill>
          <a:ln xmlns:a="http://schemas.openxmlformats.org/drawingml/2006/main" w="0">
            <a:solidFill>
              <a:srgbClr val="D7D0C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D99976A-4DEB-439C-984C-9F907D4BA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3409950"/>
            <a:ext cx="1866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B6D7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B6D7B"/>
                </a:solidFill>
                <a:latin typeface="Arial"/>
                <a:ea typeface="Arial"/>
                <a:cs typeface="Arial"/>
              </a:rPr>
              <a:t>オンプレ / 専用Compute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DF0B742-A3AD-4CC2-98CE-4B5837FAF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375285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A536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A5360"/>
                </a:solidFill>
                <a:latin typeface="Arial"/>
                <a:ea typeface="Arial"/>
                <a:cs typeface="Arial"/>
              </a:rPr>
              <a:t>年間環境料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87CD9A1-5E3F-4EE6-8CDE-F4D21FB66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124200"/>
            <a:ext cx="247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99A3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99A3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43" name="expand-5-box">
            <a:extLst xmlns:a="http://schemas.openxmlformats.org/drawingml/2006/main">
              <a:ext uri="{FF2B5EF4-FFF2-40B4-BE49-F238E27FC236}">
                <a16:creationId xmlns:a16="http://schemas.microsoft.com/office/drawing/2014/main" id="{E9682075-5EB0-49AC-8630-F5F4474E3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152650"/>
            <a:ext cx="20955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7"/>
            </a:solidFill>
            <a:prstDash val="solid"/>
          </a:ln>
        </p:spPr>
      </p:sp>
      <p:sp>
        <p:nvSpPr>
          <p:cNvPr id="44" name="expand-5-header">
            <a:extLst xmlns:a="http://schemas.openxmlformats.org/drawingml/2006/main">
              <a:ext uri="{FF2B5EF4-FFF2-40B4-BE49-F238E27FC236}">
                <a16:creationId xmlns:a16="http://schemas.microsoft.com/office/drawing/2014/main" id="{A4307180-9D52-4C0F-A2A5-CD59CA07E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152650"/>
            <a:ext cx="2095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32"/>
          </a:solidFill>
          <a:ln xmlns:a="http://schemas.openxmlformats.org/drawingml/2006/main" w="0">
            <a:solidFill>
              <a:srgbClr val="C99A32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DFAF8D4-7963-45A4-897F-2E96E1A1E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23837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STEP 5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4A523E2-D9C9-499D-9212-A2EC674EF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667000"/>
            <a:ext cx="1866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25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0252D"/>
                </a:solidFill>
                <a:latin typeface="Arial"/>
                <a:ea typeface="Arial"/>
                <a:cs typeface="Arial"/>
              </a:rPr>
              <a:t>Compute最適化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341ADF6-98B7-4FE3-975F-641F874A8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00037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C758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C7580"/>
                </a:solidFill>
                <a:latin typeface="Arial"/>
                <a:ea typeface="Arial"/>
                <a:cs typeface="Arial"/>
              </a:rPr>
              <a:t>実測後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83EF9DE-C3DD-4628-BAF1-FC8C6BBD9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276600"/>
            <a:ext cx="1866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7"/>
          </a:solidFill>
          <a:ln xmlns:a="http://schemas.openxmlformats.org/drawingml/2006/main" w="0">
            <a:solidFill>
              <a:srgbClr val="D7D0C7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556F967-E5FE-41BB-B0FE-10CAF2FBD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409950"/>
            <a:ext cx="1866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9A3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99A32"/>
                </a:solidFill>
                <a:latin typeface="Arial"/>
                <a:ea typeface="Arial"/>
                <a:cs typeface="Arial"/>
              </a:rPr>
              <a:t>Router / HW option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CFBBF2E-FB46-4523-B589-7770CBB80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75285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A536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A5360"/>
                </a:solidFill>
                <a:latin typeface="Arial"/>
                <a:ea typeface="Arial"/>
                <a:cs typeface="Arial"/>
              </a:rPr>
              <a:t>効率・共同開発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236A17F-ABD7-4CAE-8F4D-E0E7942F1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876800"/>
            <a:ext cx="11239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52D"/>
          </a:solidFill>
          <a:ln xmlns:a="http://schemas.openxmlformats.org/drawingml/2006/main" w="0">
            <a:solidFill>
              <a:srgbClr val="20252D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F2D4965-2D0A-4C4E-9356-B9B8E5048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48250"/>
            <a:ext cx="25241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6A2B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6A2B5"/>
                </a:solidFill>
                <a:latin typeface="Arial"/>
                <a:ea typeface="Arial"/>
                <a:cs typeface="Arial"/>
              </a:rPr>
              <a:t>顧客側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076FA28-D8E6-47D5-B628-F2BAA09AD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05425"/>
            <a:ext cx="2524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業務範囲が拡大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54294F1-6F70-4D22-914F-D260B0B5C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67375"/>
            <a:ext cx="2524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6A2B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86A2B5"/>
                </a:solidFill>
                <a:latin typeface="Arial"/>
                <a:ea typeface="Arial"/>
                <a:cs typeface="Arial"/>
              </a:rPr>
              <a:t>提案 → 実行 → 自動化Tier上昇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7FA6B87-62E3-4E34-ABBD-367ED48E8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048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6A2B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6A2B5"/>
                </a:solidFill>
                <a:latin typeface="Arial"/>
                <a:ea typeface="Arial"/>
                <a:cs typeface="Arial"/>
              </a:rPr>
              <a:t>収益側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D502FAA-119D-48D5-839F-B154F93EC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305425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継続課金が増加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C9169C4-300A-4A4D-979D-A6F6D7B45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667375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6A2B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86A2B5"/>
                </a:solidFill>
                <a:latin typeface="Arial"/>
                <a:ea typeface="Arial"/>
                <a:cs typeface="Arial"/>
              </a:rPr>
              <a:t>Platform → Pack → Sovereign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720A492-3C72-4A41-B3AC-D30ED6114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048250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6A2B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6A2B5"/>
                </a:solidFill>
                <a:latin typeface="Arial"/>
                <a:ea typeface="Arial"/>
                <a:cs typeface="Arial"/>
              </a:rPr>
              <a:t>資産側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79FC7CE-D246-4E14-8A59-88F60D7DD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305425"/>
            <a:ext cx="2571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テンプレートが進化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ABBE5E7-A77E-4F56-B90C-3B892456D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667375"/>
            <a:ext cx="2571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6A2B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86A2B5"/>
                </a:solidFill>
                <a:latin typeface="Arial"/>
                <a:ea typeface="Arial"/>
                <a:cs typeface="Arial"/>
              </a:rPr>
              <a:t>評価レシピ・Pack・ベンチマーク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94CC9BD-EC0D-43C7-999F-14E325066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0482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6A2B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6A2B5"/>
                </a:solidFill>
                <a:latin typeface="Arial"/>
                <a:ea typeface="Arial"/>
                <a:cs typeface="Arial"/>
              </a:rPr>
              <a:t>将来Option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A72C9C9-2402-4B93-A181-FAF725B89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305425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HW要件が具体化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66A5380-B8FA-42A0-AB3B-959D583D4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667375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6A2B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86A2B5"/>
                </a:solidFill>
                <a:latin typeface="Arial"/>
                <a:ea typeface="Arial"/>
                <a:cs typeface="Arial"/>
              </a:rPr>
              <a:t>ワークロード・電力・遅延の実測</a:t>
            </a:r>
          </a:p>
        </p:txBody>
      </p:sp>
    </p:spTree>
    <p:extLst>
      <p:ext uri="{BB962C8B-B14F-4D97-AF65-F5344CB8AC3E}">
        <p14:creationId xmlns:p14="http://schemas.microsoft.com/office/powerpoint/2010/main" val="139185139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rule">
            <a:extLst xmlns:a="http://schemas.openxmlformats.org/drawingml/2006/main">
              <a:ext uri="{FF2B5EF4-FFF2-40B4-BE49-F238E27FC236}">
                <a16:creationId xmlns:a16="http://schemas.microsoft.com/office/drawing/2014/main" id="{6C880466-F782-4F31-87BB-2F8E510BA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0955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252D"/>
          </a:solidFill>
          <a:ln xmlns:a="http://schemas.openxmlformats.org/drawingml/2006/main" w="0">
            <a:solidFill>
              <a:srgbClr val="C9252D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1C194CD-0C6B-4C33-8506-1EA76382A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04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52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0252D"/>
                </a:solidFill>
                <a:latin typeface="Arial"/>
                <a:ea typeface="Arial"/>
                <a:cs typeface="Arial"/>
              </a:rPr>
              <a:t>データ主権とKairosAIの蓄積は、二層資産モデルで両立する</a:t>
            </a:r>
          </a:p>
        </p:txBody>
      </p:sp>
      <p:sp>
        <p:nvSpPr>
          <p:cNvPr id="3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6EE9F5E6-70A2-4E10-A7EE-2F373DADF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42975"/>
            <a:ext cx="1158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52D"/>
          </a:solidFill>
          <a:ln xmlns:a="http://schemas.openxmlformats.org/drawingml/2006/main" w="0">
            <a:solidFill>
              <a:srgbClr val="20252D"/>
            </a:solidFill>
            <a:prstDash val="solid"/>
          </a:ln>
        </p:spPr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1EF5FFB-52FA-4C07-A6DB-5E4A90C33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62050"/>
            <a:ext cx="1133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A536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A5360"/>
                </a:solidFill>
                <a:latin typeface="Arial"/>
                <a:ea typeface="Arial"/>
                <a:cs typeface="Arial"/>
              </a:rPr>
              <a:t>約束はシンプル: データは顧客のもの。データの形と改善レシピはKairosAIのもの。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56B362-692D-48EC-8036-57C11DBB6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486525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0252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0252D"/>
                </a:solidFill>
                <a:latin typeface="Arial"/>
                <a:ea typeface="Arial"/>
                <a:cs typeface="Arial"/>
              </a:rPr>
              <a:t>Confidential: Internal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5C01D7-65B4-475F-98EB-ACACC422E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486525"/>
            <a:ext cx="228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20252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20252D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C715FB-3B86-40CA-8DB7-4B2277A2F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14550"/>
            <a:ext cx="521970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0EF6F3-9F7B-4FC5-8E97-B60704D34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14550"/>
            <a:ext cx="5219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80"/>
          </a:solidFill>
          <a:ln xmlns:a="http://schemas.openxmlformats.org/drawingml/2006/main" w="0">
            <a:solidFill>
              <a:srgbClr val="315F8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FE828C-F6A9-4B1A-96DF-08AB48B9D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457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Layer 1  |  顧客資産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CE43B1-268A-4A8D-AA95-FFF0ED8EB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33700"/>
            <a:ext cx="66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80"/>
          </a:solidFill>
          <a:ln xmlns:a="http://schemas.openxmlformats.org/drawingml/2006/main" w="0">
            <a:solidFill>
              <a:srgbClr val="315F8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A5D703-AB1B-4464-8EC8-AC848EE83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52750"/>
            <a:ext cx="4114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252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0252D"/>
                </a:solidFill>
                <a:latin typeface="Arial"/>
                <a:ea typeface="Arial"/>
                <a:cs typeface="Arial"/>
              </a:rPr>
              <a:t>永久に管理境界外へ出ない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C057C7-0276-4F62-B4A3-86D3BEB33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48050"/>
            <a:ext cx="409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A536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A5360"/>
                </a:solidFill>
                <a:latin typeface="Arial"/>
                <a:ea typeface="Arial"/>
                <a:cs typeface="Arial"/>
              </a:rPr>
              <a:t>・ 生データ / Canonical Event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E64D76-1EE1-4AE9-879D-613172F06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48100"/>
            <a:ext cx="409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A536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A5360"/>
                </a:solidFill>
                <a:latin typeface="Arial"/>
                <a:ea typeface="Arial"/>
                <a:cs typeface="Arial"/>
              </a:rPr>
              <a:t>・ Committed Graph / 業務outcome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F67678-8D02-4E1F-BB35-F75CBB8EA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48150"/>
            <a:ext cx="409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A536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A5360"/>
                </a:solidFill>
                <a:latin typeface="Arial"/>
                <a:ea typeface="Arial"/>
                <a:cs typeface="Arial"/>
              </a:rPr>
              <a:t>・ 顧客固有LoRA / golden set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02FFDB-ECEE-4770-8DA2-ED80AF6F0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48200"/>
            <a:ext cx="409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A536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A5360"/>
                </a:solidFill>
                <a:latin typeface="Arial"/>
                <a:ea typeface="Arial"/>
                <a:cs typeface="Arial"/>
              </a:rPr>
              <a:t>・ 顧客固有の監査・実行履歴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B569B9-612D-4AE5-B612-DD2386478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14550"/>
            <a:ext cx="521970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B14D46-72C8-4A0E-BEF2-BEA4AEDC7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14550"/>
            <a:ext cx="5219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765"/>
          </a:solidFill>
          <a:ln xmlns:a="http://schemas.openxmlformats.org/drawingml/2006/main" w="0">
            <a:solidFill>
              <a:srgbClr val="60776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7D20E5-89CF-47C3-938D-2A04F2FC4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86000"/>
            <a:ext cx="457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Layer 2  |  KairosAI資産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D8A6F7-25C2-4B42-97E8-1BBC9249D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933700"/>
            <a:ext cx="66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765"/>
          </a:solidFill>
          <a:ln xmlns:a="http://schemas.openxmlformats.org/drawingml/2006/main" w="0">
            <a:solidFill>
              <a:srgbClr val="60776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FC201D-6866-4581-B2C1-1671A7784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952750"/>
            <a:ext cx="4114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252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0252D"/>
                </a:solidFill>
                <a:latin typeface="Arial"/>
                <a:ea typeface="Arial"/>
                <a:cs typeface="Arial"/>
              </a:rPr>
              <a:t>契約に基づき非機微情報を集約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815C62-CF8D-4B67-B621-3B421B040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448050"/>
            <a:ext cx="409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A536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A5360"/>
                </a:solidFill>
                <a:latin typeface="Arial"/>
                <a:ea typeface="Arial"/>
                <a:cs typeface="Arial"/>
              </a:rPr>
              <a:t>・ Harnessテンプレート / 評価レシピ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33DDD5-EC91-4447-8205-C18DCF4DC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848100"/>
            <a:ext cx="409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A536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A5360"/>
                </a:solidFill>
                <a:latin typeface="Arial"/>
                <a:ea typeface="Arial"/>
                <a:cs typeface="Arial"/>
              </a:rPr>
              <a:t>・ Packスキーマ / メトリクス定義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C310FA-DDB0-49F7-A7A8-4BCD72CA1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248150"/>
            <a:ext cx="409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A536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A5360"/>
                </a:solidFill>
                <a:latin typeface="Arial"/>
                <a:ea typeface="Arial"/>
                <a:cs typeface="Arial"/>
              </a:rPr>
              <a:t>・ 匿名化ワークロード特性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3D2C57-F81C-456D-944C-23F02126A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648200"/>
            <a:ext cx="409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A536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A5360"/>
                </a:solidFill>
                <a:latin typeface="Arial"/>
                <a:ea typeface="Arial"/>
                <a:cs typeface="Arial"/>
              </a:rPr>
              <a:t>・ 電力・遅延・コスト・演算プロファイル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6458DD-3824-41B3-A0AE-F8B6858B3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52425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99A3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99A3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30D8D9-BE40-49F0-B09C-8FF91C4AB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657850"/>
            <a:ext cx="8686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52D"/>
          </a:solidFill>
          <a:ln xmlns:a="http://schemas.openxmlformats.org/drawingml/2006/main" w="0">
            <a:solidFill>
              <a:srgbClr val="20252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44085B-C77B-4F8A-A2F1-E724C11B1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781675"/>
            <a:ext cx="828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信頼が導入を可能にし、導入がPackと将来HWの設計精度を上げる</a:t>
            </a:r>
          </a:p>
        </p:txBody>
      </p:sp>
    </p:spTree>
    <p:extLst>
      <p:ext uri="{BB962C8B-B14F-4D97-AF65-F5344CB8AC3E}">
        <p14:creationId xmlns:p14="http://schemas.microsoft.com/office/powerpoint/2010/main" val="16452857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rule">
            <a:extLst xmlns:a="http://schemas.openxmlformats.org/drawingml/2006/main">
              <a:ext uri="{FF2B5EF4-FFF2-40B4-BE49-F238E27FC236}">
                <a16:creationId xmlns:a16="http://schemas.microsoft.com/office/drawing/2014/main" id="{D4D70F14-35F5-40E1-AEB0-963C3599C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0955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252D"/>
          </a:solidFill>
          <a:ln xmlns:a="http://schemas.openxmlformats.org/drawingml/2006/main" w="0">
            <a:solidFill>
              <a:srgbClr val="C9252D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988E95B-426C-44D3-BCB8-A11285805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04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52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0252D"/>
                </a:solidFill>
                <a:latin typeface="Arial"/>
                <a:ea typeface="Arial"/>
                <a:cs typeface="Arial"/>
              </a:rPr>
              <a:t>Industry Packが、2本目以降の立ち上げコストを急減させる</a:t>
            </a:r>
          </a:p>
        </p:txBody>
      </p:sp>
      <p:sp>
        <p:nvSpPr>
          <p:cNvPr id="3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32D4D392-DBC0-4463-93F0-32192269A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42975"/>
            <a:ext cx="1158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52D"/>
          </a:solidFill>
          <a:ln xmlns:a="http://schemas.openxmlformats.org/drawingml/2006/main" w="0">
            <a:solidFill>
              <a:srgbClr val="20252D"/>
            </a:solidFill>
            <a:prstDash val="solid"/>
          </a:ln>
        </p:spPr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F569F23-7CF8-4345-903D-BC5EDF4A0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62050"/>
            <a:ext cx="1133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A536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A5360"/>
                </a:solidFill>
                <a:latin typeface="Arial"/>
                <a:ea typeface="Arial"/>
                <a:cs typeface="Arial"/>
              </a:rPr>
              <a:t>共通基盤を再利用し、業界差分だけを7要素のPackとして実装する。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EFFA48-2EB5-49AB-B926-849747799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486525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0252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0252D"/>
                </a:solidFill>
                <a:latin typeface="Arial"/>
                <a:ea typeface="Arial"/>
                <a:cs typeface="Arial"/>
              </a:rPr>
              <a:t>Confidential: Internal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7C3C3C-F9A4-4DDC-8F57-AF2FA8785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486525"/>
            <a:ext cx="228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20252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20252D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3958FA-4E6E-4FAD-84F5-59B5712A6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33600"/>
            <a:ext cx="5429250" cy="3467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14EFA5-2FA4-48BE-952D-3E4A3B5EC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812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52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52D"/>
                </a:solidFill>
                <a:latin typeface="Arial"/>
                <a:ea typeface="Arial"/>
                <a:cs typeface="Arial"/>
              </a:rPr>
              <a:t>Pack開発コスト指数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12B144-C11E-4DF8-BBF6-46D9AC0B8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2420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25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252D"/>
                </a:solidFill>
                <a:latin typeface="Arial"/>
                <a:ea typeface="Arial"/>
                <a:cs typeface="Arial"/>
              </a:rPr>
              <a:t>1本目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59AF5F-B986-424F-92CF-7302F59AC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048000"/>
            <a:ext cx="3238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6"/>
          </a:solidFill>
          <a:ln xmlns:a="http://schemas.openxmlformats.org/drawingml/2006/main" w="0">
            <a:solidFill>
              <a:srgbClr val="F3F5F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4A6936-2C63-477C-A2E5-07D574DE2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048000"/>
            <a:ext cx="3238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80"/>
          </a:solidFill>
          <a:ln xmlns:a="http://schemas.openxmlformats.org/drawingml/2006/main" w="0">
            <a:solidFill>
              <a:srgbClr val="315F8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5F8A66-CDC8-4A73-9704-62C48B0DD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114675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15F8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15F80"/>
                </a:solidFill>
                <a:latin typeface="Arial"/>
                <a:ea typeface="Arial"/>
                <a:cs typeface="Arial"/>
              </a:rPr>
              <a:t>100%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79E2C7-18E6-4561-B6F0-6901A9BB1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4861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A536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A5360"/>
                </a:solidFill>
                <a:latin typeface="Arial"/>
                <a:ea typeface="Arial"/>
                <a:cs typeface="Arial"/>
              </a:rPr>
              <a:t>Core + Packの型を確立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13BB0C-53D8-407F-B7D9-635627A2D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052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25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252D"/>
                </a:solidFill>
                <a:latin typeface="Arial"/>
                <a:ea typeface="Arial"/>
                <a:cs typeface="Arial"/>
              </a:rPr>
              <a:t>2本目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2D1FF3-B788-4AD3-ACEE-3BA654312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829050"/>
            <a:ext cx="3238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6"/>
          </a:solidFill>
          <a:ln xmlns:a="http://schemas.openxmlformats.org/drawingml/2006/main" w="0">
            <a:solidFill>
              <a:srgbClr val="F3F5F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8767B4-B3B5-49AC-86C6-50AD6D776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829050"/>
            <a:ext cx="1295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765"/>
          </a:solidFill>
          <a:ln xmlns:a="http://schemas.openxmlformats.org/drawingml/2006/main" w="0">
            <a:solidFill>
              <a:srgbClr val="60776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4FC139-FD3C-41DF-81AA-9AA4E37EE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895725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0776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07765"/>
                </a:solidFill>
                <a:latin typeface="Arial"/>
                <a:ea typeface="Arial"/>
                <a:cs typeface="Arial"/>
              </a:rPr>
              <a:t>40%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D061CD-A87D-42B1-B161-3788CA92A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2672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A536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A5360"/>
                </a:solidFill>
                <a:latin typeface="Arial"/>
                <a:ea typeface="Arial"/>
                <a:cs typeface="Arial"/>
              </a:rPr>
              <a:t>Coreを流用し、差分に集中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D55819-3D20-4D1F-BEC3-52CF89F59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8630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25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252D"/>
                </a:solidFill>
                <a:latin typeface="Arial"/>
                <a:ea typeface="Arial"/>
                <a:cs typeface="Arial"/>
              </a:rPr>
              <a:t>3本目以降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1D3DC9-F2E6-4DF4-B6FC-19378BB10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610100"/>
            <a:ext cx="3238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6"/>
          </a:solidFill>
          <a:ln xmlns:a="http://schemas.openxmlformats.org/drawingml/2006/main" w="0">
            <a:solidFill>
              <a:srgbClr val="F3F5F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128B66-8CEE-428D-8E2A-7292AD06E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610100"/>
            <a:ext cx="74485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32"/>
          </a:solidFill>
          <a:ln xmlns:a="http://schemas.openxmlformats.org/drawingml/2006/main" w="0">
            <a:solidFill>
              <a:srgbClr val="C99A3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B4270D-EF37-4383-9867-72DC448C9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676775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C99A3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99A32"/>
                </a:solidFill>
                <a:latin typeface="Arial"/>
                <a:ea typeface="Arial"/>
                <a:cs typeface="Arial"/>
              </a:rPr>
              <a:t>20-25%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E49618-CE82-4B56-BA4A-0CEE7D310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0482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A536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A5360"/>
                </a:solidFill>
                <a:latin typeface="Arial"/>
                <a:ea typeface="Arial"/>
                <a:cs typeface="Arial"/>
              </a:rPr>
              <a:t>テンプレート蓄積で加速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E7E553-9898-43EA-B5AC-AB4AACF1B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33600"/>
            <a:ext cx="5105400" cy="3467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6"/>
          </a:solidFill>
          <a:ln xmlns:a="http://schemas.openxmlformats.org/drawingml/2006/main" w="9525">
            <a:solidFill>
              <a:srgbClr val="D7D0C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35EBAF-A940-44F2-8456-2995CDECC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8125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52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52D"/>
                </a:solidFill>
                <a:latin typeface="Arial"/>
                <a:ea typeface="Arial"/>
                <a:cs typeface="Arial"/>
              </a:rPr>
              <a:t>共通Coreが引き受けるもの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765E49-32E8-4DBA-B9D2-9F3419DFF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52750"/>
            <a:ext cx="2038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C68DF7-A622-4E35-92A9-6B1AECD79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0289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A536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A5360"/>
                </a:solidFill>
                <a:latin typeface="Arial"/>
                <a:ea typeface="Arial"/>
                <a:cs typeface="Arial"/>
              </a:rPr>
              <a:t>Ingestion / Canonical Event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FFD9C4-E44F-4EDF-BBDE-C27A5D219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00425"/>
            <a:ext cx="2038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80E81E-7B60-4495-B614-299346D80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476625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A536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A5360"/>
                </a:solidFill>
                <a:latin typeface="Arial"/>
                <a:ea typeface="Arial"/>
                <a:cs typeface="Arial"/>
              </a:rPr>
              <a:t>Staging Graph / Validation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AA49B2-EE20-450C-A52D-9853BE6FD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48100"/>
            <a:ext cx="2038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0557C50-5AEC-452D-9A67-EE6DA085B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9243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A536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A5360"/>
                </a:solidFill>
                <a:latin typeface="Arial"/>
                <a:ea typeface="Arial"/>
                <a:cs typeface="Arial"/>
              </a:rPr>
              <a:t>Policy / Workflow / Review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9CBCDC0-0671-459A-BC5D-ECCD5D8AC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95775"/>
            <a:ext cx="2038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8E60952-3C9D-4A4E-BDD6-D60B7D930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371975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A536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A5360"/>
                </a:solidFill>
                <a:latin typeface="Arial"/>
                <a:ea typeface="Arial"/>
                <a:cs typeface="Arial"/>
              </a:rPr>
              <a:t>Eval Harness / Inference / Training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83F1603-778C-478B-897E-9C6CF8CD6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43450"/>
            <a:ext cx="2038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6E6E7C0-C3E6-464E-8645-795E55670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8196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A536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A5360"/>
                </a:solidFill>
                <a:latin typeface="Arial"/>
                <a:ea typeface="Arial"/>
                <a:cs typeface="Arial"/>
              </a:rPr>
              <a:t>Private AI Factory / Audit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7E88C35-15B4-44ED-A005-C338BC426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762375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99A3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99A3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EF1199C-DCE1-4623-A086-6AD63A21F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952750"/>
            <a:ext cx="184785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C905325-5E18-4EC6-98B0-7828CE7E2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952750"/>
            <a:ext cx="1847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765"/>
          </a:solidFill>
          <a:ln xmlns:a="http://schemas.openxmlformats.org/drawingml/2006/main" w="0">
            <a:solidFill>
              <a:srgbClr val="60776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A09DBFF-6836-462E-8AE8-33296832E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670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業界差分 = Pack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35C8C91-B95B-4B93-8265-5BFDA0B3E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5242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A536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A5360"/>
                </a:solidFill>
                <a:latin typeface="Arial"/>
                <a:ea typeface="Arial"/>
                <a:cs typeface="Arial"/>
              </a:rPr>
              <a:t>・ Graph schema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5D96B59-E245-4765-8034-41D58AD24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8100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A536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A5360"/>
                </a:solidFill>
                <a:latin typeface="Arial"/>
                <a:ea typeface="Arial"/>
                <a:cs typeface="Arial"/>
              </a:rPr>
              <a:t>・ Workflow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F8A01A7-0284-4297-A10F-27E1A2CD0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0957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A536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A5360"/>
                </a:solidFill>
                <a:latin typeface="Arial"/>
                <a:ea typeface="Arial"/>
                <a:cs typeface="Arial"/>
              </a:rPr>
              <a:t>・ Tool registry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3DB8879-52D5-4BF9-9401-300E70A63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3815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A536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A5360"/>
                </a:solidFill>
                <a:latin typeface="Arial"/>
                <a:ea typeface="Arial"/>
                <a:cs typeface="Arial"/>
              </a:rPr>
              <a:t>・ Evaluation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64AC311-E5A0-4F0C-A635-81ACA31DD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6672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A536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A5360"/>
                </a:solidFill>
                <a:latin typeface="Arial"/>
                <a:ea typeface="Arial"/>
                <a:cs typeface="Arial"/>
              </a:rPr>
              <a:t>・ Approval / Tier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3C960ED-44C3-424C-BADB-3E3D0CC8F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810250"/>
            <a:ext cx="7391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52D"/>
          </a:solidFill>
          <a:ln xmlns:a="http://schemas.openxmlformats.org/drawingml/2006/main" w="0">
            <a:solidFill>
              <a:srgbClr val="20252D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123FDD9-E533-4771-AE0A-F50793118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876925"/>
            <a:ext cx="704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SIの案件売上を、再利用可能なPlatform資産へ転換する</a:t>
            </a:r>
          </a:p>
        </p:txBody>
      </p:sp>
    </p:spTree>
    <p:extLst>
      <p:ext uri="{BB962C8B-B14F-4D97-AF65-F5344CB8AC3E}">
        <p14:creationId xmlns:p14="http://schemas.microsoft.com/office/powerpoint/2010/main" val="38731893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rule">
            <a:extLst xmlns:a="http://schemas.openxmlformats.org/drawingml/2006/main">
              <a:ext uri="{FF2B5EF4-FFF2-40B4-BE49-F238E27FC236}">
                <a16:creationId xmlns:a16="http://schemas.microsoft.com/office/drawing/2014/main" id="{FBD9DD19-3FF5-4510-8177-37CCA3591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0955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252D"/>
          </a:solidFill>
          <a:ln xmlns:a="http://schemas.openxmlformats.org/drawingml/2006/main" w="0">
            <a:solidFill>
              <a:srgbClr val="C9252D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19CCED9-E391-4C5C-82EA-2A4CEED9E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04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52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0252D"/>
                </a:solidFill>
                <a:latin typeface="Arial"/>
                <a:ea typeface="Arial"/>
                <a:cs typeface="Arial"/>
              </a:rPr>
              <a:t>初期GTMは「閉域データ × 測れるoutcome × 反復業務」に集中</a:t>
            </a:r>
          </a:p>
        </p:txBody>
      </p:sp>
      <p:sp>
        <p:nvSpPr>
          <p:cNvPr id="3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3294B219-A449-4311-9C04-6830AD753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42975"/>
            <a:ext cx="1158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52D"/>
          </a:solidFill>
          <a:ln xmlns:a="http://schemas.openxmlformats.org/drawingml/2006/main" w="0">
            <a:solidFill>
              <a:srgbClr val="20252D"/>
            </a:solidFill>
            <a:prstDash val="solid"/>
          </a:ln>
        </p:spPr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41C5086-5371-4EDD-BA11-B356F2C5A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62050"/>
            <a:ext cx="1133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A536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A5360"/>
                </a:solidFill>
                <a:latin typeface="Arial"/>
                <a:ea typeface="Arial"/>
                <a:cs typeface="Arial"/>
              </a:rPr>
              <a:t>金融・製造・医療を最優先に、8-12週で成果を測れるWedgeから入る。ROI数値は仮説であり、Pilotで検証する。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56D571-DAF5-4020-8E44-29F5CDBCB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486525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0252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0252D"/>
                </a:solidFill>
                <a:latin typeface="Arial"/>
                <a:ea typeface="Arial"/>
                <a:cs typeface="Arial"/>
              </a:rPr>
              <a:t>Confidential: Internal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67B6A9-D71C-4ED0-8426-566FAAAE1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486525"/>
            <a:ext cx="228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20252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20252D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DCF7BA-4A60-4007-9800-604532CCE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7170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52D"/>
          </a:solidFill>
          <a:ln xmlns:a="http://schemas.openxmlformats.org/drawingml/2006/main" w="0">
            <a:solidFill>
              <a:srgbClr val="20252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353F60-AE64-4BFE-B543-BA6C7F4F0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0"/>
            <a:ext cx="2152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業界 / Wedge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CDE53D-28E9-45B0-84FF-198CBBFBE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71700"/>
            <a:ext cx="3086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52D"/>
          </a:solidFill>
          <a:ln xmlns:a="http://schemas.openxmlformats.org/drawingml/2006/main" w="0">
            <a:solidFill>
              <a:srgbClr val="20252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D8174B-B1F9-4480-8F79-1E234BC2E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286000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構造的な痛み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824A8C-AEE0-4E65-AF7A-2CAC0D55E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71700"/>
            <a:ext cx="2514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52D"/>
          </a:solidFill>
          <a:ln xmlns:a="http://schemas.openxmlformats.org/drawingml/2006/main" w="0">
            <a:solidFill>
              <a:srgbClr val="20252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860CCA-0E83-44BD-A4A6-FF2FB0A61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86000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測るoutcome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2CC0CF-20FD-4C68-9E5B-EA3FC256C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71700"/>
            <a:ext cx="2533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52D"/>
          </a:solidFill>
          <a:ln xmlns:a="http://schemas.openxmlformats.org/drawingml/2006/main" w="0">
            <a:solidFill>
              <a:srgbClr val="20252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DE733E-28D0-427E-9FB1-07325277E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286000"/>
            <a:ext cx="2305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拡張先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2C932A-DE63-442F-8054-BCBF8E742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590800"/>
            <a:ext cx="2381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2C30A3-CAD8-4226-AE12-BF0A317EF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590800"/>
            <a:ext cx="30861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C13222-36D0-4EF2-98BB-7941343DD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90800"/>
            <a:ext cx="25146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A9E41F-388A-4250-A225-70BE71D89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90800"/>
            <a:ext cx="25336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2D8B18-3FDE-4B2E-B1AD-EDCAB98F5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590800"/>
            <a:ext cx="762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80"/>
          </a:solidFill>
          <a:ln xmlns:a="http://schemas.openxmlformats.org/drawingml/2006/main" w="0">
            <a:solidFill>
              <a:srgbClr val="315F8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4BD34F-62EC-4A8D-99A5-437DCE9FE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28925"/>
            <a:ext cx="2038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25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0252D"/>
                </a:solidFill>
                <a:latin typeface="Arial"/>
                <a:ea typeface="Arial"/>
                <a:cs typeface="Arial"/>
              </a:rPr>
              <a:t>金融 | AML調査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0983A7-AD50-4244-ADBD-85BA4B6AE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809875"/>
            <a:ext cx="2781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A536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A5360"/>
                </a:solidFill>
                <a:latin typeface="Arial"/>
                <a:ea typeface="Arial"/>
                <a:cs typeface="Arial"/>
              </a:rPr>
              <a:t>調査工数と監査証跡を両立できない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963C94-3859-43DC-92E7-6A8C32592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09875"/>
            <a:ext cx="2209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15F8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15F80"/>
                </a:solidFill>
                <a:latin typeface="Arial"/>
                <a:ea typeface="Arial"/>
                <a:cs typeface="Arial"/>
              </a:rPr>
              <a:t>調査工数 40h/月 → 8h/月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F40EA4-F9B1-416E-B3B0-352DA66ED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809875"/>
            <a:ext cx="2190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A536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A5360"/>
                </a:solidFill>
                <a:latin typeface="Arial"/>
                <a:ea typeface="Arial"/>
                <a:cs typeface="Arial"/>
              </a:rPr>
              <a:t>規制レポート / リスク審査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FA0A4A-94E4-4923-A756-83B05BFF9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524250"/>
            <a:ext cx="2381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628AE7-D149-4722-87B3-02682083F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524250"/>
            <a:ext cx="30861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FD5C95-BF72-401B-826F-C0E795843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24250"/>
            <a:ext cx="25146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73642C-D096-4048-B783-BF9AE0DE1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24250"/>
            <a:ext cx="25336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1066A7-A536-43EB-89B6-D2D24EF4B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524250"/>
            <a:ext cx="762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765"/>
          </a:solidFill>
          <a:ln xmlns:a="http://schemas.openxmlformats.org/drawingml/2006/main" w="0">
            <a:solidFill>
              <a:srgbClr val="60776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0BBFA86-D3C4-44C6-90FE-206506EC6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2038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25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0252D"/>
                </a:solidFill>
                <a:latin typeface="Arial"/>
                <a:ea typeface="Arial"/>
                <a:cs typeface="Arial"/>
              </a:rPr>
              <a:t>製造 | 異常検知→点検起票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C50BF13-1AA3-4872-8456-C0C6256CE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743325"/>
            <a:ext cx="2781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A536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A5360"/>
                </a:solidFill>
                <a:latin typeface="Arial"/>
                <a:ea typeface="Arial"/>
                <a:cs typeface="Arial"/>
              </a:rPr>
              <a:t>検知から是正までが分断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7A6580D-F967-460D-99EA-F4E38B430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743325"/>
            <a:ext cx="2209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0776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07765"/>
                </a:solidFill>
                <a:latin typeface="Arial"/>
                <a:ea typeface="Arial"/>
                <a:cs typeface="Arial"/>
              </a:rPr>
              <a:t>検査工数60%減 / 停止30%減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CBB6664-8370-4667-AA4F-8E32B7F98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743325"/>
            <a:ext cx="2190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A536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A5360"/>
                </a:solidFill>
                <a:latin typeface="Arial"/>
                <a:ea typeface="Arial"/>
                <a:cs typeface="Arial"/>
              </a:rPr>
              <a:t>保全 / 調達 / 品質保証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F130DB1-543F-4D7B-91A7-BA31D0C10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57700"/>
            <a:ext cx="2381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5D9A9E8-FCF9-40F2-8733-2D44D4EE8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457700"/>
            <a:ext cx="30861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3A1E84F-404A-4B0D-824B-84B7B5747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57700"/>
            <a:ext cx="25146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FCD57C8-F5E5-4FF6-BCE4-0EF4D5634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57700"/>
            <a:ext cx="25336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7CF50C3-31A9-4668-A420-EC2C3BBCC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57700"/>
            <a:ext cx="762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6D7B"/>
          </a:solidFill>
          <a:ln xmlns:a="http://schemas.openxmlformats.org/drawingml/2006/main" w="0">
            <a:solidFill>
              <a:srgbClr val="7B6D7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2A447F5-FE98-4F4B-97FD-B34FA4780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2038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25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0252D"/>
                </a:solidFill>
                <a:latin typeface="Arial"/>
                <a:ea typeface="Arial"/>
                <a:cs typeface="Arial"/>
              </a:rPr>
              <a:t>医療 | 診療記録支援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76B19EA-C723-4726-A376-829842AE0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676775"/>
            <a:ext cx="2781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A536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A5360"/>
                </a:solidFill>
                <a:latin typeface="Arial"/>
                <a:ea typeface="Arial"/>
                <a:cs typeface="Arial"/>
              </a:rPr>
              <a:t>記録負荷と院外持出し禁止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D30C092-9A5B-44EA-A1E2-67B63DCB5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76775"/>
            <a:ext cx="2209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B6D7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B6D7B"/>
                </a:solidFill>
                <a:latin typeface="Arial"/>
                <a:ea typeface="Arial"/>
                <a:cs typeface="Arial"/>
              </a:rPr>
              <a:t>記録作成時間50%減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0CB4C5D-B66E-4C1C-9857-63DB714B4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676775"/>
            <a:ext cx="2190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A536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A5360"/>
                </a:solidFill>
                <a:latin typeface="Arial"/>
                <a:ea typeface="Arial"/>
                <a:cs typeface="Arial"/>
              </a:rPr>
              <a:t>文書 / 事務 / 監査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65D311E-4469-416A-9A3D-DB8ADD6DF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81650"/>
            <a:ext cx="10972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6E9"/>
          </a:solidFill>
          <a:ln xmlns:a="http://schemas.openxmlformats.org/drawingml/2006/main" w="9525">
            <a:solidFill>
              <a:srgbClr val="C99A3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6CD0E23-8941-4A71-9004-A806ECD43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43575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0252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0252D"/>
                </a:solidFill>
                <a:latin typeface="Arial"/>
                <a:ea typeface="Arial"/>
                <a:cs typeface="Arial"/>
              </a:rPr>
              <a:t>共通の販売メッセージ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29807CA-7FE7-45A2-8217-EC1770DA9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715000"/>
            <a:ext cx="8477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252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0252D"/>
                </a:solidFill>
                <a:latin typeface="Arial"/>
                <a:ea typeface="Arial"/>
                <a:cs typeface="Arial"/>
              </a:rPr>
              <a:t>「データをAIに預ける」のではなく、「AIを顧客の管理境界内に持ち込む」</a:t>
            </a:r>
          </a:p>
        </p:txBody>
      </p:sp>
    </p:spTree>
    <p:extLst>
      <p:ext uri="{BB962C8B-B14F-4D97-AF65-F5344CB8AC3E}">
        <p14:creationId xmlns:p14="http://schemas.microsoft.com/office/powerpoint/2010/main" val="119641694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rule">
            <a:extLst xmlns:a="http://schemas.openxmlformats.org/drawingml/2006/main">
              <a:ext uri="{FF2B5EF4-FFF2-40B4-BE49-F238E27FC236}">
                <a16:creationId xmlns:a16="http://schemas.microsoft.com/office/drawing/2014/main" id="{FAB1A7A7-5B36-4C4D-BF07-C4B5C31A4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0955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252D"/>
          </a:solidFill>
          <a:ln xmlns:a="http://schemas.openxmlformats.org/drawingml/2006/main" w="0">
            <a:solidFill>
              <a:srgbClr val="C9252D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8D10719-5CEA-49AD-A18A-21CC39BD9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04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52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0252D"/>
                </a:solidFill>
                <a:latin typeface="Arial"/>
                <a:ea typeface="Arial"/>
                <a:cs typeface="Arial"/>
              </a:rPr>
              <a:t>HWは、テレメトリが正当化したときだけ行使するOption</a:t>
            </a:r>
          </a:p>
        </p:txBody>
      </p:sp>
      <p:sp>
        <p:nvSpPr>
          <p:cNvPr id="3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7B2B218C-D4A9-4C36-B805-B46893004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42975"/>
            <a:ext cx="1158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52D"/>
          </a:solidFill>
          <a:ln xmlns:a="http://schemas.openxmlformats.org/drawingml/2006/main" w="0">
            <a:solidFill>
              <a:srgbClr val="20252D"/>
            </a:solidFill>
            <a:prstDash val="solid"/>
          </a:ln>
        </p:spPr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9C251E4-30AB-4D2C-B54E-D582044D1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62050"/>
            <a:ext cx="1133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A536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A5360"/>
                </a:solidFill>
                <a:latin typeface="Arial"/>
                <a:ea typeface="Arial"/>
                <a:cs typeface="Arial"/>
              </a:rPr>
              <a:t>資本集約的な賭けから始めない。Phase 1-2で需要とワークロードを証明し、Phase 2末にgo / no-goを判定する。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13742A-6277-4265-BC1B-BD8FFD20B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486525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0252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0252D"/>
                </a:solidFill>
                <a:latin typeface="Arial"/>
                <a:ea typeface="Arial"/>
                <a:cs typeface="Arial"/>
              </a:rPr>
              <a:t>Confidential: Internal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F73876-8613-4DA3-99BC-14CF33760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486525"/>
            <a:ext cx="228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20252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20252D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4FD86A-9492-4566-9164-6410D073A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33600"/>
            <a:ext cx="34671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549A71-042C-4018-B407-C10604B29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33600"/>
            <a:ext cx="3467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80"/>
          </a:solidFill>
          <a:ln xmlns:a="http://schemas.openxmlformats.org/drawingml/2006/main" w="0">
            <a:solidFill>
              <a:srgbClr val="315F8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3AE629-B8F1-447B-9908-11B65A0EE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4790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Phase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41EE7F-7CBA-44F5-A553-A60CDAB89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266950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2026-2028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5A977C-DF0D-4FA3-8BE4-0870C978B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19400"/>
            <a:ext cx="3124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252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0252D"/>
                </a:solidFill>
                <a:latin typeface="Arial"/>
                <a:ea typeface="Arial"/>
                <a:cs typeface="Arial"/>
              </a:rPr>
              <a:t>Agentic AI + Sovereign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06C9AF-0347-47FE-8C6B-2875E3FCA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00400"/>
            <a:ext cx="312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7"/>
          </a:solidFill>
          <a:ln xmlns:a="http://schemas.openxmlformats.org/drawingml/2006/main" w="0">
            <a:solidFill>
              <a:srgbClr val="D7D0C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85FC1F-2BF6-4E57-A1EB-3A79C3E76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71850"/>
            <a:ext cx="3124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A536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A5360"/>
                </a:solidFill>
                <a:latin typeface="Arial"/>
                <a:ea typeface="Arial"/>
                <a:cs typeface="Arial"/>
              </a:rPr>
              <a:t>①②を販売し、業務outcomeと実行テレメトリを蓄積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E0A157-1339-4B29-A3CA-F9258C4F7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133600"/>
            <a:ext cx="34671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2F8291-E0B9-4751-ABA4-759CE347A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133600"/>
            <a:ext cx="3467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765"/>
          </a:solidFill>
          <a:ln xmlns:a="http://schemas.openxmlformats.org/drawingml/2006/main" w="0">
            <a:solidFill>
              <a:srgbClr val="60776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FCEFBE-A598-4756-AD20-84DBA8CEF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24790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Phase 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DEEE81-781F-4E2B-A3F5-30E6A566B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66950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2027-2030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BCF78F-0A63-49E2-BD79-E24759E65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819400"/>
            <a:ext cx="3124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252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0252D"/>
                </a:solidFill>
                <a:latin typeface="Arial"/>
                <a:ea typeface="Arial"/>
                <a:cs typeface="Arial"/>
              </a:rPr>
              <a:t>Router + 代替Compute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B3C79D-5ADF-4BA9-9576-26F52090B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200400"/>
            <a:ext cx="312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7"/>
          </a:solidFill>
          <a:ln xmlns:a="http://schemas.openxmlformats.org/drawingml/2006/main" w="0">
            <a:solidFill>
              <a:srgbClr val="D7D0C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B95497-BB05-4217-B26D-D011F4A10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371850"/>
            <a:ext cx="3124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A536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A5360"/>
                </a:solidFill>
                <a:latin typeface="Arial"/>
                <a:ea typeface="Arial"/>
                <a:cs typeface="Arial"/>
              </a:rPr>
              <a:t>代替アクセラレータ / FPGA / カスタムカーネルを検証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86E09B-98E2-4C21-BD31-DCB3B2126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33600"/>
            <a:ext cx="34671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AEA747-430D-4E6E-ABF7-60F78E2C2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33600"/>
            <a:ext cx="3467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6D7B"/>
          </a:solidFill>
          <a:ln xmlns:a="http://schemas.openxmlformats.org/drawingml/2006/main" w="0">
            <a:solidFill>
              <a:srgbClr val="7B6D7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ECAACD-8F54-408B-B8C2-A16BFCECD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24790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Phase 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634D15-0B5F-4D79-942A-45DEEC893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266950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2030-2035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47F26C-77A9-4B2A-8B96-ADDE81564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19400"/>
            <a:ext cx="3124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252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0252D"/>
                </a:solidFill>
                <a:latin typeface="Arial"/>
                <a:ea typeface="Arial"/>
                <a:cs typeface="Arial"/>
              </a:rPr>
              <a:t>VP + MXU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D003B1-A2BE-44CC-816C-AA143D019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200400"/>
            <a:ext cx="312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7"/>
          </a:solidFill>
          <a:ln xmlns:a="http://schemas.openxmlformats.org/drawingml/2006/main" w="0">
            <a:solidFill>
              <a:srgbClr val="D7D0C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4C8BE9-AA9D-4C5E-A897-DA0FDB589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371850"/>
            <a:ext cx="3124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A536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A5360"/>
                </a:solidFill>
                <a:latin typeface="Arial"/>
                <a:ea typeface="Arial"/>
                <a:cs typeface="Arial"/>
              </a:rPr>
              <a:t>3条件を満たした場合のみ専用HWを本格化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6C30B5-0C83-4FCB-A664-DB0DFF70C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5770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52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0252D"/>
                </a:solidFill>
                <a:latin typeface="Arial"/>
                <a:ea typeface="Arial"/>
                <a:cs typeface="Arial"/>
              </a:rPr>
              <a:t>Phase 2末のgo条件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41F3D9-F40B-4643-B2FF-D90876269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00600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32"/>
          </a:solidFill>
          <a:ln xmlns:a="http://schemas.openxmlformats.org/drawingml/2006/main" w="0">
            <a:solidFill>
              <a:srgbClr val="C99A3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1E8E1D-B66A-44BD-A8A5-428C52E72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48250"/>
            <a:ext cx="514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52D"/>
          </a:solidFill>
          <a:ln xmlns:a="http://schemas.openxmlformats.org/drawingml/2006/main" w="0">
            <a:solidFill>
              <a:srgbClr val="20252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B16643-FCE9-4067-BF54-A10A1586F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24450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C99A3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99A3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7E6DD12-3FB4-4A72-AACA-9B5D628B7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48250"/>
            <a:ext cx="1047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4901355-2FD3-4EBD-A242-CF2878CD4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24450"/>
            <a:ext cx="10172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0252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0252D"/>
                </a:solidFill>
                <a:latin typeface="Arial"/>
                <a:ea typeface="Arial"/>
                <a:cs typeface="Arial"/>
              </a:rPr>
              <a:t>対象演算がTCO・電力の支配要因と実証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30A2920-5449-4EA8-8D4A-53DD71C6F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67350"/>
            <a:ext cx="514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52D"/>
          </a:solidFill>
          <a:ln xmlns:a="http://schemas.openxmlformats.org/drawingml/2006/main" w="0">
            <a:solidFill>
              <a:srgbClr val="20252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325BFBF-5CB7-4C98-96A6-01E45C593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43550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C99A3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99A3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3B6872C-2DCC-4C41-BB8F-37A47066E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67350"/>
            <a:ext cx="1047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FA68635-89DF-4ADB-B223-4688A380C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43550"/>
            <a:ext cx="10172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0252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0252D"/>
                </a:solidFill>
                <a:latin typeface="Arial"/>
                <a:ea typeface="Arial"/>
                <a:cs typeface="Arial"/>
              </a:rPr>
              <a:t>電力・冷却制約で拡張を断念した顧客事例が複数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A4BBD7A-53F4-49BE-A3D4-B7BB1F428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514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52D"/>
          </a:solidFill>
          <a:ln xmlns:a="http://schemas.openxmlformats.org/drawingml/2006/main" w="0">
            <a:solidFill>
              <a:srgbClr val="20252D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C8961D4-BBDA-4AB9-A719-922219E27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C99A3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99A3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F566363-824B-4626-9ACB-C7E0D27CF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86450"/>
            <a:ext cx="1047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C0EBD42-9108-48E9-A30F-EFC7EF9C4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962650"/>
            <a:ext cx="10172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0252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0252D"/>
                </a:solidFill>
                <a:latin typeface="Arial"/>
                <a:ea typeface="Arial"/>
                <a:cs typeface="Arial"/>
              </a:rPr>
              <a:t>国内パートナーと公的資金を確保</a:t>
            </a:r>
          </a:p>
        </p:txBody>
      </p:sp>
    </p:spTree>
    <p:extLst>
      <p:ext uri="{BB962C8B-B14F-4D97-AF65-F5344CB8AC3E}">
        <p14:creationId xmlns:p14="http://schemas.microsoft.com/office/powerpoint/2010/main" val="17397547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0E37E2B-B443-41D2-A0E8-0A31B2B4B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D6ABD3-D698-479C-BED0-B5AB7C425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0955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252D"/>
          </a:solidFill>
          <a:ln xmlns:a="http://schemas.openxmlformats.org/drawingml/2006/main" w="0">
            <a:solidFill>
              <a:srgbClr val="C9252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BC53F9-4096-4982-8E4C-0150EA694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04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52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0252D"/>
                </a:solidFill>
                <a:latin typeface="Arial"/>
                <a:ea typeface="Arial"/>
                <a:cs typeface="Arial"/>
              </a:rPr>
              <a:t>アプリケーションから始め、主権AI・HW基盤へ遡る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CDB60C-5833-4A6C-B08A-C5A15D238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42975"/>
            <a:ext cx="1158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52D"/>
          </a:solidFill>
          <a:ln xmlns:a="http://schemas.openxmlformats.org/drawingml/2006/main" w="0">
            <a:solidFill>
              <a:srgbClr val="20252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964953-DFC6-4DC6-8BAD-863B1BCFE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400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A536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A5360"/>
                </a:solidFill>
                <a:latin typeface="Arial"/>
                <a:ea typeface="Arial"/>
                <a:cs typeface="Arial"/>
              </a:rPr>
              <a:t>KairosAIの投資仮説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1189C4-A3CF-4BD8-9D3D-5CE4BD8DA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52600"/>
            <a:ext cx="619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0252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0252D"/>
                </a:solidFill>
                <a:latin typeface="Arial"/>
                <a:ea typeface="Arial"/>
                <a:cs typeface="Arial"/>
              </a:rPr>
              <a:t>ソフトウェア収益で需要を掴み、</a:t>
            </a:r>
          </a:p>
          <a:p xmlns:a="http://schemas.openxmlformats.org/drawingml/2006/main">
            <a:pPr algn="l">
              <a:defRPr sz="3150" b="1">
                <a:solidFill>
                  <a:srgbClr val="20252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0252D"/>
                </a:solidFill>
                <a:latin typeface="Arial"/>
                <a:ea typeface="Arial"/>
                <a:cs typeface="Arial"/>
              </a:rPr>
              <a:t>実測データで垂直統合を選ぶ。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54C5DB-C2A6-4337-8F1F-C61BF2029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86125"/>
            <a:ext cx="5143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2F6B51-E438-47E9-BA0F-4B788B52A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86125"/>
            <a:ext cx="666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80"/>
          </a:solidFill>
          <a:ln xmlns:a="http://schemas.openxmlformats.org/drawingml/2006/main" w="0">
            <a:solidFill>
              <a:srgbClr val="315F8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618EE1-2542-4645-9971-7790CA698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29025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6B7738-1A6E-472A-934C-81EC0E1AB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457575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52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52D"/>
                </a:solidFill>
                <a:latin typeface="Arial"/>
                <a:ea typeface="Arial"/>
                <a:cs typeface="Arial"/>
              </a:rPr>
              <a:t>本番化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6C8323-5145-42A8-9E07-F5A63BCC6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781425"/>
            <a:ext cx="400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A536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A5360"/>
                </a:solidFill>
                <a:latin typeface="Arial"/>
                <a:ea typeface="Arial"/>
                <a:cs typeface="Arial"/>
              </a:rPr>
              <a:t>8-12週で監査・業務outcome・責任境界を証明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092FC4-5CF7-40E3-AB74-74B8D6DAD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86125"/>
            <a:ext cx="5143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EE89F6-6EB6-4463-B237-BC0B5F776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86125"/>
            <a:ext cx="666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765"/>
          </a:solidFill>
          <a:ln xmlns:a="http://schemas.openxmlformats.org/drawingml/2006/main" w="0">
            <a:solidFill>
              <a:srgbClr val="60776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A766AC-690F-4666-9469-9E27946A0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29025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5871DE-B2F0-458B-A8D0-7CB341280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457575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52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52D"/>
                </a:solidFill>
                <a:latin typeface="Arial"/>
                <a:ea typeface="Arial"/>
                <a:cs typeface="Arial"/>
              </a:rPr>
              <a:t>拡張性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C050F4-37E4-4CBD-B271-8E623A470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781425"/>
            <a:ext cx="400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A536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A5360"/>
                </a:solidFill>
                <a:latin typeface="Arial"/>
                <a:ea typeface="Arial"/>
                <a:cs typeface="Arial"/>
              </a:rPr>
              <a:t>Core + Pack + Sovereignで継続収益を積み上げる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3A7986-F3A0-4886-9FC3-F0AC11B8D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24375"/>
            <a:ext cx="5143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6C5C6D-1A87-495E-8F79-3C532500E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24375"/>
            <a:ext cx="666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6D7B"/>
          </a:solidFill>
          <a:ln xmlns:a="http://schemas.openxmlformats.org/drawingml/2006/main" w="0">
            <a:solidFill>
              <a:srgbClr val="7B6D7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88C6AC-28FF-46DB-B91E-A8ACF4FAB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67275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0EABE2-9C7F-49E7-AA12-367D2C4CF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695825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52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52D"/>
                </a:solidFill>
                <a:latin typeface="Arial"/>
                <a:ea typeface="Arial"/>
                <a:cs typeface="Arial"/>
              </a:rPr>
              <a:t>参入障壁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6D849B-AADB-4456-81FA-D52FDC15C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019675"/>
            <a:ext cx="400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A536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A5360"/>
                </a:solidFill>
                <a:latin typeface="Arial"/>
                <a:ea typeface="Arial"/>
                <a:cs typeface="Arial"/>
              </a:rPr>
              <a:t>顧客固有データを守りながらHarnessとPackを複利化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9F9605-12F5-4A53-8D9E-6842E5670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24375"/>
            <a:ext cx="5143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5EF620-4E7F-4CAB-B63B-53B52C61A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24375"/>
            <a:ext cx="666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A32"/>
          </a:solidFill>
          <a:ln xmlns:a="http://schemas.openxmlformats.org/drawingml/2006/main" w="0">
            <a:solidFill>
              <a:srgbClr val="C99A3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00EC09-0AA3-4ACB-A3BA-07862226E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867275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64FA0F-5D09-42FF-891A-196D30115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695825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52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52D"/>
                </a:solidFill>
                <a:latin typeface="Arial"/>
                <a:ea typeface="Arial"/>
                <a:cs typeface="Arial"/>
              </a:rPr>
              <a:t>資本規律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315990-4155-4975-AD9F-324DCC1DD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019675"/>
            <a:ext cx="400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A536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A5360"/>
                </a:solidFill>
                <a:latin typeface="Arial"/>
                <a:ea typeface="Arial"/>
                <a:cs typeface="Arial"/>
              </a:rPr>
              <a:t>HWは3つのgo条件を満たすまでOptionとして保持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B1A0AA-2050-4CA2-8751-E8AD9B23C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57875"/>
            <a:ext cx="10668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52D"/>
          </a:solidFill>
          <a:ln xmlns:a="http://schemas.openxmlformats.org/drawingml/2006/main" w="0">
            <a:solidFill>
              <a:srgbClr val="20252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E1D0B0-FC95-423B-BF9D-0D5C80961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43600"/>
            <a:ext cx="1028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Private Operational AI Infrastructure for regulated industries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3E0976-3E16-4874-AB4E-716BAA76A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486525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0252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0252D"/>
                </a:solidFill>
                <a:latin typeface="Arial"/>
                <a:ea typeface="Arial"/>
                <a:cs typeface="Arial"/>
              </a:rPr>
              <a:t>Confidential: Internal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081C136-C782-4DA7-9D88-780260170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486525"/>
            <a:ext cx="228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20252D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20252D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1214868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2026-06-12T07:47:05.7040000Z</dcterms:created>
  <dcterms:modified xsi:type="dcterms:W3CDTF">2026-06-12T07:47:05.7040000Z</dcterms:modified>
</coreProperties>
</file>