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53.xml" ContentType="application/vnd.openxmlformats-officedocument.presentationml.notesSlide+xml"/>
  <Override PartName="/ppt/slides/slide54.xml" ContentType="application/vnd.openxmlformats-officedocument.presentationml.slide+xml"/>
  <Override PartName="/ppt/notesSlides/notesSlide54.xml" ContentType="application/vnd.openxmlformats-officedocument.presentationml.notesSlide+xml"/>
  <Override PartName="/ppt/slides/slide55.xml" ContentType="application/vnd.openxmlformats-officedocument.presentationml.slide+xml"/>
  <Override PartName="/ppt/notesSlides/notesSlide55.xml" ContentType="application/vnd.openxmlformats-officedocument.presentationml.notesSlide+xml"/>
  <Override PartName="/ppt/slides/slide56.xml" ContentType="application/vnd.openxmlformats-officedocument.presentationml.slide+xml"/>
  <Override PartName="/ppt/notesSlides/notesSlide5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ba7082d324a4300" /><Relationship Type="http://schemas.openxmlformats.org/officeDocument/2006/relationships/extended-properties" Target="/docProps/app.xml" Id="R6fdc3d63dbfb4f37" /><Relationship Type="http://schemas.openxmlformats.org/officeDocument/2006/relationships/officeDocument" Target="/ppt/presentation.xml" Id="R3e7f25c36e97405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650cc3037524f7e"/>
  </p:sldMasterIdLst>
  <p:notesMasterIdLst>
    <p:notesMasterId xmlns:r="http://schemas.openxmlformats.org/officeDocument/2006/relationships" r:id="R24f1106243124c26"/>
  </p:notesMasterIdLst>
  <p:sldIdLst>
    <p:sldId xmlns:r="http://schemas.openxmlformats.org/officeDocument/2006/relationships" id="256" r:id="Rb3499564a8c348b0"/>
    <p:sldId xmlns:r="http://schemas.openxmlformats.org/officeDocument/2006/relationships" id="257" r:id="R0f0af33884c34dc0"/>
    <p:sldId xmlns:r="http://schemas.openxmlformats.org/officeDocument/2006/relationships" id="258" r:id="Rf5f3d20b44214aef"/>
    <p:sldId xmlns:r="http://schemas.openxmlformats.org/officeDocument/2006/relationships" id="259" r:id="Rf20a2df3719a4003"/>
    <p:sldId xmlns:r="http://schemas.openxmlformats.org/officeDocument/2006/relationships" id="260" r:id="Ra9ff527f527f403c"/>
    <p:sldId xmlns:r="http://schemas.openxmlformats.org/officeDocument/2006/relationships" id="261" r:id="R4ccb08a19bcc48e2"/>
    <p:sldId xmlns:r="http://schemas.openxmlformats.org/officeDocument/2006/relationships" id="262" r:id="R6a1a76b006d04d64"/>
    <p:sldId xmlns:r="http://schemas.openxmlformats.org/officeDocument/2006/relationships" id="263" r:id="Rf687e189513d4572"/>
    <p:sldId xmlns:r="http://schemas.openxmlformats.org/officeDocument/2006/relationships" id="264" r:id="R6380f3a42b9d425b"/>
    <p:sldId xmlns:r="http://schemas.openxmlformats.org/officeDocument/2006/relationships" id="265" r:id="R56c5e588d21b4945"/>
    <p:sldId xmlns:r="http://schemas.openxmlformats.org/officeDocument/2006/relationships" id="266" r:id="Rfe324875103b4102"/>
    <p:sldId xmlns:r="http://schemas.openxmlformats.org/officeDocument/2006/relationships" id="267" r:id="R661772198cc74aa7"/>
    <p:sldId xmlns:r="http://schemas.openxmlformats.org/officeDocument/2006/relationships" id="268" r:id="R135a2bdda55e4135"/>
    <p:sldId xmlns:r="http://schemas.openxmlformats.org/officeDocument/2006/relationships" id="269" r:id="R7da9472a07ad4060"/>
    <p:sldId xmlns:r="http://schemas.openxmlformats.org/officeDocument/2006/relationships" id="270" r:id="R3d9aa821bce345b4"/>
    <p:sldId xmlns:r="http://schemas.openxmlformats.org/officeDocument/2006/relationships" id="271" r:id="R2db07f92dfea4c18"/>
    <p:sldId xmlns:r="http://schemas.openxmlformats.org/officeDocument/2006/relationships" id="272" r:id="R3590aa64823146c1"/>
    <p:sldId xmlns:r="http://schemas.openxmlformats.org/officeDocument/2006/relationships" id="273" r:id="R83aa1614fdc444c7"/>
    <p:sldId xmlns:r="http://schemas.openxmlformats.org/officeDocument/2006/relationships" id="274" r:id="R64a652f6aec94a93"/>
    <p:sldId xmlns:r="http://schemas.openxmlformats.org/officeDocument/2006/relationships" id="275" r:id="R22a6daeb95bb41d3"/>
    <p:sldId xmlns:r="http://schemas.openxmlformats.org/officeDocument/2006/relationships" id="276" r:id="Rddfcad546ce84415"/>
    <p:sldId xmlns:r="http://schemas.openxmlformats.org/officeDocument/2006/relationships" id="277" r:id="R995325723f174522"/>
    <p:sldId xmlns:r="http://schemas.openxmlformats.org/officeDocument/2006/relationships" id="278" r:id="R27b43c33be35421b"/>
    <p:sldId xmlns:r="http://schemas.openxmlformats.org/officeDocument/2006/relationships" id="279" r:id="Rbc5ec0ebf8eb4a09"/>
    <p:sldId xmlns:r="http://schemas.openxmlformats.org/officeDocument/2006/relationships" id="280" r:id="Rc2596fa44c794a63"/>
    <p:sldId xmlns:r="http://schemas.openxmlformats.org/officeDocument/2006/relationships" id="281" r:id="R6ae4e404dbe34ccb"/>
    <p:sldId xmlns:r="http://schemas.openxmlformats.org/officeDocument/2006/relationships" id="282" r:id="Rb48f0289170249f6"/>
    <p:sldId xmlns:r="http://schemas.openxmlformats.org/officeDocument/2006/relationships" id="283" r:id="R555e529e5111401b"/>
    <p:sldId xmlns:r="http://schemas.openxmlformats.org/officeDocument/2006/relationships" id="284" r:id="R9c23b004b5004f58"/>
    <p:sldId xmlns:r="http://schemas.openxmlformats.org/officeDocument/2006/relationships" id="285" r:id="R9fa09c546cf64ceb"/>
    <p:sldId xmlns:r="http://schemas.openxmlformats.org/officeDocument/2006/relationships" id="286" r:id="R71140c02ddfc4310"/>
    <p:sldId xmlns:r="http://schemas.openxmlformats.org/officeDocument/2006/relationships" id="287" r:id="Rb75347bc71494b1e"/>
    <p:sldId xmlns:r="http://schemas.openxmlformats.org/officeDocument/2006/relationships" id="288" r:id="R428d796090ff4793"/>
    <p:sldId xmlns:r="http://schemas.openxmlformats.org/officeDocument/2006/relationships" id="289" r:id="Rfbd52127ce57425a"/>
    <p:sldId xmlns:r="http://schemas.openxmlformats.org/officeDocument/2006/relationships" id="290" r:id="R01c3e28c4f5b4f61"/>
    <p:sldId xmlns:r="http://schemas.openxmlformats.org/officeDocument/2006/relationships" id="291" r:id="R45c5d8ce840242bc"/>
    <p:sldId xmlns:r="http://schemas.openxmlformats.org/officeDocument/2006/relationships" id="292" r:id="Rde4fb46cfd1640ce"/>
    <p:sldId xmlns:r="http://schemas.openxmlformats.org/officeDocument/2006/relationships" id="293" r:id="Rd4ba2562d90e4d65"/>
    <p:sldId xmlns:r="http://schemas.openxmlformats.org/officeDocument/2006/relationships" id="294" r:id="R66f0efb2754843a6"/>
    <p:sldId xmlns:r="http://schemas.openxmlformats.org/officeDocument/2006/relationships" id="295" r:id="Rbf0b4b5c9a4b4b33"/>
    <p:sldId xmlns:r="http://schemas.openxmlformats.org/officeDocument/2006/relationships" id="296" r:id="Rac2a018feb754c8f"/>
    <p:sldId xmlns:r="http://schemas.openxmlformats.org/officeDocument/2006/relationships" id="297" r:id="R32ca697315964e21"/>
    <p:sldId xmlns:r="http://schemas.openxmlformats.org/officeDocument/2006/relationships" id="298" r:id="R16ecd3302af14f36"/>
    <p:sldId xmlns:r="http://schemas.openxmlformats.org/officeDocument/2006/relationships" id="299" r:id="Rfdadd661d1d24bcd"/>
    <p:sldId xmlns:r="http://schemas.openxmlformats.org/officeDocument/2006/relationships" id="300" r:id="Raa0a294b6fce4bc2"/>
    <p:sldId xmlns:r="http://schemas.openxmlformats.org/officeDocument/2006/relationships" id="301" r:id="R8ffe023b88524881"/>
    <p:sldId xmlns:r="http://schemas.openxmlformats.org/officeDocument/2006/relationships" id="302" r:id="R53cea10a962744d5"/>
    <p:sldId xmlns:r="http://schemas.openxmlformats.org/officeDocument/2006/relationships" id="303" r:id="R1117ee7616b94253"/>
    <p:sldId xmlns:r="http://schemas.openxmlformats.org/officeDocument/2006/relationships" id="304" r:id="R3732cffe6dd04e21"/>
    <p:sldId xmlns:r="http://schemas.openxmlformats.org/officeDocument/2006/relationships" id="305" r:id="R995f9f3eddb54996"/>
    <p:sldId xmlns:r="http://schemas.openxmlformats.org/officeDocument/2006/relationships" id="306" r:id="R24816468c4b84a8d"/>
    <p:sldId xmlns:r="http://schemas.openxmlformats.org/officeDocument/2006/relationships" id="307" r:id="R6c037bf327c64dd1"/>
    <p:sldId xmlns:r="http://schemas.openxmlformats.org/officeDocument/2006/relationships" id="308" r:id="R024451c7c76a45aa"/>
    <p:sldId xmlns:r="http://schemas.openxmlformats.org/officeDocument/2006/relationships" id="309" r:id="R744843a5cfb94c31"/>
    <p:sldId xmlns:r="http://schemas.openxmlformats.org/officeDocument/2006/relationships" id="310" r:id="Rffe84b7623fa4992"/>
    <p:sldId xmlns:r="http://schemas.openxmlformats.org/officeDocument/2006/relationships" id="311" r:id="R6e20c602512249fa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90222b61a934015" /><Relationship Type="http://schemas.openxmlformats.org/officeDocument/2006/relationships/slideMaster" Target="/ppt/slideMasters/slideMaster1.xml" Id="R0650cc3037524f7e" /><Relationship Type="http://schemas.openxmlformats.org/officeDocument/2006/relationships/notesMaster" Target="/ppt/notesMasters/notesMaster1.xml" Id="R24f1106243124c26" /><Relationship Type="http://schemas.openxmlformats.org/officeDocument/2006/relationships/presProps" Target="/ppt/presProps.xml" Id="Ra742292617ad4538" /><Relationship Type="http://schemas.openxmlformats.org/officeDocument/2006/relationships/tableStyles" Target="/ppt/tableStyles.xml" Id="Rc45d62b963ac4691" /><Relationship Type="http://schemas.openxmlformats.org/officeDocument/2006/relationships/slide" Target="/ppt/slides/slide1.xml" Id="Rb3499564a8c348b0" /><Relationship Type="http://schemas.openxmlformats.org/officeDocument/2006/relationships/slide" Target="/ppt/slides/slide2.xml" Id="R0f0af33884c34dc0" /><Relationship Type="http://schemas.openxmlformats.org/officeDocument/2006/relationships/slide" Target="/ppt/slides/slide3.xml" Id="Rf5f3d20b44214aef" /><Relationship Type="http://schemas.openxmlformats.org/officeDocument/2006/relationships/slide" Target="/ppt/slides/slide4.xml" Id="Rf20a2df3719a4003" /><Relationship Type="http://schemas.openxmlformats.org/officeDocument/2006/relationships/slide" Target="/ppt/slides/slide5.xml" Id="Ra9ff527f527f403c" /><Relationship Type="http://schemas.openxmlformats.org/officeDocument/2006/relationships/slide" Target="/ppt/slides/slide6.xml" Id="R4ccb08a19bcc48e2" /><Relationship Type="http://schemas.openxmlformats.org/officeDocument/2006/relationships/slide" Target="/ppt/slides/slide7.xml" Id="R6a1a76b006d04d64" /><Relationship Type="http://schemas.openxmlformats.org/officeDocument/2006/relationships/slide" Target="/ppt/slides/slide8.xml" Id="Rf687e189513d4572" /><Relationship Type="http://schemas.openxmlformats.org/officeDocument/2006/relationships/slide" Target="/ppt/slides/slide9.xml" Id="R6380f3a42b9d425b" /><Relationship Type="http://schemas.openxmlformats.org/officeDocument/2006/relationships/slide" Target="/ppt/slides/slide10.xml" Id="R56c5e588d21b4945" /><Relationship Type="http://schemas.openxmlformats.org/officeDocument/2006/relationships/slide" Target="/ppt/slides/slide11.xml" Id="Rfe324875103b4102" /><Relationship Type="http://schemas.openxmlformats.org/officeDocument/2006/relationships/slide" Target="/ppt/slides/slide12.xml" Id="R661772198cc74aa7" /><Relationship Type="http://schemas.openxmlformats.org/officeDocument/2006/relationships/slide" Target="/ppt/slides/slide13.xml" Id="R135a2bdda55e4135" /><Relationship Type="http://schemas.openxmlformats.org/officeDocument/2006/relationships/slide" Target="/ppt/slides/slide14.xml" Id="R7da9472a07ad4060" /><Relationship Type="http://schemas.openxmlformats.org/officeDocument/2006/relationships/slide" Target="/ppt/slides/slide15.xml" Id="R3d9aa821bce345b4" /><Relationship Type="http://schemas.openxmlformats.org/officeDocument/2006/relationships/slide" Target="/ppt/slides/slide16.xml" Id="R2db07f92dfea4c18" /><Relationship Type="http://schemas.openxmlformats.org/officeDocument/2006/relationships/slide" Target="/ppt/slides/slide17.xml" Id="R3590aa64823146c1" /><Relationship Type="http://schemas.openxmlformats.org/officeDocument/2006/relationships/slide" Target="/ppt/slides/slide18.xml" Id="R83aa1614fdc444c7" /><Relationship Type="http://schemas.openxmlformats.org/officeDocument/2006/relationships/slide" Target="/ppt/slides/slide19.xml" Id="R64a652f6aec94a93" /><Relationship Type="http://schemas.openxmlformats.org/officeDocument/2006/relationships/slide" Target="/ppt/slides/slide20.xml" Id="R22a6daeb95bb41d3" /><Relationship Type="http://schemas.openxmlformats.org/officeDocument/2006/relationships/slide" Target="/ppt/slides/slide21.xml" Id="Rddfcad546ce84415" /><Relationship Type="http://schemas.openxmlformats.org/officeDocument/2006/relationships/slide" Target="/ppt/slides/slide22.xml" Id="R995325723f174522" /><Relationship Type="http://schemas.openxmlformats.org/officeDocument/2006/relationships/slide" Target="/ppt/slides/slide23.xml" Id="R27b43c33be35421b" /><Relationship Type="http://schemas.openxmlformats.org/officeDocument/2006/relationships/slide" Target="/ppt/slides/slide24.xml" Id="Rbc5ec0ebf8eb4a09" /><Relationship Type="http://schemas.openxmlformats.org/officeDocument/2006/relationships/slide" Target="/ppt/slides/slide25.xml" Id="Rc2596fa44c794a63" /><Relationship Type="http://schemas.openxmlformats.org/officeDocument/2006/relationships/slide" Target="/ppt/slides/slide26.xml" Id="R6ae4e404dbe34ccb" /><Relationship Type="http://schemas.openxmlformats.org/officeDocument/2006/relationships/slide" Target="/ppt/slides/slide27.xml" Id="Rb48f0289170249f6" /><Relationship Type="http://schemas.openxmlformats.org/officeDocument/2006/relationships/slide" Target="/ppt/slides/slide28.xml" Id="R555e529e5111401b" /><Relationship Type="http://schemas.openxmlformats.org/officeDocument/2006/relationships/slide" Target="/ppt/slides/slide29.xml" Id="R9c23b004b5004f58" /><Relationship Type="http://schemas.openxmlformats.org/officeDocument/2006/relationships/slide" Target="/ppt/slides/slide30.xml" Id="R9fa09c546cf64ceb" /><Relationship Type="http://schemas.openxmlformats.org/officeDocument/2006/relationships/slide" Target="/ppt/slides/slide31.xml" Id="R71140c02ddfc4310" /><Relationship Type="http://schemas.openxmlformats.org/officeDocument/2006/relationships/slide" Target="/ppt/slides/slide32.xml" Id="Rb75347bc71494b1e" /><Relationship Type="http://schemas.openxmlformats.org/officeDocument/2006/relationships/slide" Target="/ppt/slides/slide33.xml" Id="R428d796090ff4793" /><Relationship Type="http://schemas.openxmlformats.org/officeDocument/2006/relationships/slide" Target="/ppt/slides/slide34.xml" Id="Rfbd52127ce57425a" /><Relationship Type="http://schemas.openxmlformats.org/officeDocument/2006/relationships/slide" Target="/ppt/slides/slide35.xml" Id="R01c3e28c4f5b4f61" /><Relationship Type="http://schemas.openxmlformats.org/officeDocument/2006/relationships/slide" Target="/ppt/slides/slide36.xml" Id="R45c5d8ce840242bc" /><Relationship Type="http://schemas.openxmlformats.org/officeDocument/2006/relationships/slide" Target="/ppt/slides/slide37.xml" Id="Rde4fb46cfd1640ce" /><Relationship Type="http://schemas.openxmlformats.org/officeDocument/2006/relationships/slide" Target="/ppt/slides/slide38.xml" Id="Rd4ba2562d90e4d65" /><Relationship Type="http://schemas.openxmlformats.org/officeDocument/2006/relationships/slide" Target="/ppt/slides/slide39.xml" Id="R66f0efb2754843a6" /><Relationship Type="http://schemas.openxmlformats.org/officeDocument/2006/relationships/slide" Target="/ppt/slides/slide40.xml" Id="Rbf0b4b5c9a4b4b33" /><Relationship Type="http://schemas.openxmlformats.org/officeDocument/2006/relationships/slide" Target="/ppt/slides/slide41.xml" Id="Rac2a018feb754c8f" /><Relationship Type="http://schemas.openxmlformats.org/officeDocument/2006/relationships/slide" Target="/ppt/slides/slide42.xml" Id="R32ca697315964e21" /><Relationship Type="http://schemas.openxmlformats.org/officeDocument/2006/relationships/slide" Target="/ppt/slides/slide43.xml" Id="R16ecd3302af14f36" /><Relationship Type="http://schemas.openxmlformats.org/officeDocument/2006/relationships/slide" Target="/ppt/slides/slide44.xml" Id="Rfdadd661d1d24bcd" /><Relationship Type="http://schemas.openxmlformats.org/officeDocument/2006/relationships/slide" Target="/ppt/slides/slide45.xml" Id="Raa0a294b6fce4bc2" /><Relationship Type="http://schemas.openxmlformats.org/officeDocument/2006/relationships/slide" Target="/ppt/slides/slide46.xml" Id="R8ffe023b88524881" /><Relationship Type="http://schemas.openxmlformats.org/officeDocument/2006/relationships/slide" Target="/ppt/slides/slide47.xml" Id="R53cea10a962744d5" /><Relationship Type="http://schemas.openxmlformats.org/officeDocument/2006/relationships/slide" Target="/ppt/slides/slide48.xml" Id="R1117ee7616b94253" /><Relationship Type="http://schemas.openxmlformats.org/officeDocument/2006/relationships/slide" Target="/ppt/slides/slide49.xml" Id="R3732cffe6dd04e21" /><Relationship Type="http://schemas.openxmlformats.org/officeDocument/2006/relationships/slide" Target="/ppt/slides/slide50.xml" Id="R995f9f3eddb54996" /><Relationship Type="http://schemas.openxmlformats.org/officeDocument/2006/relationships/slide" Target="/ppt/slides/slide51.xml" Id="R24816468c4b84a8d" /><Relationship Type="http://schemas.openxmlformats.org/officeDocument/2006/relationships/slide" Target="/ppt/slides/slide52.xml" Id="R6c037bf327c64dd1" /><Relationship Type="http://schemas.openxmlformats.org/officeDocument/2006/relationships/slide" Target="/ppt/slides/slide53.xml" Id="R024451c7c76a45aa" /><Relationship Type="http://schemas.openxmlformats.org/officeDocument/2006/relationships/slide" Target="/ppt/slides/slide54.xml" Id="R744843a5cfb94c31" /><Relationship Type="http://schemas.openxmlformats.org/officeDocument/2006/relationships/slide" Target="/ppt/slides/slide55.xml" Id="Rffe84b7623fa4992" /><Relationship Type="http://schemas.openxmlformats.org/officeDocument/2006/relationships/slide" Target="/ppt/slides/slide56.xml" Id="R6e20c602512249f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26d6d09ee3943e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Default Codex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ba8306b85e740fc" /><Relationship Type="http://schemas.openxmlformats.org/officeDocument/2006/relationships/notesMaster" Target="/ppt/notesMasters/notesMaster1.xml" Id="R2e7f6d23c3b24e9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756985223474f9b" /><Relationship Type="http://schemas.openxmlformats.org/officeDocument/2006/relationships/notesMaster" Target="/ppt/notesMasters/notesMaster1.xml" Id="R87c8b95553e04eb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6eec36544784b59" /><Relationship Type="http://schemas.openxmlformats.org/officeDocument/2006/relationships/notesMaster" Target="/ppt/notesMasters/notesMaster1.xml" Id="R8d6c2f87e9d5415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5cee9a81ee1442a" /><Relationship Type="http://schemas.openxmlformats.org/officeDocument/2006/relationships/notesMaster" Target="/ppt/notesMasters/notesMaster1.xml" Id="Rc5add210757642c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636e8a9deb647ec" /><Relationship Type="http://schemas.openxmlformats.org/officeDocument/2006/relationships/notesMaster" Target="/ppt/notesMasters/notesMaster1.xml" Id="R72ac985168104fd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be5deb70f8e45b8" /><Relationship Type="http://schemas.openxmlformats.org/officeDocument/2006/relationships/notesMaster" Target="/ppt/notesMasters/notesMaster1.xml" Id="R0bc8b5b417a9420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b5a7caa4b294726" /><Relationship Type="http://schemas.openxmlformats.org/officeDocument/2006/relationships/notesMaster" Target="/ppt/notesMasters/notesMaster1.xml" Id="R27d42e98aec54cc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859f3df83f34c55" /><Relationship Type="http://schemas.openxmlformats.org/officeDocument/2006/relationships/notesMaster" Target="/ppt/notesMasters/notesMaster1.xml" Id="R1b0555bcdb9d41c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95cd3a99b3441f2" /><Relationship Type="http://schemas.openxmlformats.org/officeDocument/2006/relationships/notesMaster" Target="/ppt/notesMasters/notesMaster1.xml" Id="R3378042003bf45f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365ab71a4884d45" /><Relationship Type="http://schemas.openxmlformats.org/officeDocument/2006/relationships/notesMaster" Target="/ppt/notesMasters/notesMaster1.xml" Id="R772d0ee5a4c54e5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966d769c90547f1" /><Relationship Type="http://schemas.openxmlformats.org/officeDocument/2006/relationships/notesMaster" Target="/ppt/notesMasters/notesMaster1.xml" Id="Raa732968a443488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94fc9646cbe44d7" /><Relationship Type="http://schemas.openxmlformats.org/officeDocument/2006/relationships/notesMaster" Target="/ppt/notesMasters/notesMaster1.xml" Id="R18917d49f4a8487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bd3009dbe0a4c7c" /><Relationship Type="http://schemas.openxmlformats.org/officeDocument/2006/relationships/notesMaster" Target="/ppt/notesMasters/notesMaster1.xml" Id="Ra1e087fc9d09489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1159f6d4b3a433f" /><Relationship Type="http://schemas.openxmlformats.org/officeDocument/2006/relationships/notesMaster" Target="/ppt/notesMasters/notesMaster1.xml" Id="R746639e4e620496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e0d69c03103d4f97" /><Relationship Type="http://schemas.openxmlformats.org/officeDocument/2006/relationships/notesMaster" Target="/ppt/notesMasters/notesMaster1.xml" Id="Ra762ea1ab260447c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4b2513eb1c4344ac" /><Relationship Type="http://schemas.openxmlformats.org/officeDocument/2006/relationships/notesMaster" Target="/ppt/notesMasters/notesMaster1.xml" Id="Rc6eb86f733904ede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303e5d1f111e4b50" /><Relationship Type="http://schemas.openxmlformats.org/officeDocument/2006/relationships/notesMaster" Target="/ppt/notesMasters/notesMaster1.xml" Id="R258bc67061af4561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613f684da3164558" /><Relationship Type="http://schemas.openxmlformats.org/officeDocument/2006/relationships/notesMaster" Target="/ppt/notesMasters/notesMaster1.xml" Id="R0536f9707be349c5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92e912f203474239" /><Relationship Type="http://schemas.openxmlformats.org/officeDocument/2006/relationships/notesMaster" Target="/ppt/notesMasters/notesMaster1.xml" Id="R955b8c21d2e64d95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be62aefaf740458e" /><Relationship Type="http://schemas.openxmlformats.org/officeDocument/2006/relationships/notesMaster" Target="/ppt/notesMasters/notesMaster1.xml" Id="R3e41938886d64e05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8c31203eeca644c1" /><Relationship Type="http://schemas.openxmlformats.org/officeDocument/2006/relationships/notesMaster" Target="/ppt/notesMasters/notesMaster1.xml" Id="R5dce6d70e8524068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298a0924f4ca4077" /><Relationship Type="http://schemas.openxmlformats.org/officeDocument/2006/relationships/notesMaster" Target="/ppt/notesMasters/notesMaster1.xml" Id="R4a32790da2954dd9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02a97f10b2c54475" /><Relationship Type="http://schemas.openxmlformats.org/officeDocument/2006/relationships/notesMaster" Target="/ppt/notesMasters/notesMaster1.xml" Id="Re410c015f4964bdc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5d55dc9a2f17437a" /><Relationship Type="http://schemas.openxmlformats.org/officeDocument/2006/relationships/notesMaster" Target="/ppt/notesMasters/notesMaster1.xml" Id="R2e2f61d8e4004e94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aa6d251cab4046bc" /><Relationship Type="http://schemas.openxmlformats.org/officeDocument/2006/relationships/notesMaster" Target="/ppt/notesMasters/notesMaster1.xml" Id="R40dd1671189644fb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20b84a576c3946af" /><Relationship Type="http://schemas.openxmlformats.org/officeDocument/2006/relationships/notesMaster" Target="/ppt/notesMasters/notesMaster1.xml" Id="R333455560fcb468b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0678c2a2f4374a25" /><Relationship Type="http://schemas.openxmlformats.org/officeDocument/2006/relationships/notesMaster" Target="/ppt/notesMasters/notesMaster1.xml" Id="Re2c2aa107eac4809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eb3faa8249434fc8" /><Relationship Type="http://schemas.openxmlformats.org/officeDocument/2006/relationships/notesMaster" Target="/ppt/notesMasters/notesMaster1.xml" Id="Re7986943fa2b42fd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6de032904a5348ed" /><Relationship Type="http://schemas.openxmlformats.org/officeDocument/2006/relationships/notesMaster" Target="/ppt/notesMasters/notesMaster1.xml" Id="Rc149525922014706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5499a226433c474b" /><Relationship Type="http://schemas.openxmlformats.org/officeDocument/2006/relationships/notesMaster" Target="/ppt/notesMasters/notesMaster1.xml" Id="Rd0bbf134053b4011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4e088c7471fe4130" /><Relationship Type="http://schemas.openxmlformats.org/officeDocument/2006/relationships/notesMaster" Target="/ppt/notesMasters/notesMaster1.xml" Id="R4c8b2b813a5846ed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5175d89ae29d4242" /><Relationship Type="http://schemas.openxmlformats.org/officeDocument/2006/relationships/notesMaster" Target="/ppt/notesMasters/notesMaster1.xml" Id="Rac39b10e283047fa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81293e311cc24051" /><Relationship Type="http://schemas.openxmlformats.org/officeDocument/2006/relationships/notesMaster" Target="/ppt/notesMasters/notesMaster1.xml" Id="R02006fa485a64bfa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fb1a2f921f87469c" /><Relationship Type="http://schemas.openxmlformats.org/officeDocument/2006/relationships/notesMaster" Target="/ppt/notesMasters/notesMaster1.xml" Id="Rb1d83085a81e4177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9faa26146f47468f" /><Relationship Type="http://schemas.openxmlformats.org/officeDocument/2006/relationships/notesMaster" Target="/ppt/notesMasters/notesMaster1.xml" Id="R4ff7531627ac4051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38962b1a5aa04ce0" /><Relationship Type="http://schemas.openxmlformats.org/officeDocument/2006/relationships/notesMaster" Target="/ppt/notesMasters/notesMaster1.xml" Id="Ra4c0982c398749ef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899183f0bc9b4042" /><Relationship Type="http://schemas.openxmlformats.org/officeDocument/2006/relationships/notesMaster" Target="/ppt/notesMasters/notesMaster1.xml" Id="Rbb9c945651f54343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5022dece8ae94ad8" /><Relationship Type="http://schemas.openxmlformats.org/officeDocument/2006/relationships/notesMaster" Target="/ppt/notesMasters/notesMaster1.xml" Id="Rbc9c13395b6540c4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065f96474f6e4163" /><Relationship Type="http://schemas.openxmlformats.org/officeDocument/2006/relationships/notesMaster" Target="/ppt/notesMasters/notesMaster1.xml" Id="R6d2b0c597b254f71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55c4fddf3f304aa5" /><Relationship Type="http://schemas.openxmlformats.org/officeDocument/2006/relationships/notesMaster" Target="/ppt/notesMasters/notesMaster1.xml" Id="R36c4a58310604c76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c5e9e25316f44d12" /><Relationship Type="http://schemas.openxmlformats.org/officeDocument/2006/relationships/notesMaster" Target="/ppt/notesMasters/notesMaster1.xml" Id="R69270549adea482b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b00279f4a96c4970" /><Relationship Type="http://schemas.openxmlformats.org/officeDocument/2006/relationships/notesMaster" Target="/ppt/notesMasters/notesMaster1.xml" Id="R9efdfe34bb0a42ae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3322842e7ade498f" /><Relationship Type="http://schemas.openxmlformats.org/officeDocument/2006/relationships/notesMaster" Target="/ppt/notesMasters/notesMaster1.xml" Id="Rcc8c0a06758d4297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eb34905712c14833" /><Relationship Type="http://schemas.openxmlformats.org/officeDocument/2006/relationships/notesMaster" Target="/ppt/notesMasters/notesMaster1.xml" Id="Rd567731989b141e3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4575bd90aa884ac6" /><Relationship Type="http://schemas.openxmlformats.org/officeDocument/2006/relationships/notesMaster" Target="/ppt/notesMasters/notesMaster1.xml" Id="R29ba2b46f83442c4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c2597133b97a4141" /><Relationship Type="http://schemas.openxmlformats.org/officeDocument/2006/relationships/notesMaster" Target="/ppt/notesMasters/notesMaster1.xml" Id="R1338935bb3104d0c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074782ab882044c6" /><Relationship Type="http://schemas.openxmlformats.org/officeDocument/2006/relationships/notesMaster" Target="/ppt/notesMasters/notesMaster1.xml" Id="Rab4806c0d0ca4ca9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01d138729d254fea" /><Relationship Type="http://schemas.openxmlformats.org/officeDocument/2006/relationships/notesMaster" Target="/ppt/notesMasters/notesMaster1.xml" Id="Rbd23fc6199884ed2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7858df54873d4633" /><Relationship Type="http://schemas.openxmlformats.org/officeDocument/2006/relationships/notesMaster" Target="/ppt/notesMasters/notesMaster1.xml" Id="R89f20907c7734972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cc4e8fa33360454f" /><Relationship Type="http://schemas.openxmlformats.org/officeDocument/2006/relationships/notesMaster" Target="/ppt/notesMasters/notesMaster1.xml" Id="Rcedc8abd520e4aae" /></Relationships>
</file>

<file path=ppt/notesSlides/_rels/notesSlide51.xml.rels>&#65279;<?xml version="1.0" encoding="utf-8"?><Relationships xmlns="http://schemas.openxmlformats.org/package/2006/relationships"><Relationship Type="http://schemas.openxmlformats.org/officeDocument/2006/relationships/slide" Target="/ppt/slides/slide51.xml" Id="Rf0a45f3207be4bd0" /><Relationship Type="http://schemas.openxmlformats.org/officeDocument/2006/relationships/notesMaster" Target="/ppt/notesMasters/notesMaster1.xml" Id="Rc40e650e66b24abb" /></Relationships>
</file>

<file path=ppt/notesSlides/_rels/notesSlide52.xml.rels>&#65279;<?xml version="1.0" encoding="utf-8"?><Relationships xmlns="http://schemas.openxmlformats.org/package/2006/relationships"><Relationship Type="http://schemas.openxmlformats.org/officeDocument/2006/relationships/slide" Target="/ppt/slides/slide52.xml" Id="Rb66f1c0d042545ec" /><Relationship Type="http://schemas.openxmlformats.org/officeDocument/2006/relationships/notesMaster" Target="/ppt/notesMasters/notesMaster1.xml" Id="Rd8c4d245012a4912" /></Relationships>
</file>

<file path=ppt/notesSlides/_rels/notesSlide53.xml.rels>&#65279;<?xml version="1.0" encoding="utf-8"?><Relationships xmlns="http://schemas.openxmlformats.org/package/2006/relationships"><Relationship Type="http://schemas.openxmlformats.org/officeDocument/2006/relationships/slide" Target="/ppt/slides/slide53.xml" Id="Rd8bac9285d114ee9" /><Relationship Type="http://schemas.openxmlformats.org/officeDocument/2006/relationships/notesMaster" Target="/ppt/notesMasters/notesMaster1.xml" Id="R64ab9ca5a427445f" /></Relationships>
</file>

<file path=ppt/notesSlides/_rels/notesSlide54.xml.rels>&#65279;<?xml version="1.0" encoding="utf-8"?><Relationships xmlns="http://schemas.openxmlformats.org/package/2006/relationships"><Relationship Type="http://schemas.openxmlformats.org/officeDocument/2006/relationships/slide" Target="/ppt/slides/slide54.xml" Id="R3ccc1870a41d45bb" /><Relationship Type="http://schemas.openxmlformats.org/officeDocument/2006/relationships/notesMaster" Target="/ppt/notesMasters/notesMaster1.xml" Id="R1ec7ef2a661c4ac4" /></Relationships>
</file>

<file path=ppt/notesSlides/_rels/notesSlide55.xml.rels>&#65279;<?xml version="1.0" encoding="utf-8"?><Relationships xmlns="http://schemas.openxmlformats.org/package/2006/relationships"><Relationship Type="http://schemas.openxmlformats.org/officeDocument/2006/relationships/slide" Target="/ppt/slides/slide55.xml" Id="Rce25acd05e154e12" /><Relationship Type="http://schemas.openxmlformats.org/officeDocument/2006/relationships/notesMaster" Target="/ppt/notesMasters/notesMaster1.xml" Id="R75668cbd74a748be" /></Relationships>
</file>

<file path=ppt/notesSlides/_rels/notesSlide56.xml.rels>&#65279;<?xml version="1.0" encoding="utf-8"?><Relationships xmlns="http://schemas.openxmlformats.org/package/2006/relationships"><Relationship Type="http://schemas.openxmlformats.org/officeDocument/2006/relationships/slide" Target="/ppt/slides/slide56.xml" Id="R3e9b5278902f46a4" /><Relationship Type="http://schemas.openxmlformats.org/officeDocument/2006/relationships/notesMaster" Target="/ppt/notesMasters/notesMaster1.xml" Id="R7c0c019ad4f94c1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7ec769f914d4ee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4559882cc22436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132a1abd3e742a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9d552f8f6d945d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bf6a877700f4a7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57fb99525dc4e9d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07db2e05172480b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d84bbef54f24021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d4a6720e5704365" /><Relationship Type="http://schemas.openxmlformats.org/officeDocument/2006/relationships/image" Target="/ppt/media/image.png" Id="R8ad00052aa9a4ec3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5acab8fbb5847fe" /><Relationship Type="http://schemas.openxmlformats.org/officeDocument/2006/relationships/image" Target="/ppt/media/image2.png" Id="R5f341f6fd2774eda" /></Relationships>
</file>

<file path=ppt/slideLayouts/slideLayout1.xml><?xml version="1.0" encoding="utf-8"?>
<p:sldLayout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83004A5-B645-655E-5362-4217D55892E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93700" y="1041400"/>
            <a:ext cx="7493000" cy="249149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C57031B1-59B2-C235-9FDD-8050418A5FD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93700" y="4356100"/>
            <a:ext cx="5537200" cy="16383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E851FDE-9E0B-568C-1CBA-E72B86CC06E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9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9CCD18F-3BF6-A3EE-DAAE-66BD406D7E8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0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186992D-ADA6-5A23-EBD5-6BEF0A2E61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CDBB333F-FFCF-AA9E-7AC0-64DB02353F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DCC3060-FADA-4310-30F9-24EC34B5AA8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10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9E7B047-08E6-29C1-F101-C084D555A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DE564C6-8AA0-935D-A919-07AFA15B335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  <p:sp>
        <p:nvSpPr>
          <p:cNvPr id="12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ABE46D3-8F05-1C7F-3EC7-20BFCC76C251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6256618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39D2C21-36BF-25E7-8E97-1D17F313F7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  <p:sp>
        <p:nvSpPr>
          <p:cNvPr id="14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0E090C5-E6C8-92F2-E8C2-A840B8F1807D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43180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15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C6D2D15-AEC2-9F99-316F-C37AF863965D}"/>
              </a:ext>
            </a:extLst>
          </p:cNvPr>
          <p:cNvSpPr>
            <a:spLocks xmlns:a="http://schemas.openxmlformats.org/drawingml/2006/main" noGrp="1"/>
          </p:cNvSpPr>
          <p:nvPr>
            <p:ph idx="11"/>
          </p:nvPr>
        </p:nvSpPr>
        <p:spPr>
          <a:xfrm xmlns:a="http://schemas.openxmlformats.org/drawingml/2006/main">
            <a:off x="8232273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5.xml><?xml version="1.0" encoding="utf-8"?>
<p:sldLayout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4826000"/>
            <a:ext cx="2595934" cy="1168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>
              <a:buNone/>
            </a:pPr>
            <a:r>
              <a:t>Click to edit Master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8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4F70A9DA-D783-0627-3166-E13B68C2ADAC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3334966" y="4826000"/>
            <a:ext cx="2595934" cy="11684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>
              <a:buNone/>
            </a:pPr>
            <a:r>
              <a:t>Click to edit Master</a:t>
            </a:r>
          </a:p>
        </p:txBody>
      </p:sp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5BF2647-8E8C-CAEE-896D-0E1567AF7E99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6264413" y="4826000"/>
            <a:ext cx="2595934" cy="1168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>
              <a:buNone/>
            </a:pPr>
            <a:r>
              <a:t>Click to edit Master</a:t>
            </a:r>
          </a:p>
        </p:txBody>
      </p:sp>
      <p:sp>
        <p:nvSpPr>
          <p:cNvPr id="10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37C6F143-221A-9959-8FBA-B9B1DB6602D0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9205679" y="4826000"/>
            <a:ext cx="2595934" cy="11684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>
              <a:buNone/>
            </a:pPr>
            <a:r>
              <a:t>Click to edit Master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B1182C5-F22B-2641-06DE-4EDACA3C1DD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9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97A4AD5-204B-38FD-4F33-270C2F9F5CC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5CF9983-3FD7-FAE4-9F0B-B2CE806D89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 preserve="1" userDrawn="1">
  <p:cSld name="Footer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012CBCC-C555-8C11-443D-86D6F7A45CF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8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69B260B-B882-BF7F-1BB1-28B9578A25A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</p:spTree>
  </p:cSld>
</p:sldLayout>
</file>

<file path=ppt/slideLayouts/slideLayout8.xml><?xml version="1.0" encoding="utf-8"?>
<p:sldLayout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9.xml><?xml version="1.0" encoding="utf-8"?>
<p:sldLayout xmlns:p="http://schemas.openxmlformats.org/presentationml/2006/main" preserve="1" userDrawn="1">
  <p:cSld name="36 Field Grid">
    <p:bg>
      <p:bgPr>
        <a:blipFill xmlns:a="http://schemas.openxmlformats.org/drawingml/2006/main" rotWithShape="1">
          <a:blip xmlns:r="http://schemas.openxmlformats.org/officeDocument/2006/relationships" r:embed="R8ad00052aa9a4ec3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0.xml><?xml version="1.0" encoding="utf-8"?>
<p:sldLayout xmlns:p="http://schemas.openxmlformats.org/presentationml/2006/main" preserve="1" userDrawn="1">
  <p:cSld name="48 Field Grid">
    <p:bg>
      <p:bgPr>
        <a:blipFill xmlns:a="http://schemas.openxmlformats.org/drawingml/2006/main" rotWithShape="1">
          <a:blip xmlns:r="http://schemas.openxmlformats.org/officeDocument/2006/relationships" r:embed="R5f341f6fd2774eda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cda29aa45e04401" /><Relationship Type="http://schemas.openxmlformats.org/officeDocument/2006/relationships/slideLayout" Target="/ppt/slideLayouts/slideLayout1.xml" Id="Rcf619e9366c14d00" /><Relationship Type="http://schemas.openxmlformats.org/officeDocument/2006/relationships/slideLayout" Target="/ppt/slideLayouts/slideLayout2.xml" Id="Re1427a1028a64f18" /><Relationship Type="http://schemas.openxmlformats.org/officeDocument/2006/relationships/slideLayout" Target="/ppt/slideLayouts/slideLayout3.xml" Id="R964ff492a58d4379" /><Relationship Type="http://schemas.openxmlformats.org/officeDocument/2006/relationships/slideLayout" Target="/ppt/slideLayouts/slideLayout4.xml" Id="R5a6e48b23e894dca" /><Relationship Type="http://schemas.openxmlformats.org/officeDocument/2006/relationships/slideLayout" Target="/ppt/slideLayouts/slideLayout5.xml" Id="R02dc09fb9f6e43c2" /><Relationship Type="http://schemas.openxmlformats.org/officeDocument/2006/relationships/slideLayout" Target="/ppt/slideLayouts/slideLayout6.xml" Id="R3f062550715944c3" /><Relationship Type="http://schemas.openxmlformats.org/officeDocument/2006/relationships/slideLayout" Target="/ppt/slideLayouts/slideLayout7.xml" Id="R1c3a8daf76404664" /><Relationship Type="http://schemas.openxmlformats.org/officeDocument/2006/relationships/slideLayout" Target="/ppt/slideLayouts/slideLayout8.xml" Id="R78766a9ac7314600" /><Relationship Type="http://schemas.openxmlformats.org/officeDocument/2006/relationships/slideLayout" Target="/ppt/slideLayouts/slideLayout9.xml" Id="R538e95eeb0cf4c4e" /><Relationship Type="http://schemas.openxmlformats.org/officeDocument/2006/relationships/slideLayout" Target="/ppt/slideLayouts/slideLayout10.xml" Id="Rf38e57b4e9634435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BB87ED2E-D8FF-5C8C-ED50-59BA3091C3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5B0E1CB-6DCA-2E9F-2B74-4309B4084C0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C75650C-2983-5B02-8421-FF181843543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872C88C-1AB3-96BA-C9E5-3435A4BD59B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f619e9366c14d00"/>
    <p:sldLayoutId xmlns:r="http://schemas.openxmlformats.org/officeDocument/2006/relationships" id="2147483650" r:id="Re1427a1028a64f18"/>
    <p:sldLayoutId xmlns:r="http://schemas.openxmlformats.org/officeDocument/2006/relationships" id="2147483651" r:id="R964ff492a58d4379"/>
    <p:sldLayoutId xmlns:r="http://schemas.openxmlformats.org/officeDocument/2006/relationships" id="2147483652" r:id="R5a6e48b23e894dca"/>
    <p:sldLayoutId xmlns:r="http://schemas.openxmlformats.org/officeDocument/2006/relationships" id="2147483653" r:id="R02dc09fb9f6e43c2"/>
    <p:sldLayoutId xmlns:r="http://schemas.openxmlformats.org/officeDocument/2006/relationships" id="2147483654" r:id="R3f062550715944c3"/>
    <p:sldLayoutId xmlns:r="http://schemas.openxmlformats.org/officeDocument/2006/relationships" id="2147483655" r:id="R1c3a8daf76404664"/>
    <p:sldLayoutId xmlns:r="http://schemas.openxmlformats.org/officeDocument/2006/relationships" id="2147483656" r:id="R78766a9ac7314600"/>
    <p:sldLayoutId xmlns:r="http://schemas.openxmlformats.org/officeDocument/2006/relationships" id="2147483657" r:id="R538e95eeb0cf4c4e"/>
    <p:sldLayoutId xmlns:r="http://schemas.openxmlformats.org/officeDocument/2006/relationships" id="2147483658" r:id="Rf38e57b4e9634435"/>
  </p:sldLayoutIdLst>
  <p:hf hdr="0" dt="0"/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29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xmlns:a="http://schemas.openxmlformats.org/drawingml/2006/main" val="F26B43"/>
          </p15:clr>
        </p15:guide>
        <p15:guide id="2" pos="7680" userDrawn="1">
          <p15:clr>
            <a:srgbClr xmlns:a="http://schemas.openxmlformats.org/drawingml/2006/main" val="F26B43"/>
          </p15:clr>
        </p15:guide>
        <p15:guide id="3" pos="248" userDrawn="1">
          <p15:clr>
            <a:srgbClr xmlns:a="http://schemas.openxmlformats.org/drawingml/2006/main" val="F26B43"/>
          </p15:clr>
        </p15:guide>
        <p15:guide id="4" pos="1264" userDrawn="1">
          <p15:clr>
            <a:srgbClr xmlns:a="http://schemas.openxmlformats.org/drawingml/2006/main" val="F26B43"/>
          </p15:clr>
        </p15:guide>
        <p15:guide id="5" pos="1480" userDrawn="1">
          <p15:clr>
            <a:srgbClr xmlns:a="http://schemas.openxmlformats.org/drawingml/2006/main" val="F26B43"/>
          </p15:clr>
        </p15:guide>
        <p15:guide id="6" pos="2496" userDrawn="1">
          <p15:clr>
            <a:srgbClr xmlns:a="http://schemas.openxmlformats.org/drawingml/2006/main" val="F26B43"/>
          </p15:clr>
        </p15:guide>
        <p15:guide id="7" pos="2712" userDrawn="1">
          <p15:clr>
            <a:srgbClr xmlns:a="http://schemas.openxmlformats.org/drawingml/2006/main" val="F26B43"/>
          </p15:clr>
        </p15:guide>
        <p15:guide id="8" pos="3736" userDrawn="1">
          <p15:clr>
            <a:srgbClr xmlns:a="http://schemas.openxmlformats.org/drawingml/2006/main" val="F26B43"/>
          </p15:clr>
        </p15:guide>
        <p15:guide id="9" pos="3944" userDrawn="1">
          <p15:clr>
            <a:srgbClr xmlns:a="http://schemas.openxmlformats.org/drawingml/2006/main" val="F26B43"/>
          </p15:clr>
        </p15:guide>
        <p15:guide id="10" pos="4968" userDrawn="1">
          <p15:clr>
            <a:srgbClr xmlns:a="http://schemas.openxmlformats.org/drawingml/2006/main" val="F26B43"/>
          </p15:clr>
        </p15:guide>
        <p15:guide id="11" pos="5184" userDrawn="1">
          <p15:clr>
            <a:srgbClr xmlns:a="http://schemas.openxmlformats.org/drawingml/2006/main" val="F26B43"/>
          </p15:clr>
        </p15:guide>
        <p15:guide id="12" pos="6200" userDrawn="1">
          <p15:clr>
            <a:srgbClr xmlns:a="http://schemas.openxmlformats.org/drawingml/2006/main" val="F26B43"/>
          </p15:clr>
        </p15:guide>
        <p15:guide id="13" pos="6416" userDrawn="1">
          <p15:clr>
            <a:srgbClr xmlns:a="http://schemas.openxmlformats.org/drawingml/2006/main" val="F26B43"/>
          </p15:clr>
        </p15:guide>
        <p15:guide id="14" pos="7432" userDrawn="1">
          <p15:clr>
            <a:srgbClr xmlns:a="http://schemas.openxmlformats.org/drawingml/2006/main" val="F26B43"/>
          </p15:clr>
        </p15:guide>
        <p15:guide id="15" orient="horz" userDrawn="1">
          <p15:clr>
            <a:srgbClr xmlns:a="http://schemas.openxmlformats.org/drawingml/2006/main" val="F26B43"/>
          </p15:clr>
        </p15:guide>
        <p15:guide id="17" orient="horz" pos="248" userDrawn="1">
          <p15:clr>
            <a:srgbClr xmlns:a="http://schemas.openxmlformats.org/drawingml/2006/main" val="F26B43"/>
          </p15:clr>
        </p15:guide>
        <p15:guide id="18" orient="horz" pos="656" userDrawn="1">
          <p15:clr>
            <a:srgbClr xmlns:a="http://schemas.openxmlformats.org/drawingml/2006/main" val="F26B43"/>
          </p15:clr>
        </p15:guide>
        <p15:guide id="19" orient="horz" pos="872" userDrawn="1">
          <p15:clr>
            <a:srgbClr xmlns:a="http://schemas.openxmlformats.org/drawingml/2006/main" val="F26B43"/>
          </p15:clr>
        </p15:guide>
        <p15:guide id="20" orient="horz" pos="1280" userDrawn="1">
          <p15:clr>
            <a:srgbClr xmlns:a="http://schemas.openxmlformats.org/drawingml/2006/main" val="F26B43"/>
          </p15:clr>
        </p15:guide>
        <p15:guide id="21" orient="horz" pos="1496" userDrawn="1">
          <p15:clr>
            <a:srgbClr xmlns:a="http://schemas.openxmlformats.org/drawingml/2006/main" val="F26B43"/>
          </p15:clr>
        </p15:guide>
        <p15:guide id="22" orient="horz" pos="1904" userDrawn="1">
          <p15:clr>
            <a:srgbClr xmlns:a="http://schemas.openxmlformats.org/drawingml/2006/main" val="F26B43"/>
          </p15:clr>
        </p15:guide>
        <p15:guide id="23" orient="horz" pos="2120" userDrawn="1">
          <p15:clr>
            <a:srgbClr xmlns:a="http://schemas.openxmlformats.org/drawingml/2006/main" val="F26B43"/>
          </p15:clr>
        </p15:guide>
        <p15:guide id="24" orient="horz" pos="2528" userDrawn="1">
          <p15:clr>
            <a:srgbClr xmlns:a="http://schemas.openxmlformats.org/drawingml/2006/main" val="F26B43"/>
          </p15:clr>
        </p15:guide>
        <p15:guide id="25" orient="horz" pos="2744" userDrawn="1">
          <p15:clr>
            <a:srgbClr xmlns:a="http://schemas.openxmlformats.org/drawingml/2006/main" val="F26B43"/>
          </p15:clr>
        </p15:guide>
        <p15:guide id="26" orient="horz" pos="3152" userDrawn="1">
          <p15:clr>
            <a:srgbClr xmlns:a="http://schemas.openxmlformats.org/drawingml/2006/main" val="F26B43"/>
          </p15:clr>
        </p15:guide>
        <p15:guide id="27" orient="horz" pos="3368" userDrawn="1">
          <p15:clr>
            <a:srgbClr xmlns:a="http://schemas.openxmlformats.org/drawingml/2006/main" val="F26B43"/>
          </p15:clr>
        </p15:guide>
        <p15:guide id="28" orient="horz" pos="3776" userDrawn="1">
          <p15:clr>
            <a:srgbClr xmlns:a="http://schemas.openxmlformats.org/drawingml/2006/main" val="F26B43"/>
          </p15:clr>
        </p15:guide>
        <p15:guide id="29" orient="horz" pos="4088" userDrawn="1">
          <p15:clr>
            <a:srgbClr xmlns:a="http://schemas.openxmlformats.org/drawingml/2006/main" val="F26B43"/>
          </p15:clr>
        </p15:guide>
      </p15:sldGuideLst>
    </p:ext>
  </p:extLst>
</p:sldMaster>
</file>

<file path=ppt/slideMasters/theme/theme2.xml><?xml version="1.0" encoding="utf-8"?>
<a:theme xmlns:a="http://schemas.openxmlformats.org/drawingml/2006/main" name="Default Codex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fa8b64a3b64177" /><Relationship Type="http://schemas.openxmlformats.org/officeDocument/2006/relationships/notesSlide" Target="/ppt/notesSlides/notesSlide1.xml" Id="R709dd703e35c478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1a8e17051284682" /><Relationship Type="http://schemas.openxmlformats.org/officeDocument/2006/relationships/notesSlide" Target="/ppt/notesSlides/notesSlide2.xml" Id="R4f37dd8bf362488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de0e8f2173b4bea" /><Relationship Type="http://schemas.openxmlformats.org/officeDocument/2006/relationships/notesSlide" Target="/ppt/notesSlides/notesSlide3.xml" Id="R606849aba9e8424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30275af5b924aea" /><Relationship Type="http://schemas.openxmlformats.org/officeDocument/2006/relationships/notesSlide" Target="/ppt/notesSlides/notesSlide4.xml" Id="Rd4a6c65efcc6435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64eeb6992e7440c" /><Relationship Type="http://schemas.openxmlformats.org/officeDocument/2006/relationships/notesSlide" Target="/ppt/notesSlides/notesSlide5.xml" Id="R9092ba70f9784ac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ed525c40639c4b3b" /><Relationship Type="http://schemas.openxmlformats.org/officeDocument/2006/relationships/notesSlide" Target="/ppt/notesSlides/notesSlide6.xml" Id="Rc0452537dff44cb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92285b38e654574" /><Relationship Type="http://schemas.openxmlformats.org/officeDocument/2006/relationships/notesSlide" Target="/ppt/notesSlides/notesSlide7.xml" Id="R359468aff8f547e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a96fcf81545d4e6d" /><Relationship Type="http://schemas.openxmlformats.org/officeDocument/2006/relationships/notesSlide" Target="/ppt/notesSlides/notesSlide8.xml" Id="Rd4db6d6c36074d3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71d28d5bdc2848f6" /><Relationship Type="http://schemas.openxmlformats.org/officeDocument/2006/relationships/notesSlide" Target="/ppt/notesSlides/notesSlide9.xml" Id="R90abaf24c1a7451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b29688a6aff4a7f" /><Relationship Type="http://schemas.openxmlformats.org/officeDocument/2006/relationships/notesSlide" Target="/ppt/notesSlides/notesSlide10.xml" Id="Rdf10d69577d7407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890b165b5e945c8" /><Relationship Type="http://schemas.openxmlformats.org/officeDocument/2006/relationships/notesSlide" Target="/ppt/notesSlides/notesSlide11.xml" Id="R3c02486c446e436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ece4b68e1694d88" /><Relationship Type="http://schemas.openxmlformats.org/officeDocument/2006/relationships/notesSlide" Target="/ppt/notesSlides/notesSlide12.xml" Id="R72ac9e81a0fc496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85bed47b83fe4ec6" /><Relationship Type="http://schemas.openxmlformats.org/officeDocument/2006/relationships/notesSlide" Target="/ppt/notesSlides/notesSlide13.xml" Id="R99f28c8661e7484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6dc353850f494c1e" /><Relationship Type="http://schemas.openxmlformats.org/officeDocument/2006/relationships/notesSlide" Target="/ppt/notesSlides/notesSlide14.xml" Id="R00b4e98ab1cc42e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fbe6e2161c14f6c" /><Relationship Type="http://schemas.openxmlformats.org/officeDocument/2006/relationships/notesSlide" Target="/ppt/notesSlides/notesSlide15.xml" Id="R3efbfd36c0a34720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902a2900b9e49a6" /><Relationship Type="http://schemas.openxmlformats.org/officeDocument/2006/relationships/notesSlide" Target="/ppt/notesSlides/notesSlide16.xml" Id="R89e1b94279304977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33b2d90a5f74cef" /><Relationship Type="http://schemas.openxmlformats.org/officeDocument/2006/relationships/notesSlide" Target="/ppt/notesSlides/notesSlide17.xml" Id="R0c7d2952099043f3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920858a3a63462c" /><Relationship Type="http://schemas.openxmlformats.org/officeDocument/2006/relationships/notesSlide" Target="/ppt/notesSlides/notesSlide18.xml" Id="R16cadd8e57534b5c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61026d9954b462d" /><Relationship Type="http://schemas.openxmlformats.org/officeDocument/2006/relationships/notesSlide" Target="/ppt/notesSlides/notesSlide19.xml" Id="R1f3758920a55491b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d699d60ad504c16" /><Relationship Type="http://schemas.openxmlformats.org/officeDocument/2006/relationships/notesSlide" Target="/ppt/notesSlides/notesSlide20.xml" Id="R6fb26359ade243c6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46fe1365bc543c8" /><Relationship Type="http://schemas.openxmlformats.org/officeDocument/2006/relationships/notesSlide" Target="/ppt/notesSlides/notesSlide21.xml" Id="R3f0e275320ad47ae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2783a3f62a0642de" /><Relationship Type="http://schemas.openxmlformats.org/officeDocument/2006/relationships/notesSlide" Target="/ppt/notesSlides/notesSlide22.xml" Id="R94c4470bb0364c73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447f692b33f7410e" /><Relationship Type="http://schemas.openxmlformats.org/officeDocument/2006/relationships/notesSlide" Target="/ppt/notesSlides/notesSlide23.xml" Id="R69c45d7dc35e4dec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627a0bcff4f44f26" /><Relationship Type="http://schemas.openxmlformats.org/officeDocument/2006/relationships/notesSlide" Target="/ppt/notesSlides/notesSlide24.xml" Id="R4ecd58e9ea6049c8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edcc427075c445ef" /><Relationship Type="http://schemas.openxmlformats.org/officeDocument/2006/relationships/notesSlide" Target="/ppt/notesSlides/notesSlide25.xml" Id="R4d399196f4754bda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5fb01b9874b84bef" /><Relationship Type="http://schemas.openxmlformats.org/officeDocument/2006/relationships/notesSlide" Target="/ppt/notesSlides/notesSlide26.xml" Id="R7e90de0ecf8941ff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068700a08e942a5" /><Relationship Type="http://schemas.openxmlformats.org/officeDocument/2006/relationships/notesSlide" Target="/ppt/notesSlides/notesSlide27.xml" Id="R5b3c319844304e3f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b03fe8aef904bf4" /><Relationship Type="http://schemas.openxmlformats.org/officeDocument/2006/relationships/notesSlide" Target="/ppt/notesSlides/notesSlide28.xml" Id="R2f91c220ce0d4514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8b86e53dab044e05" /><Relationship Type="http://schemas.openxmlformats.org/officeDocument/2006/relationships/notesSlide" Target="/ppt/notesSlides/notesSlide29.xml" Id="Rf87a4b3fea20477d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c0473898c1b4089" /><Relationship Type="http://schemas.openxmlformats.org/officeDocument/2006/relationships/notesSlide" Target="/ppt/notesSlides/notesSlide30.xml" Id="R27dca5d83e0c4eb9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f128abea5354449" /><Relationship Type="http://schemas.openxmlformats.org/officeDocument/2006/relationships/notesSlide" Target="/ppt/notesSlides/notesSlide31.xml" Id="Rc17e7be7a9c14202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79141a289f843a6" /><Relationship Type="http://schemas.openxmlformats.org/officeDocument/2006/relationships/notesSlide" Target="/ppt/notesSlides/notesSlide32.xml" Id="R369b91fb9c164e86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1950dddede9d4768" /><Relationship Type="http://schemas.openxmlformats.org/officeDocument/2006/relationships/notesSlide" Target="/ppt/notesSlides/notesSlide33.xml" Id="R7b27217625cd4ff5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2dd0aa0daf64179" /><Relationship Type="http://schemas.openxmlformats.org/officeDocument/2006/relationships/notesSlide" Target="/ppt/notesSlides/notesSlide34.xml" Id="R30802e3c5997408a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702bc686bf645cc" /><Relationship Type="http://schemas.openxmlformats.org/officeDocument/2006/relationships/notesSlide" Target="/ppt/notesSlides/notesSlide35.xml" Id="R119487098e2e45a1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22744ea932b44fa" /><Relationship Type="http://schemas.openxmlformats.org/officeDocument/2006/relationships/notesSlide" Target="/ppt/notesSlides/notesSlide36.xml" Id="R35cf88ec5dfa4198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09685a1b33d45d8" /><Relationship Type="http://schemas.openxmlformats.org/officeDocument/2006/relationships/notesSlide" Target="/ppt/notesSlides/notesSlide37.xml" Id="Raf80cf54579b4f50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103da8fcb09f4da3" /><Relationship Type="http://schemas.openxmlformats.org/officeDocument/2006/relationships/notesSlide" Target="/ppt/notesSlides/notesSlide38.xml" Id="R7504e1fbccdc470a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9153d3e860cf4663" /><Relationship Type="http://schemas.openxmlformats.org/officeDocument/2006/relationships/notesSlide" Target="/ppt/notesSlides/notesSlide39.xml" Id="R651958250f7442bb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bef0fc085de34c66" /><Relationship Type="http://schemas.openxmlformats.org/officeDocument/2006/relationships/notesSlide" Target="/ppt/notesSlides/notesSlide40.xml" Id="R257f91881eae4586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69440542d0624245" /><Relationship Type="http://schemas.openxmlformats.org/officeDocument/2006/relationships/notesSlide" Target="/ppt/notesSlides/notesSlide41.xml" Id="R5c31fc6e145449c2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318d22453ef474b" /><Relationship Type="http://schemas.openxmlformats.org/officeDocument/2006/relationships/notesSlide" Target="/ppt/notesSlides/notesSlide42.xml" Id="Re9f9d5567b2e4b57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fc02f12ddf43479f" /><Relationship Type="http://schemas.openxmlformats.org/officeDocument/2006/relationships/notesSlide" Target="/ppt/notesSlides/notesSlide43.xml" Id="Rb10330972dd44b0a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8f4b49331eec4393" /><Relationship Type="http://schemas.openxmlformats.org/officeDocument/2006/relationships/notesSlide" Target="/ppt/notesSlides/notesSlide44.xml" Id="Redabda8908664a26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ffca36e7b0f4ec5" /><Relationship Type="http://schemas.openxmlformats.org/officeDocument/2006/relationships/notesSlide" Target="/ppt/notesSlides/notesSlide45.xml" Id="Rf6e9ebeb0f8f425e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6c84c35528c94b59" /><Relationship Type="http://schemas.openxmlformats.org/officeDocument/2006/relationships/notesSlide" Target="/ppt/notesSlides/notesSlide46.xml" Id="Rd43ced022bd043fd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eda67fcc1855462f" /><Relationship Type="http://schemas.openxmlformats.org/officeDocument/2006/relationships/notesSlide" Target="/ppt/notesSlides/notesSlide47.xml" Id="Ra252137be5de4b11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1b5718811164811" /><Relationship Type="http://schemas.openxmlformats.org/officeDocument/2006/relationships/notesSlide" Target="/ppt/notesSlides/notesSlide48.xml" Id="Ra5982226889f4215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50f481ba42b447ae" /><Relationship Type="http://schemas.openxmlformats.org/officeDocument/2006/relationships/notesSlide" Target="/ppt/notesSlides/notesSlide49.xml" Id="R797bbae77d62497c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0eb727bd3f374810" /><Relationship Type="http://schemas.openxmlformats.org/officeDocument/2006/relationships/notesSlide" Target="/ppt/notesSlides/notesSlide50.xml" Id="Rc043e19a47bb4809" /></Relationships>
</file>

<file path=ppt/slides/_rels/slide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67a98ce1ce5a4666" /><Relationship Type="http://schemas.openxmlformats.org/officeDocument/2006/relationships/notesSlide" Target="/ppt/notesSlides/notesSlide51.xml" Id="Rc67edbaafb90489d" /></Relationships>
</file>

<file path=ppt/slides/_rels/slide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eea550d018f44d17" /><Relationship Type="http://schemas.openxmlformats.org/officeDocument/2006/relationships/notesSlide" Target="/ppt/notesSlides/notesSlide52.xml" Id="Rcc43bdc0ad3f4e0e" /></Relationships>
</file>

<file path=ppt/slides/_rels/slide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a4f73ea9d48489d" /><Relationship Type="http://schemas.openxmlformats.org/officeDocument/2006/relationships/notesSlide" Target="/ppt/notesSlides/notesSlide53.xml" Id="Rf46ed7fb2c4c40e7" /></Relationships>
</file>

<file path=ppt/slides/_rels/slide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1d8c4465a474cdb" /><Relationship Type="http://schemas.openxmlformats.org/officeDocument/2006/relationships/notesSlide" Target="/ppt/notesSlides/notesSlide54.xml" Id="R7f3c2933f7dc45e7" /></Relationships>
</file>

<file path=ppt/slides/_rels/slide5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beb7614060a94231" /><Relationship Type="http://schemas.openxmlformats.org/officeDocument/2006/relationships/notesSlide" Target="/ppt/notesSlides/notesSlide55.xml" Id="R57f5d55b035644a5" /></Relationships>
</file>

<file path=ppt/slides/_rels/slide56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d294a3f473b74668" /><Relationship Type="http://schemas.openxmlformats.org/officeDocument/2006/relationships/notesSlide" Target="/ppt/notesSlides/notesSlide56.xml" Id="R3b21ce7fd8b94948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8BFE633A-551A-54B1-5F36-B66CCEBD8D53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93700" y="1738755"/>
            <a:ext cx="9448800" cy="249149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7200"/>
              <a:t>KairosAI 中核命題</a:t>
            </a:r>
          </a:p>
        </p:txBody>
      </p:sp>
      <p:sp>
        <p:nvSpPr>
          <p:cNvPr id="5" name="Subtitle 4">
            <a:extLst xmlns:a="http://schemas.openxmlformats.org/drawingml/2006/main">
              <a:ext uri="{FF2B5EF4-FFF2-40B4-BE49-F238E27FC236}">
                <a16:creationId xmlns:a16="http://schemas.microsoft.com/office/drawing/2014/main" id="{5FD18192-DA46-5723-C973-8A30A162A3C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93700" y="4789429"/>
            <a:ext cx="3568700" cy="1218417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2000"/>
              <a:t>使われる国内主導AIシステムで</a:t>
            </a:r>
          </a:p>
          <a:p xmlns:a="http://schemas.openxmlformats.org/drawingml/2006/main">
            <a:r>
              <a:rPr sz="2000"/>
              <a:t>実用データと継続能力を守る</a:t>
            </a:r>
          </a:p>
          <a:p xmlns:a="http://schemas.openxmlformats.org/drawingml/2006/main">
            <a:r>
              <a:rPr sz="2000"/>
              <a:t>v0.2 / 2026-06-22</a:t>
            </a:r>
          </a:p>
        </p:txBody>
      </p:sp>
      <p:sp>
        <p:nvSpPr>
          <p:cNvPr id="6" name="Subtitle 4">
            <a:extLst xmlns:a="http://schemas.openxmlformats.org/drawingml/2006/main">
              <a:ext uri="{FF2B5EF4-FFF2-40B4-BE49-F238E27FC236}">
                <a16:creationId xmlns:a16="http://schemas.microsoft.com/office/drawing/2014/main" id="{38267A14-2A60-F4BB-37BE-E21D050F5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99" y="392241"/>
            <a:ext cx="3578411" cy="64915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>
              <a:lnSpc>
                <a:spcPct val="90000"/>
              </a:lnSpc>
              <a:spcBef>
                <a:spcPts val="1000"/>
              </a:spcBef>
              <a:buNone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>
              <a:lnSpc>
                <a:spcPct val="90000"/>
              </a:lnSpc>
              <a:spcBef>
                <a:spcPts val="500"/>
              </a:spcBef>
              <a:buNone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>
              <a:lnSpc>
                <a:spcPct val="90000"/>
              </a:lnSpc>
              <a:spcBef>
                <a:spcPts val="500"/>
              </a:spcBef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r>
              <a:rPr sz="1800"/>
              <a:t>KAIROSAI / CORE THESIS</a:t>
            </a:r>
          </a:p>
        </p:txBody>
      </p:sp>
      <p:sp>
        <p:nvSpPr>
          <p:cNvPr id="8" name="Subtitle 4">
            <a:extLst xmlns:a="http://schemas.openxmlformats.org/drawingml/2006/main">
              <a:ext uri="{FF2B5EF4-FFF2-40B4-BE49-F238E27FC236}">
                <a16:creationId xmlns:a16="http://schemas.microsoft.com/office/drawing/2014/main" id="{7A9AD72C-F254-8F77-B9BB-AA0D9A021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92241"/>
            <a:ext cx="3911600" cy="64915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>
              <a:lnSpc>
                <a:spcPct val="90000"/>
              </a:lnSpc>
              <a:spcBef>
                <a:spcPts val="1000"/>
              </a:spcBef>
              <a:buNone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>
              <a:lnSpc>
                <a:spcPct val="90000"/>
              </a:lnSpc>
              <a:spcBef>
                <a:spcPts val="500"/>
              </a:spcBef>
              <a:buNone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>
              <a:lnSpc>
                <a:spcPct val="90000"/>
              </a:lnSpc>
              <a:spcBef>
                <a:spcPts val="500"/>
              </a:spcBef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r">
              <a:buNone/>
            </a:pPr>
            <a:r>
              <a:rPr sz="1800"/>
              <a:t>USAGE · DATA · SOVEREIGNTY</a:t>
            </a:r>
          </a:p>
        </p:txBody>
      </p:sp>
    </p:spTree>
    <p:extLst>
      <p:ext uri="{BB962C8B-B14F-4D97-AF65-F5344CB8AC3E}">
        <p14:creationId xmlns:p14="http://schemas.microsoft.com/office/powerpoint/2010/main" val="56324167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object 3">
            <a:extLst xmlns:a="http://schemas.openxmlformats.org/drawingml/2006/main">
              <a:ext uri="{FF2B5EF4-FFF2-40B4-BE49-F238E27FC236}">
                <a16:creationId xmlns:a16="http://schemas.microsoft.com/office/drawing/2014/main" id="{E9587ADC-D7C6-0752-CB04-90543E6E5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0900" y="0"/>
            <a:ext cx="6261100" cy="6858000"/>
          </a:xfrm>
          <a:custGeom xmlns:a="http://schemas.openxmlformats.org/drawingml/2006/main">
            <a:rect l="l" t="t" r="r" b="b"/>
            <a:pathLst>
              <a:path w="7386319" h="7475220">
                <a:moveTo>
                  <a:pt x="7385710" y="0"/>
                </a:moveTo>
                <a:lnTo>
                  <a:pt x="0" y="0"/>
                </a:lnTo>
                <a:lnTo>
                  <a:pt x="0" y="7474610"/>
                </a:lnTo>
                <a:lnTo>
                  <a:pt x="7385710" y="7474610"/>
                </a:lnTo>
                <a:lnTo>
                  <a:pt x="7385710" y="0"/>
                </a:lnTo>
                <a:close/>
              </a:path>
            </a:pathLst>
          </a:custGeom>
          <a:solidFill xmlns:a="http://schemas.openxmlformats.org/drawingml/2006/main">
            <a:srgbClr val="EDEDED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/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F0FFD4C2-91BF-62E5-3F4D-5F22CB693C50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fld id="{E2598689-54C9-18A7-3A19-ED76AA08988F}" type="slidenum">
              <a:t>2</a:t>
            </a:fld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76B53431-A5A3-DBCC-DDCF-BA4B5ED509B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5537200" cy="267859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rPr sz="4200"/>
              <a:t>使われない国産AIでは、</a:t>
            </a:r>
          </a:p>
          <a:p xmlns:a="http://schemas.openxmlformats.org/drawingml/2006/main">
            <a:r>
              <a:rPr sz="4200"/>
              <a:t>使われる外資AIから</a:t>
            </a:r>
          </a:p>
          <a:p xmlns:a="http://schemas.openxmlformats.org/drawingml/2006/main">
            <a:r>
              <a:rPr sz="4200"/>
              <a:t>主権を守れない。</a:t>
            </a:r>
          </a:p>
        </p:txBody>
      </p:sp>
      <p:sp>
        <p:nvSpPr>
          <p:cNvPr id="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482C0709-78B4-948D-01E2-20AD0623C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1100" y="4297107"/>
            <a:ext cx="5537200" cy="21176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buNone/>
              <a:defRPr sz="29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r>
              <a:rPr sz="4200"/>
              <a:t>実用性で使われ、使うほど</a:t>
            </a:r>
          </a:p>
          <a:p xmlns:a="http://schemas.openxmlformats.org/drawingml/2006/main">
            <a:r>
              <a:rPr sz="4200"/>
              <a:t>改善主権と継続能力を</a:t>
            </a:r>
          </a:p>
          <a:p xmlns:a="http://schemas.openxmlformats.org/drawingml/2006/main">
            <a:r>
              <a:rPr sz="4200"/>
              <a:t>国内に蓄積する。</a:t>
            </a:r>
          </a:p>
        </p:txBody>
      </p:sp>
    </p:spTree>
    <p:extLst>
      <p:ext uri="{BB962C8B-B14F-4D97-AF65-F5344CB8AC3E}">
        <p14:creationId xmlns:p14="http://schemas.microsoft.com/office/powerpoint/2010/main" val="393152691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CCCB27A2-1D9F-6514-0821-C7CC3F67552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fld id="{202359C0-8A7A-196E-DD58-8E6569619F09}" type="slidenum">
              <a:t>3</a:t>
            </a:fld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3FD2F4B0-1B4E-4F78-8608-85E7ADD9074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9448800" cy="366919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rPr sz="4800"/>
              <a:t>守るべきものは、保存場所でも「国産モデル」の看板でもない。</a:t>
            </a:r>
          </a:p>
          <a:p xmlns:a="http://schemas.openxmlformats.org/drawingml/2006/main">
            <a:r>
              <a:rPr sz="4800"/>
              <a:t>現場利用から生まれる実用的な学習資産と、日本側の意思で改善を続ける能力である。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8B4C5563-C118-E2D4-2A1A-F84171FF9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953" y="3365501"/>
            <a:ext cx="3568700" cy="26289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87EC77EB-07E7-2818-9132-6416EC5EF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65501"/>
            <a:ext cx="3568700" cy="26289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14F9DBD7-0427-326B-17D5-5DD215C44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821" y="4146160"/>
            <a:ext cx="2949339" cy="143287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使われること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現場で価値を出し、継続して利用される。利用がなければ、実用データ・評価知識・改善要求・実ワークロードは生まれない。</a:t>
            </a:r>
          </a:p>
        </p:txBody>
      </p:sp>
      <p:sp>
        <p:nvSpPr>
          <p:cNvPr id="13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A81FFF27-06E1-B925-B772-E8C07A029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6094" y="4146160"/>
            <a:ext cx="2949339" cy="143287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国内側が制御すること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重要な意思決定、権利、更新経路、実行、移行、供給継続を国内側が制御する。利用増とともに構造的依存を深めない。</a:t>
            </a:r>
          </a:p>
        </p:txBody>
      </p:sp>
      <p:sp>
        <p:nvSpPr>
          <p:cNvPr id="14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D182FC54-B4D0-2FD9-7909-F4321F701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7645" y="3694101"/>
            <a:ext cx="233806" cy="233717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12304657-C94E-6AEC-95B3-FF04FD52D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3270" y="3694102"/>
            <a:ext cx="233806" cy="233717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156618307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DCDD464D-3316-879D-91C3-30E54491AD1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FD6AB9A-5F9E-5F59-51AB-3C8734130965}" type="slidenum">
              <a:t>4</a:t>
            </a:fld>
          </a:p>
        </p:txBody>
      </p:sp>
      <p:sp>
        <p:nvSpPr>
          <p:cNvPr id="11" name="Title 10">
            <a:extLst xmlns:a="http://schemas.openxmlformats.org/drawingml/2006/main">
              <a:ext uri="{FF2B5EF4-FFF2-40B4-BE49-F238E27FC236}">
                <a16:creationId xmlns:a16="http://schemas.microsoft.com/office/drawing/2014/main" id="{8D39B68E-326B-DDEB-2069-B8BB0D01F04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5534180" cy="104749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「国内主導」を定義する</a:t>
            </a: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29B30B4D-AB5C-65DB-5658-753508EB3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032000"/>
            <a:ext cx="2581975" cy="2656541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" name="Rounded Rectangle 1">
            <a:extLst xmlns:a="http://schemas.openxmlformats.org/drawingml/2006/main">
              <a:ext uri="{FF2B5EF4-FFF2-40B4-BE49-F238E27FC236}">
                <a16:creationId xmlns:a16="http://schemas.microsoft.com/office/drawing/2014/main" id="{2F75E60C-F9D7-0EB1-DB87-30BB4B887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85955"/>
            <a:ext cx="12192000" cy="14859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48F23094-2741-BF93-9618-593A39D42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052" y="2251890"/>
            <a:ext cx="2133315" cy="90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500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決定</a:t>
            </a:r>
          </a:p>
        </p:txBody>
      </p:sp>
      <p:sp>
        <p:nvSpPr>
          <p:cNvPr id="16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D63831D1-6AB6-9FDC-DF3D-910C1C60EA7D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697670" y="3740150"/>
            <a:ext cx="2066698" cy="61595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何を学習・評価・配備・停止するかを国内側が決められる</a:t>
            </a:r>
          </a:p>
        </p:txBody>
      </p:sp>
      <p:sp>
        <p:nvSpPr>
          <p:cNvPr id="34" name="Rounded Rectangle 33">
            <a:extLst xmlns:a="http://schemas.openxmlformats.org/drawingml/2006/main">
              <a:ext uri="{FF2B5EF4-FFF2-40B4-BE49-F238E27FC236}">
                <a16:creationId xmlns:a16="http://schemas.microsoft.com/office/drawing/2014/main" id="{D0C74EF0-61EA-0AD2-19B0-75CAAA4B8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5905" y="2032000"/>
            <a:ext cx="2581975" cy="2656541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5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6130B530-1157-40A3-0161-21ADDD16D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3257" y="2251890"/>
            <a:ext cx="2133315" cy="90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500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実行</a:t>
            </a:r>
          </a:p>
        </p:txBody>
      </p:sp>
      <p:sp>
        <p:nvSpPr>
          <p:cNvPr id="36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7DE51176-FC24-C3CB-45B8-8EA48AFAF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9875" y="3740150"/>
            <a:ext cx="2066698" cy="615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外部事業者の個別承認を待たず、国内側で決定を実行できる</a:t>
            </a:r>
          </a:p>
        </p:txBody>
      </p:sp>
      <p:sp>
        <p:nvSpPr>
          <p:cNvPr id="37" name="Rounded Rectangle 36">
            <a:extLst xmlns:a="http://schemas.openxmlformats.org/drawingml/2006/main">
              <a:ext uri="{FF2B5EF4-FFF2-40B4-BE49-F238E27FC236}">
                <a16:creationId xmlns:a16="http://schemas.microsoft.com/office/drawing/2014/main" id="{B5992B1D-5E0E-664C-375F-216AFC12E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1986" y="2032000"/>
            <a:ext cx="2581975" cy="2656541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8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54A023A6-B45F-0FFE-0391-DBB435439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9338" y="2251890"/>
            <a:ext cx="2133315" cy="90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500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移行</a:t>
            </a:r>
          </a:p>
        </p:txBody>
      </p:sp>
      <p:sp>
        <p:nvSpPr>
          <p:cNvPr id="39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5E890D67-9D53-7808-5E55-E05F92307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5956" y="3740150"/>
            <a:ext cx="2066698" cy="615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データ・モデル・評価・業務ロジックを別実装へ移せる</a:t>
            </a:r>
          </a:p>
        </p:txBody>
      </p:sp>
      <p:sp>
        <p:nvSpPr>
          <p:cNvPr id="40" name="Rounded Rectangle 39">
            <a:extLst xmlns:a="http://schemas.openxmlformats.org/drawingml/2006/main">
              <a:ext uri="{FF2B5EF4-FFF2-40B4-BE49-F238E27FC236}">
                <a16:creationId xmlns:a16="http://schemas.microsoft.com/office/drawing/2014/main" id="{DEE6595D-2709-1F7C-8B9A-47164A9A4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4191" y="2032000"/>
            <a:ext cx="2581975" cy="2656541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1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0DD8DA38-D646-1FA9-28D4-71AFE0F87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1543" y="2251890"/>
            <a:ext cx="2133315" cy="90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500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継続</a:t>
            </a:r>
          </a:p>
        </p:txBody>
      </p:sp>
      <p:sp>
        <p:nvSpPr>
          <p:cNvPr id="42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5D7CE5C2-7A4C-5B39-AEB6-25510E71F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8161" y="3740150"/>
            <a:ext cx="2066698" cy="615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API停止・契約終了・輸出管理・供給障害時にも重要業務を続けられる</a:t>
            </a:r>
          </a:p>
        </p:txBody>
      </p:sp>
      <p:sp>
        <p:nvSpPr>
          <p:cNvPr id="4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21B19CD8-2634-6048-888D-54374B2A6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1100" y="400899"/>
            <a:ext cx="5539873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部品の国籍を揃えることではなく、国内法域の主体が契約上・技術上、この四条件を満たせる状態。</a:t>
            </a:r>
          </a:p>
        </p:txBody>
      </p:sp>
    </p:spTree>
    <p:extLst>
      <p:ext uri="{BB962C8B-B14F-4D97-AF65-F5344CB8AC3E}">
        <p14:creationId xmlns:p14="http://schemas.microsoft.com/office/powerpoint/2010/main" val="413499907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52A30403-4B2D-2E15-7A2F-51A6DF6BE5D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fld id="{EE5B3003-2C54-13C6-9832-7637201064DE}" type="slidenum">
              <a:t>5</a:t>
            </a:fld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0A2BB6CD-1085-4638-68F3-7000FD29EA0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9"/>
            <a:ext cx="7835900" cy="58158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部品国籍と主権を混同しない</a:t>
            </a:r>
          </a:p>
        </p:txBody>
      </p:sp>
      <p:sp>
        <p:nvSpPr>
          <p:cNvPr id="2" name="Rounded Rectangle 1">
            <a:extLst xmlns:a="http://schemas.openxmlformats.org/drawingml/2006/main">
              <a:ext uri="{FF2B5EF4-FFF2-40B4-BE49-F238E27FC236}">
                <a16:creationId xmlns:a16="http://schemas.microsoft.com/office/drawing/2014/main" id="{390FBCE0-CCE2-0D7F-19D7-0DA59E2FB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013" y="3025321"/>
            <a:ext cx="5533887" cy="1320801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31291836-42DE-4BA2-7C66-683137F11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48" y="3274205"/>
            <a:ext cx="4986886" cy="8777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外部技術を使ってよい</a:t>
            </a:r>
          </a:p>
        </p:txBody>
      </p:sp>
      <p:sp>
        <p:nvSpPr>
          <p:cNvPr id="4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3D399E38-72C8-159B-DE08-FC689A75B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48" y="4514850"/>
            <a:ext cx="5236652" cy="977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28600" indent="-2286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har char="•"/>
            </a:pPr>
            <a:r>
              <a:rPr sz="14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• OSS、海外GPU、海外ファウンドリ、既存ツールを利用可能</a:t>
            </a:r>
          </a:p>
          <a:p xmlns:a="http://schemas.openxmlformats.org/drawingml/2006/main">
            <a:pPr marL="228600" indent="-2286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har char="•"/>
            </a:pPr>
            <a:r>
              <a:rPr sz="14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• 四条件を満たす限り、立ち上げ段階で矛盾しない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5E1586E9-BDFD-E84E-20C0-875E339DC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0785" y="3025321"/>
            <a:ext cx="5533887" cy="1320801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BDE93465-12EE-49A8-048B-A3C97C2DF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20" y="3274205"/>
            <a:ext cx="4986886" cy="8777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国内企業でも不十分になりうる</a:t>
            </a:r>
          </a:p>
        </p:txBody>
      </p:sp>
      <p:sp>
        <p:nvSpPr>
          <p:cNvPr id="13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0F1EA821-AA26-C1FC-F948-D100ABDE2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20" y="4514850"/>
            <a:ext cx="5236652" cy="977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28600" indent="-2286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har char="•"/>
            </a:pPr>
            <a:r>
              <a:rPr sz="14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• 顧客が移行・停止・監査できない</a:t>
            </a:r>
          </a:p>
          <a:p xmlns:a="http://schemas.openxmlformats.org/drawingml/2006/main">
            <a:pPr marL="228600" indent="-2286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har char="•"/>
            </a:pPr>
            <a:r>
              <a:rPr sz="14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• 単一事業者へ不可逆に依存するなら、十分に主権的ではない</a:t>
            </a:r>
          </a:p>
        </p:txBody>
      </p:sp>
      <p:sp>
        <p:nvSpPr>
          <p:cNvPr id="14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53566714-9098-3B48-6D62-954DC695F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39" y="1157513"/>
            <a:ext cx="11404599" cy="16292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800">
                <a:solidFill>
                  <a:prstClr val="black"/>
                </a:solidFill>
                <a:latin typeface="Helvetica Neue Medium"/>
                <a:ea typeface="Helvetica Neue Medium"/>
                <a:cs typeface="Helvetica Neue Medium"/>
              </a:rPr>
              <a:t>国内主導の判定軸は、国籍ではなく制御権・可逆性・継続性。</a:t>
            </a:r>
          </a:p>
        </p:txBody>
      </p:sp>
      <p:sp>
        <p:nvSpPr>
          <p:cNvPr id="26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E7F409CA-A992-D5A3-DF49-49CFA53E4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39" y="5617936"/>
            <a:ext cx="11404599" cy="529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オンプレや国内企業という形式だけではなく、顧客側の実質的な選択肢が残るかを問う。</a:t>
            </a:r>
          </a:p>
        </p:txBody>
      </p:sp>
    </p:spTree>
    <p:extLst>
      <p:ext uri="{BB962C8B-B14F-4D97-AF65-F5344CB8AC3E}">
        <p14:creationId xmlns:p14="http://schemas.microsoft.com/office/powerpoint/2010/main" val="346245865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4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5E6F3576-FAD9-7780-1390-E4CCDDDDF4C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391832"/>
            <a:ext cx="3568700" cy="36025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solidFill>
                  <a:prstClr val="black"/>
                </a:solidFill>
                <a:latin typeface="Helvetica Neue Medium"/>
                <a:ea typeface="Helvetica Neue Medium"/>
                <a:cs typeface="Helvetica Neue Medium"/>
              </a:rPr>
              <a:t>01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solidFill>
                  <a:prstClr val="black"/>
                </a:solidFill>
                <a:latin typeface="Helvetica Neue Medium"/>
                <a:ea typeface="Helvetica Neue Medium"/>
                <a:cs typeface="Helvetica Neue Medium"/>
              </a:rPr>
              <a:t>確認済み事実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一次資料、契約、製品仕様、実測値で確認できるもの。</a:t>
            </a:r>
          </a:p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外資製品の権利構造や学習利用を、未確認のまま断定しない。</a:t>
            </a:r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DBEA618B-866F-6F23-43A9-78F2D312787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fld id="{8C630A04-5A25-9E0C-9436-126091DB86B3}" type="slidenum">
              <a:t>6</a:t>
            </a:fld>
          </a:p>
        </p:txBody>
      </p:sp>
      <p:sp>
        <p:nvSpPr>
          <p:cNvPr id="2" name="Content Placeholder 1">
            <a:extLst xmlns:a="http://schemas.openxmlformats.org/drawingml/2006/main">
              <a:ext uri="{FF2B5EF4-FFF2-40B4-BE49-F238E27FC236}">
                <a16:creationId xmlns:a16="http://schemas.microsoft.com/office/drawing/2014/main" id="{7ED2788F-D3A7-1987-7296-9AC0BE2A1D11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4318000" y="2374900"/>
            <a:ext cx="3568700" cy="3619500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 Medium"/>
                <a:ea typeface="Helvetica Neue Medium"/>
                <a:cs typeface="Helvetica Neue Medium"/>
              </a:rPr>
              <a:t>02</a:t>
            </a:r>
          </a:p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 Medium"/>
                <a:ea typeface="Helvetica Neue Medium"/>
                <a:cs typeface="Helvetica Neue Medium"/>
              </a:rPr>
              <a:t>設計仮説</a:t>
            </a:r>
          </a:p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sz="16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228600" indent="-22860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har char="•"/>
            </a:pPr>
            <a:r>
              <a:rPr sz="16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Pilotや技術検証によって確認すべきもの。</a:t>
            </a:r>
          </a:p>
          <a:p xmlns:a="http://schemas.openxmlformats.org/drawingml/2006/main">
            <a:pPr marL="228600" indent="-22860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har char="•"/>
            </a:pPr>
            <a:r>
              <a:rPr sz="16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228600" indent="-22860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har char="•"/>
            </a:pPr>
            <a:r>
              <a:rPr sz="16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性能、ROI、移行性、改善速度などは検証ゲートを置く。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0AB3D00A-6146-FC12-E7D6-0A4E6D490B4A}"/>
              </a:ext>
            </a:extLst>
          </p:cNvPr>
          <p:cNvSpPr>
            <a:spLocks xmlns:a="http://schemas.openxmlformats.org/drawingml/2006/main" noGrp="1"/>
          </p:cNvSpPr>
          <p:nvPr>
            <p:ph idx="11"/>
          </p:nvPr>
        </p:nvSpPr>
        <p:spPr>
          <a:xfrm xmlns:a="http://schemas.openxmlformats.org/drawingml/2006/main">
            <a:off x="8232273" y="2374900"/>
            <a:ext cx="3568700" cy="3619500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 Medium"/>
                <a:ea typeface="Helvetica Neue Medium"/>
                <a:cs typeface="Helvetica Neue Medium"/>
              </a:rPr>
              <a:t>03</a:t>
            </a:r>
          </a:p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 Medium"/>
                <a:ea typeface="Helvetica Neue Medium"/>
                <a:cs typeface="Helvetica Neue Medium"/>
              </a:rPr>
              <a:t>戦略的推論</a:t>
            </a:r>
          </a:p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sz="16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228600" indent="-22860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har char="•"/>
            </a:pPr>
            <a:r>
              <a:rPr sz="16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確認済み事実からKairosAIが導く政策・事業上の判断。</a:t>
            </a:r>
          </a:p>
          <a:p xmlns:a="http://schemas.openxmlformats.org/drawingml/2006/main">
            <a:pPr marL="228600" indent="-22860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har char="•"/>
            </a:pPr>
            <a:r>
              <a:rPr sz="16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228600" indent="-22860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har char="•"/>
            </a:pPr>
            <a:r>
              <a:rPr sz="16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外部資料が直接支持する範囲と分けて示す。</a:t>
            </a:r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24C70FFE-9D4B-9EEB-4231-9B1B74B40AF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事実・仮説・推論を分ける</a:t>
            </a:r>
          </a:p>
        </p:txBody>
      </p:sp>
    </p:spTree>
    <p:extLst>
      <p:ext uri="{BB962C8B-B14F-4D97-AF65-F5344CB8AC3E}">
        <p14:creationId xmlns:p14="http://schemas.microsoft.com/office/powerpoint/2010/main" val="2966171638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object 3">
            <a:extLst xmlns:a="http://schemas.openxmlformats.org/drawingml/2006/main">
              <a:ext uri="{FF2B5EF4-FFF2-40B4-BE49-F238E27FC236}">
                <a16:creationId xmlns:a16="http://schemas.microsoft.com/office/drawing/2014/main" id="{E9587ADC-D7C6-0752-CB04-90543E6E5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0900" y="0"/>
            <a:ext cx="6261100" cy="6858000"/>
          </a:xfrm>
          <a:custGeom xmlns:a="http://schemas.openxmlformats.org/drawingml/2006/main">
            <a:rect l="l" t="t" r="r" b="b"/>
            <a:pathLst>
              <a:path w="7386319" h="7475220">
                <a:moveTo>
                  <a:pt x="7385710" y="0"/>
                </a:moveTo>
                <a:lnTo>
                  <a:pt x="0" y="0"/>
                </a:lnTo>
                <a:lnTo>
                  <a:pt x="0" y="7474610"/>
                </a:lnTo>
                <a:lnTo>
                  <a:pt x="7385710" y="7474610"/>
                </a:lnTo>
                <a:lnTo>
                  <a:pt x="7385710" y="0"/>
                </a:lnTo>
                <a:close/>
              </a:path>
            </a:pathLst>
          </a:custGeom>
          <a:solidFill xmlns:a="http://schemas.openxmlformats.org/drawingml/2006/main">
            <a:srgbClr val="EDEDED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/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F0FFD4C2-91BF-62E5-3F4D-5F22CB693C50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fld id="{D3D7D1C8-AE23-AA48-DF65-C742588DBE47}" type="slidenum">
              <a:t>7</a:t>
            </a:fld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76B53431-A5A3-DBCC-DDCF-BA4B5ED509B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5537200" cy="267859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rPr sz="4200"/>
              <a:t>最大のリスクは、</a:t>
            </a:r>
          </a:p>
          <a:p xmlns:a="http://schemas.openxmlformats.org/drawingml/2006/main">
            <a:r>
              <a:rPr sz="4200"/>
              <a:t>外資AIが存在することではない。</a:t>
            </a:r>
          </a:p>
        </p:txBody>
      </p:sp>
      <p:sp>
        <p:nvSpPr>
          <p:cNvPr id="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482C0709-78B4-948D-01E2-20AD0623C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1100" y="4297107"/>
            <a:ext cx="5537200" cy="21176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buNone/>
              <a:defRPr sz="29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r>
              <a:rPr sz="4200"/>
              <a:t>日本の重点領域で、</a:t>
            </a:r>
          </a:p>
          <a:p xmlns:a="http://schemas.openxmlformats.org/drawingml/2006/main">
            <a:r>
              <a:rPr sz="4200"/>
              <a:t>最終決定権を</a:t>
            </a:r>
          </a:p>
          <a:p xmlns:a="http://schemas.openxmlformats.org/drawingml/2006/main">
            <a:r>
              <a:rPr sz="4200"/>
              <a:t>失うことだ。</a:t>
            </a:r>
          </a:p>
        </p:txBody>
      </p:sp>
    </p:spTree>
    <p:extLst>
      <p:ext uri="{BB962C8B-B14F-4D97-AF65-F5344CB8AC3E}">
        <p14:creationId xmlns:p14="http://schemas.microsoft.com/office/powerpoint/2010/main" val="3931526918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4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73983F85-E2E7-5016-FA2B-D1CE29449182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>1｜中心資産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>現場利用から生まれる実用的な学習資産と改善能力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>2｜最大の脅威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>国籍ではなく、重要AIの最終コントロール喪失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>3｜主権の尺度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>評価・更新・実行・移行・継続の権利と能力</a:t>
            </a:r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1BCBE750-7048-686D-1472-52C53362D6C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fld id="{BA58DA2A-B818-18A9-29C1-B697728D5BCE}" type="slidenum">
              <a:t>8</a:t>
            </a:fld>
          </a:p>
        </p:txBody>
      </p:sp>
      <p:sp>
        <p:nvSpPr>
          <p:cNvPr id="2" name="Content Placeholder 1">
            <a:extLst xmlns:a="http://schemas.openxmlformats.org/drawingml/2006/main">
              <a:ext uri="{FF2B5EF4-FFF2-40B4-BE49-F238E27FC236}">
                <a16:creationId xmlns:a16="http://schemas.microsoft.com/office/drawing/2014/main" id="{336409A4-E296-79C0-A5A6-B0CD8EB393CA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/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4｜対抗手段</a:t>
            </a:r>
          </a:p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利用起点でモデル、実行基盤、計算、ソフト、供給網を育てる</a:t>
            </a:r>
          </a:p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5｜計算基盤</a:t>
            </a:r>
          </a:p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高効率・低消費電力のAI専用計算基盤は非オプション</a:t>
            </a:r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B5D55CD-1C17-7CD8-F26A-2DD65B0676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中核命題を支える5つの要点</a:t>
            </a:r>
          </a:p>
        </p:txBody>
      </p:sp>
    </p:spTree>
    <p:extLst>
      <p:ext uri="{BB962C8B-B14F-4D97-AF65-F5344CB8AC3E}">
        <p14:creationId xmlns:p14="http://schemas.microsoft.com/office/powerpoint/2010/main" val="3667182145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4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73983F85-E2E7-5016-FA2B-D1CE29449182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>1｜どの状態で、どの判断を行ったか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>2｜専門家が何を修正したか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>3｜何が承認・棄却されたか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>4｜実行後にどの状態遷移が起きたか</a:t>
            </a:r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1BCBE750-7048-686D-1472-52C53362D6C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fld id="{388657AE-30A1-5A7A-6A7F-315D84436430}" type="slidenum">
              <a:t>9</a:t>
            </a:fld>
          </a:p>
        </p:txBody>
      </p:sp>
      <p:sp>
        <p:nvSpPr>
          <p:cNvPr id="2" name="Content Placeholder 1">
            <a:extLst xmlns:a="http://schemas.openxmlformats.org/drawingml/2006/main">
              <a:ext uri="{FF2B5EF4-FFF2-40B4-BE49-F238E27FC236}">
                <a16:creationId xmlns:a16="http://schemas.microsoft.com/office/drawing/2014/main" id="{336409A4-E296-79C0-A5A6-B0CD8EB393CA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/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5｜成功・失敗・事故・停止の条件</a:t>
            </a:r>
          </a:p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6｜関与したモデル、データ、policy、権限</a:t>
            </a:r>
          </a:p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7｜成果、損失回避、時間、電力効率の変化</a:t>
            </a:r>
          </a:p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8｜実装別の遅延・電力・メモリ・コスト</a:t>
            </a:r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B5D55CD-1C17-7CD8-F26A-2DD65B0676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現場利用からしか生まれない実用資産</a:t>
            </a:r>
          </a:p>
        </p:txBody>
      </p:sp>
    </p:spTree>
    <p:extLst>
      <p:ext uri="{BB962C8B-B14F-4D97-AF65-F5344CB8AC3E}">
        <p14:creationId xmlns:p14="http://schemas.microsoft.com/office/powerpoint/2010/main" val="3667182145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69A7B84F-6F74-164C-037A-8CB20BDDFE1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fld id="{DB7BEEEC-A170-5376-2B6E-CB54687B0CB1}" type="slidenum">
              <a:t>10</a:t>
            </a:fld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E3D44A9C-8B13-1683-4B06-D873237D1D1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35687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学習資産の6条件</a:t>
            </a:r>
          </a:p>
        </p:txBody>
      </p:sp>
      <p:sp>
        <p:nvSpPr>
          <p:cNvPr id="10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047BF48D-F983-118D-D2F7-E43AACA9F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2445" y="393701"/>
            <a:ext cx="5505855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判断と実行結果が対応づいている</a:t>
            </a:r>
          </a:p>
        </p:txBody>
      </p:sp>
      <p:sp>
        <p:nvSpPr>
          <p:cNvPr id="2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AF6A488A-017C-2F49-A724-CF4366590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245" y="393701"/>
            <a:ext cx="1784755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 Medium"/>
                <a:ea typeface="Helvetica Neue Medium"/>
                <a:cs typeface="Helvetica Neue Medium"/>
              </a:rPr>
              <a:t>対応</a:t>
            </a:r>
          </a:p>
        </p:txBody>
      </p:sp>
      <p:sp>
        <p:nvSpPr>
          <p:cNvPr id="7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59230B05-F497-DE80-839D-8A9B7CC16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2445" y="1397001"/>
            <a:ext cx="5505855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出所とmodel versionを追跡できる</a:t>
            </a:r>
          </a:p>
        </p:txBody>
      </p:sp>
      <p:sp>
        <p:nvSpPr>
          <p:cNvPr id="9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D01219A0-506D-650D-E147-5B8132027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245" y="1397001"/>
            <a:ext cx="1784755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 Medium"/>
                <a:ea typeface="Helvetica Neue Medium"/>
                <a:cs typeface="Helvetica Neue Medium"/>
              </a:rPr>
              <a:t>追跡</a:t>
            </a:r>
          </a:p>
        </p:txBody>
      </p:sp>
      <p:sp>
        <p:nvSpPr>
          <p:cNvPr id="12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F5BFF3A2-62B8-C64E-A147-B21AD9CBB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2445" y="2374901"/>
            <a:ext cx="5505855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目的・許諾・期限・削除条件が明確</a:t>
            </a:r>
          </a:p>
        </p:txBody>
      </p:sp>
      <p:sp>
        <p:nvSpPr>
          <p:cNvPr id="15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F7608A34-9B1E-8319-01AB-B013BBE67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245" y="2374901"/>
            <a:ext cx="1784755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 Medium"/>
                <a:ea typeface="Helvetica Neue Medium"/>
                <a:cs typeface="Helvetica Neue Medium"/>
              </a:rPr>
              <a:t>権利</a:t>
            </a:r>
          </a:p>
        </p:txBody>
      </p:sp>
      <p:sp>
        <p:nvSpPr>
          <p:cNvPr id="16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0845C908-26F4-26EB-1CA7-AABB89BB3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2445" y="3365501"/>
            <a:ext cx="5505855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評価可能な品質を持つ</a:t>
            </a:r>
          </a:p>
        </p:txBody>
      </p:sp>
      <p:sp>
        <p:nvSpPr>
          <p:cNvPr id="17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228D802D-D8A9-E697-144D-8E7477F29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245" y="3365501"/>
            <a:ext cx="1784755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 Medium"/>
                <a:ea typeface="Helvetica Neue Medium"/>
                <a:cs typeface="Helvetica Neue Medium"/>
              </a:rPr>
              <a:t>品質</a:t>
            </a:r>
          </a:p>
        </p:txBody>
      </p:sp>
      <p:sp>
        <p:nvSpPr>
          <p:cNvPr id="18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0CCFFBE1-F391-100C-F0AF-8B730BA0A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2445" y="4356101"/>
            <a:ext cx="5505855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重み・RAG・KG・adapter・ルールの配置を判断できる</a:t>
            </a:r>
          </a:p>
        </p:txBody>
      </p:sp>
      <p:sp>
        <p:nvSpPr>
          <p:cNvPr id="19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BDD61A53-13D8-0ED5-E0A9-5CB7D8718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245" y="4356101"/>
            <a:ext cx="1784755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 Medium"/>
                <a:ea typeface="Helvetica Neue Medium"/>
                <a:cs typeface="Helvetica Neue Medium"/>
              </a:rPr>
              <a:t>配置</a:t>
            </a:r>
          </a:p>
        </p:txBody>
      </p:sp>
      <p:sp>
        <p:nvSpPr>
          <p:cNvPr id="20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8FDE77B0-FFF1-E69E-8C9B-D6E2B9870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2445" y="5359401"/>
            <a:ext cx="5505855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安全に配備し、停止・rollbackできる</a:t>
            </a:r>
          </a:p>
        </p:txBody>
      </p:sp>
      <p:sp>
        <p:nvSpPr>
          <p:cNvPr id="21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5657569D-FC7C-5C9F-EA43-E13413EF7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245" y="5359401"/>
            <a:ext cx="1784755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 Medium"/>
                <a:ea typeface="Helvetica Neue Medium"/>
                <a:cs typeface="Helvetica Neue Medium"/>
              </a:rPr>
              <a:t>再配備</a:t>
            </a:r>
          </a:p>
        </p:txBody>
      </p:sp>
    </p:spTree>
    <p:extLst>
      <p:ext uri="{BB962C8B-B14F-4D97-AF65-F5344CB8AC3E}">
        <p14:creationId xmlns:p14="http://schemas.microsoft.com/office/powerpoint/2010/main" val="3081640303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69A7B84F-6F74-164C-037A-8CB20BDDFE1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fld id="{30394428-F1DC-E5F6-DB0C-7DE31F3D8A23}" type="slidenum">
              <a:t>11</a:t>
            </a:fld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E3D44A9C-8B13-1683-4B06-D873237D1D1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35687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改善主権の循環</a:t>
            </a:r>
          </a:p>
        </p:txBody>
      </p:sp>
      <p:sp>
        <p:nvSpPr>
          <p:cNvPr id="10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047BF48D-F983-118D-D2F7-E43AACA9F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2445" y="393701"/>
            <a:ext cx="5505855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重点業務で価値を出し、継続利用される</a:t>
            </a:r>
          </a:p>
        </p:txBody>
      </p:sp>
      <p:sp>
        <p:nvSpPr>
          <p:cNvPr id="2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AF6A488A-017C-2F49-A724-CF4366590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245" y="393701"/>
            <a:ext cx="1784755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 Medium"/>
                <a:ea typeface="Helvetica Neue Medium"/>
                <a:cs typeface="Helvetica Neue Medium"/>
              </a:rPr>
              <a:t>利用</a:t>
            </a:r>
          </a:p>
        </p:txBody>
      </p:sp>
      <p:sp>
        <p:nvSpPr>
          <p:cNvPr id="7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59230B05-F497-DE80-839D-8A9B7CC16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2445" y="1397001"/>
            <a:ext cx="5505855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判断・修正・実行結果を対応づける</a:t>
            </a:r>
          </a:p>
        </p:txBody>
      </p:sp>
      <p:sp>
        <p:nvSpPr>
          <p:cNvPr id="9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D01219A0-506D-650D-E147-5B8132027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245" y="1397001"/>
            <a:ext cx="1784755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 Medium"/>
                <a:ea typeface="Helvetica Neue Medium"/>
                <a:cs typeface="Helvetica Neue Medium"/>
              </a:rPr>
              <a:t>捕捉</a:t>
            </a:r>
          </a:p>
        </p:txBody>
      </p:sp>
      <p:sp>
        <p:nvSpPr>
          <p:cNvPr id="12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F5BFF3A2-62B8-C64E-A147-B21AD9CBB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2445" y="2374901"/>
            <a:ext cx="5505855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権利・品質・来歴を確認する</a:t>
            </a:r>
          </a:p>
        </p:txBody>
      </p:sp>
      <p:sp>
        <p:nvSpPr>
          <p:cNvPr id="15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F7608A34-9B1E-8319-01AB-B013BBE67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245" y="2374901"/>
            <a:ext cx="1784755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 Medium"/>
                <a:ea typeface="Helvetica Neue Medium"/>
                <a:cs typeface="Helvetica Neue Medium"/>
              </a:rPr>
              <a:t>判定</a:t>
            </a:r>
          </a:p>
        </p:txBody>
      </p:sp>
      <p:sp>
        <p:nvSpPr>
          <p:cNvPr id="16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0845C908-26F4-26EB-1CA7-AABB89BB3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2445" y="3365501"/>
            <a:ext cx="5505855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評価し、知識配置・学習・業務設計を改善する</a:t>
            </a:r>
          </a:p>
        </p:txBody>
      </p:sp>
      <p:sp>
        <p:nvSpPr>
          <p:cNvPr id="17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228D802D-D8A9-E697-144D-8E7477F29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245" y="3365501"/>
            <a:ext cx="1784755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 Medium"/>
                <a:ea typeface="Helvetica Neue Medium"/>
                <a:cs typeface="Helvetica Neue Medium"/>
              </a:rPr>
              <a:t>改善</a:t>
            </a:r>
          </a:p>
        </p:txBody>
      </p:sp>
      <p:sp>
        <p:nvSpPr>
          <p:cNvPr id="18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0CCFFBE1-F391-100C-F0AF-8B730BA0A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2445" y="4356101"/>
            <a:ext cx="5505855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安全に配備し、停止・rollback可能にする</a:t>
            </a:r>
          </a:p>
        </p:txBody>
      </p:sp>
      <p:sp>
        <p:nvSpPr>
          <p:cNvPr id="19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BDD61A53-13D8-0ED5-E0A9-5CB7D8718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245" y="4356101"/>
            <a:ext cx="1784755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 Medium"/>
                <a:ea typeface="Helvetica Neue Medium"/>
                <a:cs typeface="Helvetica Neue Medium"/>
              </a:rPr>
              <a:t>再配備</a:t>
            </a:r>
          </a:p>
        </p:txBody>
      </p:sp>
      <p:sp>
        <p:nvSpPr>
          <p:cNvPr id="20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8FDE77B0-FFF1-E69E-8C9B-D6E2B9870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2445" y="5359401"/>
            <a:ext cx="5505855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新たな利用へ戻し、循環を強くする</a:t>
            </a:r>
          </a:p>
        </p:txBody>
      </p:sp>
      <p:sp>
        <p:nvSpPr>
          <p:cNvPr id="21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5657569D-FC7C-5C9F-EA43-E13413EF7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245" y="5359401"/>
            <a:ext cx="1784755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 Medium"/>
                <a:ea typeface="Helvetica Neue Medium"/>
                <a:cs typeface="Helvetica Neue Medium"/>
              </a:rPr>
              <a:t>再利用</a:t>
            </a:r>
          </a:p>
        </p:txBody>
      </p:sp>
    </p:spTree>
    <p:extLst>
      <p:ext uri="{BB962C8B-B14F-4D97-AF65-F5344CB8AC3E}">
        <p14:creationId xmlns:p14="http://schemas.microsoft.com/office/powerpoint/2010/main" val="3081640303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CCCB27A2-1D9F-6514-0821-C7CC3F67552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fld id="{4DB16885-0D3F-A391-B669-3211DB3B26E8}" type="slidenum">
              <a:t>12</a:t>
            </a:fld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3FD2F4B0-1B4E-4F78-8608-85E7ADD9074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9448800" cy="366919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rPr sz="4800"/>
              <a:t>この連鎖を維持する能力を「改善主権」と呼ぶ。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8B4C5563-C118-E2D4-2A1A-F84171FF9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953" y="3365501"/>
            <a:ext cx="3568700" cy="26289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87EC77EB-07E7-2818-9132-6416EC5EF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65501"/>
            <a:ext cx="3568700" cy="26289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14F9DBD7-0427-326B-17D5-5DD215C44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821" y="4146160"/>
            <a:ext cx="2949339" cy="143287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従来の学習・更新主権を拡張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学習と更新だけでなく、評価、知識配置、配備、停止、移行まで含む。</a:t>
            </a:r>
          </a:p>
        </p:txBody>
      </p:sp>
      <p:sp>
        <p:nvSpPr>
          <p:cNvPr id="13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A81FFF27-06E1-B925-B772-E8C07A029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6094" y="4146160"/>
            <a:ext cx="2949339" cy="143287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国内側の意思で循環を回す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外部事業者の個別承認や単一実装に依存せず、安全に改善を継続する。</a:t>
            </a:r>
          </a:p>
        </p:txBody>
      </p:sp>
      <p:sp>
        <p:nvSpPr>
          <p:cNvPr id="14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D182FC54-B4D0-2FD9-7909-F4321F701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7645" y="3694101"/>
            <a:ext cx="233806" cy="233717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12304657-C94E-6AEC-95B3-FF04FD52D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3270" y="3694102"/>
            <a:ext cx="233806" cy="233717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1566183075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4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73983F85-E2E7-5016-FA2B-D1CE29449182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>1｜製品依存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>API、価格、地域、support、機能廃止を外部が決定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>2｜知識依存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>評価・運用・障害対応が製品固有化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>3｜業務依存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>業務フロー・データ形式が固有化</a:t>
            </a:r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1BCBE750-7048-686D-1472-52C53362D6C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fld id="{2DD23107-4986-8758-3A93-3D74F35908CC}" type="slidenum">
              <a:t>13</a:t>
            </a:fld>
          </a:p>
        </p:txBody>
      </p:sp>
      <p:sp>
        <p:nvSpPr>
          <p:cNvPr id="2" name="Content Placeholder 1">
            <a:extLst xmlns:a="http://schemas.openxmlformats.org/drawingml/2006/main">
              <a:ext uri="{FF2B5EF4-FFF2-40B4-BE49-F238E27FC236}">
                <a16:creationId xmlns:a16="http://schemas.microsoft.com/office/drawing/2014/main" id="{336409A4-E296-79C0-A5A6-B0CD8EB393CA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/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4｜供給依存</a:t>
            </a:r>
          </a:p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API、GPU、部品、licenseが止まると継続不能</a:t>
            </a:r>
          </a:p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5｜更新依存</a:t>
            </a:r>
          </a:p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モデル、基盤SW、Ontology、policyの改変制約</a:t>
            </a:r>
          </a:p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問うべきは、改善と継続の権利・能力が国内に残るか。</a:t>
            </a:r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B5D55CD-1C17-7CD8-F26A-2DD65B0676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脅威モデルを「外資によるデータ取得」に狭めない</a:t>
            </a:r>
          </a:p>
        </p:txBody>
      </p:sp>
    </p:spTree>
    <p:extLst>
      <p:ext uri="{BB962C8B-B14F-4D97-AF65-F5344CB8AC3E}">
        <p14:creationId xmlns:p14="http://schemas.microsoft.com/office/powerpoint/2010/main" val="3667182145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4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73983F85-E2E7-5016-FA2B-D1CE29449182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>1｜誰が基盤ソフトの更新方針を決めるか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>2｜誰が顧客モデルを学習・評価・配備・停止できるか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>3｜データ、モデル、評価、業務ロジックを代替基盤へ移せるか</a:t>
            </a:r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1BCBE750-7048-686D-1472-52C53362D6C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fld id="{327921A4-25C4-3DB4-06B1-32693CEE2241}" type="slidenum">
              <a:t>14</a:t>
            </a:fld>
          </a:p>
        </p:txBody>
      </p:sp>
      <p:sp>
        <p:nvSpPr>
          <p:cNvPr id="2" name="Content Placeholder 1">
            <a:extLst xmlns:a="http://schemas.openxmlformats.org/drawingml/2006/main">
              <a:ext uri="{FF2B5EF4-FFF2-40B4-BE49-F238E27FC236}">
                <a16:creationId xmlns:a16="http://schemas.microsoft.com/office/drawing/2014/main" id="{336409A4-E296-79C0-A5A6-B0CD8EB393CA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/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4｜契約終了・供給停止時に、どこまで自律継続できるか</a:t>
            </a:r>
          </a:p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5｜source、設計IP、鍵、署名、監査証跡を誰が保持するか</a:t>
            </a:r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B5D55CD-1C17-7CD8-F26A-2DD65B0676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競合・構成を評価する5つの問い</a:t>
            </a:r>
          </a:p>
        </p:txBody>
      </p:sp>
    </p:spTree>
    <p:extLst>
      <p:ext uri="{BB962C8B-B14F-4D97-AF65-F5344CB8AC3E}">
        <p14:creationId xmlns:p14="http://schemas.microsoft.com/office/powerpoint/2010/main" val="3667182145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DCDD464D-3316-879D-91C3-30E54491AD1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A83FA91-883A-0168-8075-96CEB9DCA3C2}" type="slidenum">
              <a:t>15</a:t>
            </a:fld>
          </a:p>
        </p:txBody>
      </p:sp>
      <p:sp>
        <p:nvSpPr>
          <p:cNvPr id="11" name="Title 10">
            <a:extLst xmlns:a="http://schemas.openxmlformats.org/drawingml/2006/main">
              <a:ext uri="{FF2B5EF4-FFF2-40B4-BE49-F238E27FC236}">
                <a16:creationId xmlns:a16="http://schemas.microsoft.com/office/drawing/2014/main" id="{8D39B68E-326B-DDEB-2069-B8BB0D01F04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5534180" cy="104749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主権上の必須能力と、競争上の差別化は別軸</a:t>
            </a: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29B30B4D-AB5C-65DB-5658-753508EB3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032000"/>
            <a:ext cx="2581975" cy="2656541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" name="Rounded Rectangle 1">
            <a:extLst xmlns:a="http://schemas.openxmlformats.org/drawingml/2006/main">
              <a:ext uri="{FF2B5EF4-FFF2-40B4-BE49-F238E27FC236}">
                <a16:creationId xmlns:a16="http://schemas.microsoft.com/office/drawing/2014/main" id="{2F75E60C-F9D7-0EB1-DB87-30BB4B887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85955"/>
            <a:ext cx="12192000" cy="14859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48F23094-2741-BF93-9618-593A39D42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052" y="2251890"/>
            <a:ext cx="2133315" cy="90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500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利用</a:t>
            </a:r>
          </a:p>
        </p:txBody>
      </p:sp>
      <p:sp>
        <p:nvSpPr>
          <p:cNvPr id="16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D63831D1-6AB6-9FDC-DF3D-910C1C60EA7D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697670" y="3740150"/>
            <a:ext cx="2066698" cy="61595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主権：改善資産を生む前提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競争：実用性として必須</a:t>
            </a:r>
          </a:p>
        </p:txBody>
      </p:sp>
      <p:sp>
        <p:nvSpPr>
          <p:cNvPr id="34" name="Rounded Rectangle 33">
            <a:extLst xmlns:a="http://schemas.openxmlformats.org/drawingml/2006/main">
              <a:ext uri="{FF2B5EF4-FFF2-40B4-BE49-F238E27FC236}">
                <a16:creationId xmlns:a16="http://schemas.microsoft.com/office/drawing/2014/main" id="{D0C74EF0-61EA-0AD2-19B0-75CAAA4B8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5905" y="2032000"/>
            <a:ext cx="2581975" cy="2656541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5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6130B530-1157-40A3-0161-21ADDD16D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3257" y="2251890"/>
            <a:ext cx="2133315" cy="90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500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データ</a:t>
            </a:r>
          </a:p>
        </p:txBody>
      </p:sp>
      <p:sp>
        <p:nvSpPr>
          <p:cNvPr id="36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7DE51176-FC24-C3CB-45B8-8EA48AFAF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9875" y="3740150"/>
            <a:ext cx="2066698" cy="615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主権：原本・権利・来歴・削除条件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競争：保存場所だけでは非差別化</a:t>
            </a:r>
          </a:p>
        </p:txBody>
      </p:sp>
      <p:sp>
        <p:nvSpPr>
          <p:cNvPr id="37" name="Rounded Rectangle 36">
            <a:extLst xmlns:a="http://schemas.openxmlformats.org/drawingml/2006/main">
              <a:ext uri="{FF2B5EF4-FFF2-40B4-BE49-F238E27FC236}">
                <a16:creationId xmlns:a16="http://schemas.microsoft.com/office/drawing/2014/main" id="{B5992B1D-5E0E-664C-375F-216AFC12E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1986" y="2032000"/>
            <a:ext cx="2581975" cy="2656541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8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54A023A6-B45F-0FFE-0391-DBB435439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9338" y="2251890"/>
            <a:ext cx="2133315" cy="90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500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改善</a:t>
            </a:r>
          </a:p>
        </p:txBody>
      </p:sp>
      <p:sp>
        <p:nvSpPr>
          <p:cNvPr id="39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5E890D67-9D53-7808-5E55-E05F92307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5956" y="3740150"/>
            <a:ext cx="2066698" cy="615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主権：評価・配置・学習・配備・停止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競争：国内独立実行が差別化</a:t>
            </a:r>
          </a:p>
        </p:txBody>
      </p:sp>
      <p:sp>
        <p:nvSpPr>
          <p:cNvPr id="40" name="Rounded Rectangle 39">
            <a:extLst xmlns:a="http://schemas.openxmlformats.org/drawingml/2006/main">
              <a:ext uri="{FF2B5EF4-FFF2-40B4-BE49-F238E27FC236}">
                <a16:creationId xmlns:a16="http://schemas.microsoft.com/office/drawing/2014/main" id="{DEE6595D-2709-1F7C-8B9A-47164A9A4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4191" y="2032000"/>
            <a:ext cx="2581975" cy="2656541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1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0DD8DA38-D646-1FA9-28D4-71AFE0F87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1543" y="2251890"/>
            <a:ext cx="2133315" cy="90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500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実行</a:t>
            </a:r>
          </a:p>
        </p:txBody>
      </p:sp>
      <p:sp>
        <p:nvSpPr>
          <p:cNvPr id="42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5D7CE5C2-7A4C-5B39-AEB6-25510E71F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8161" y="3740150"/>
            <a:ext cx="2066698" cy="615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主権：state・policy・承認・action・決済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競争：構造自体は模倣可能</a:t>
            </a:r>
          </a:p>
        </p:txBody>
      </p:sp>
      <p:sp>
        <p:nvSpPr>
          <p:cNvPr id="4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21B19CD8-2634-6048-888D-54374B2A6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1100" y="400899"/>
            <a:ext cx="5539873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「競合も実装できる」と「国内側が持たなくてよい」は同義ではない。</a:t>
            </a:r>
          </a:p>
        </p:txBody>
      </p:sp>
    </p:spTree>
    <p:extLst>
      <p:ext uri="{BB962C8B-B14F-4D97-AF65-F5344CB8AC3E}">
        <p14:creationId xmlns:p14="http://schemas.microsoft.com/office/powerpoint/2010/main" val="4134999073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DCDD464D-3316-879D-91C3-30E54491AD1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C9C7607-4BA3-B4DC-A00F-2E67A9FCFF7E}" type="slidenum">
              <a:t>16</a:t>
            </a:fld>
          </a:p>
        </p:txBody>
      </p:sp>
      <p:sp>
        <p:nvSpPr>
          <p:cNvPr id="11" name="Title 10">
            <a:extLst xmlns:a="http://schemas.openxmlformats.org/drawingml/2006/main">
              <a:ext uri="{FF2B5EF4-FFF2-40B4-BE49-F238E27FC236}">
                <a16:creationId xmlns:a16="http://schemas.microsoft.com/office/drawing/2014/main" id="{8D39B68E-326B-DDEB-2069-B8BB0D01F04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5534180" cy="104749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主権と差別化：計算・ソフト・半導体・供給</a:t>
            </a: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29B30B4D-AB5C-65DB-5658-753508EB3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032000"/>
            <a:ext cx="2581975" cy="2656541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" name="Rounded Rectangle 1">
            <a:extLst xmlns:a="http://schemas.openxmlformats.org/drawingml/2006/main">
              <a:ext uri="{FF2B5EF4-FFF2-40B4-BE49-F238E27FC236}">
                <a16:creationId xmlns:a16="http://schemas.microsoft.com/office/drawing/2014/main" id="{2F75E60C-F9D7-0EB1-DB87-30BB4B887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85955"/>
            <a:ext cx="12192000" cy="14859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48F23094-2741-BF93-9618-593A39D42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052" y="2251890"/>
            <a:ext cx="2133315" cy="90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500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計算</a:t>
            </a:r>
          </a:p>
        </p:txBody>
      </p:sp>
      <p:sp>
        <p:nvSpPr>
          <p:cNvPr id="16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D63831D1-6AB6-9FDC-DF3D-910C1C60EA7D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697670" y="3740150"/>
            <a:ext cx="2066698" cy="61595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主権：境界内処理と継続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競争：outcome単位TCO・電力効率</a:t>
            </a:r>
          </a:p>
        </p:txBody>
      </p:sp>
      <p:sp>
        <p:nvSpPr>
          <p:cNvPr id="34" name="Rounded Rectangle 33">
            <a:extLst xmlns:a="http://schemas.openxmlformats.org/drawingml/2006/main">
              <a:ext uri="{FF2B5EF4-FFF2-40B4-BE49-F238E27FC236}">
                <a16:creationId xmlns:a16="http://schemas.microsoft.com/office/drawing/2014/main" id="{D0C74EF0-61EA-0AD2-19B0-75CAAA4B8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5905" y="2032000"/>
            <a:ext cx="2581975" cy="2656541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5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6130B530-1157-40A3-0161-21ADDD16D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3257" y="2251890"/>
            <a:ext cx="2133315" cy="90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500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ソフト</a:t>
            </a:r>
          </a:p>
        </p:txBody>
      </p:sp>
      <p:sp>
        <p:nvSpPr>
          <p:cNvPr id="36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7DE51176-FC24-C3CB-45B8-8EA48AFAF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9875" y="3740150"/>
            <a:ext cx="2066698" cy="615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主権：改変・監査・移植・保守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競争：開放性と移植性</a:t>
            </a:r>
          </a:p>
        </p:txBody>
      </p:sp>
      <p:sp>
        <p:nvSpPr>
          <p:cNvPr id="37" name="Rounded Rectangle 36">
            <a:extLst xmlns:a="http://schemas.openxmlformats.org/drawingml/2006/main">
              <a:ext uri="{FF2B5EF4-FFF2-40B4-BE49-F238E27FC236}">
                <a16:creationId xmlns:a16="http://schemas.microsoft.com/office/drawing/2014/main" id="{B5992B1D-5E0E-664C-375F-216AFC12E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1986" y="2032000"/>
            <a:ext cx="2581975" cy="2656541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8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54A023A6-B45F-0FFE-0391-DBB435439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9338" y="2251890"/>
            <a:ext cx="2133315" cy="90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500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半導体</a:t>
            </a:r>
          </a:p>
        </p:txBody>
      </p:sp>
      <p:sp>
        <p:nvSpPr>
          <p:cNvPr id="39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5E890D67-9D53-7808-5E55-E05F92307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5956" y="3740150"/>
            <a:ext cx="2066698" cy="615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主権：要件定義・検証・統合・代替・設計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競争：実需要で性能/TCO差</a:t>
            </a:r>
          </a:p>
        </p:txBody>
      </p:sp>
      <p:sp>
        <p:nvSpPr>
          <p:cNvPr id="40" name="Rounded Rectangle 39">
            <a:extLst xmlns:a="http://schemas.openxmlformats.org/drawingml/2006/main">
              <a:ext uri="{FF2B5EF4-FFF2-40B4-BE49-F238E27FC236}">
                <a16:creationId xmlns:a16="http://schemas.microsoft.com/office/drawing/2014/main" id="{DEE6595D-2709-1F7C-8B9A-47164A9A4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4191" y="2032000"/>
            <a:ext cx="2581975" cy="2656541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1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0DD8DA38-D646-1FA9-28D4-71AFE0F87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1543" y="2251890"/>
            <a:ext cx="2133315" cy="90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500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供給</a:t>
            </a:r>
          </a:p>
        </p:txBody>
      </p:sp>
      <p:sp>
        <p:nvSpPr>
          <p:cNvPr id="42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5D7CE5C2-7A4C-5B39-AEB6-25510E71F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8161" y="3740150"/>
            <a:ext cx="2066698" cy="615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主権：調達・保守・在庫・代替・有事継続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競争：継続保証</a:t>
            </a:r>
          </a:p>
        </p:txBody>
      </p:sp>
      <p:sp>
        <p:nvSpPr>
          <p:cNvPr id="4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21B19CD8-2634-6048-888D-54374B2A6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1100" y="400899"/>
            <a:ext cx="5539873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必要能力を確保しつつ、顧客に選ばれる理由は別途証明する。</a:t>
            </a:r>
          </a:p>
        </p:txBody>
      </p:sp>
    </p:spTree>
    <p:extLst>
      <p:ext uri="{BB962C8B-B14F-4D97-AF65-F5344CB8AC3E}">
        <p14:creationId xmlns:p14="http://schemas.microsoft.com/office/powerpoint/2010/main" val="4134999073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52A30403-4B2D-2E15-7A2F-51A6DF6BE5D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fld id="{90F7333B-44AC-F7E9-D49D-FE92F45E0477}" type="slidenum">
              <a:t>17</a:t>
            </a:fld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0A2BB6CD-1085-4638-68F3-7000FD29EA0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9"/>
            <a:ext cx="7835900" cy="58158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柱Cとオンプレの位置づけ</a:t>
            </a:r>
          </a:p>
        </p:txBody>
      </p:sp>
      <p:sp>
        <p:nvSpPr>
          <p:cNvPr id="2" name="Rounded Rectangle 1">
            <a:extLst xmlns:a="http://schemas.openxmlformats.org/drawingml/2006/main">
              <a:ext uri="{FF2B5EF4-FFF2-40B4-BE49-F238E27FC236}">
                <a16:creationId xmlns:a16="http://schemas.microsoft.com/office/drawing/2014/main" id="{390FBCE0-CCE2-0D7F-19D7-0DA59E2FB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013" y="3025321"/>
            <a:ext cx="5533887" cy="1320801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31291836-42DE-4BA2-7C66-683137F11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48" y="3274205"/>
            <a:ext cx="4986886" cy="8777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実行基盤</a:t>
            </a:r>
          </a:p>
        </p:txBody>
      </p:sp>
      <p:sp>
        <p:nvSpPr>
          <p:cNvPr id="4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3D399E38-72C8-159B-DE08-FC689A75B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48" y="4514850"/>
            <a:ext cx="5236652" cy="977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28600" indent="-2286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har char="•"/>
            </a:pPr>
            <a:r>
              <a:rPr sz="14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• Foundry等に同型構造があり、構造自体は独自の濠ではない</a:t>
            </a:r>
          </a:p>
          <a:p xmlns:a="http://schemas.openxmlformats.org/drawingml/2006/main">
            <a:pPr marL="228600" indent="-2286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har char="•"/>
            </a:pPr>
            <a:r>
              <a:rPr sz="14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• それでも状態更新権・権利・実行・監査を国内統治するため不可欠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5E1586E9-BDFD-E84E-20C0-875E339DC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0785" y="3025321"/>
            <a:ext cx="5533887" cy="1320801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BDE93465-12EE-49A8-048B-A3C97C2DF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20" y="3274205"/>
            <a:ext cx="4986886" cy="8777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オンプレ配置</a:t>
            </a:r>
          </a:p>
        </p:txBody>
      </p:sp>
      <p:sp>
        <p:nvSpPr>
          <p:cNvPr id="13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0F1EA821-AA26-C1FC-F948-D100ABDE2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20" y="4514850"/>
            <a:ext cx="5236652" cy="977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28600" indent="-2286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har char="•"/>
            </a:pPr>
            <a:r>
              <a:rPr sz="14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• データ境界の最低条件になりうる</a:t>
            </a:r>
          </a:p>
          <a:p xmlns:a="http://schemas.openxmlformats.org/drawingml/2006/main">
            <a:pPr marL="228600" indent="-2286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har char="•"/>
            </a:pPr>
            <a:r>
              <a:rPr sz="14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• 配置だけでは、評価・改変・更新・停止・移行・供給継続を証明しない</a:t>
            </a:r>
          </a:p>
        </p:txBody>
      </p:sp>
      <p:sp>
        <p:nvSpPr>
          <p:cNvPr id="14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53566714-9098-3B48-6D62-954DC695F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39" y="1157513"/>
            <a:ext cx="11404599" cy="16292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800">
                <a:solidFill>
                  <a:prstClr val="black"/>
                </a:solidFill>
                <a:latin typeface="Helvetica Neue Medium"/>
                <a:ea typeface="Helvetica Neue Medium"/>
                <a:cs typeface="Helvetica Neue Medium"/>
              </a:rPr>
              <a:t>必須能力と「濠」を分けることで、二つの事実が両立する。</a:t>
            </a:r>
          </a:p>
        </p:txBody>
      </p:sp>
      <p:sp>
        <p:nvSpPr>
          <p:cNvPr id="26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E7F409CA-A992-D5A3-DF49-49CFA53E4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39" y="5617936"/>
            <a:ext cx="11404599" cy="529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形式ではなく、誰が最終的に決め、動かし、移し、続けられるかで判断する。</a:t>
            </a:r>
          </a:p>
        </p:txBody>
      </p:sp>
    </p:spTree>
    <p:extLst>
      <p:ext uri="{BB962C8B-B14F-4D97-AF65-F5344CB8AC3E}">
        <p14:creationId xmlns:p14="http://schemas.microsoft.com/office/powerpoint/2010/main" val="3462458655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DCDD464D-3316-879D-91C3-30E54491AD1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1C6C81E-38B9-7560-621D-5A151A79DF9B}" type="slidenum">
              <a:t>18</a:t>
            </a:fld>
          </a:p>
        </p:txBody>
      </p:sp>
      <p:sp>
        <p:nvSpPr>
          <p:cNvPr id="11" name="Title 10">
            <a:extLst xmlns:a="http://schemas.openxmlformats.org/drawingml/2006/main">
              <a:ext uri="{FF2B5EF4-FFF2-40B4-BE49-F238E27FC236}">
                <a16:creationId xmlns:a16="http://schemas.microsoft.com/office/drawing/2014/main" id="{8D39B68E-326B-DDEB-2069-B8BB0D01F04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5534180" cy="104749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「所有」ではなく、4つの資産群で帰属を設計する</a:t>
            </a: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29B30B4D-AB5C-65DB-5658-753508EB3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032000"/>
            <a:ext cx="2581975" cy="2656541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" name="Rounded Rectangle 1">
            <a:extLst xmlns:a="http://schemas.openxmlformats.org/drawingml/2006/main">
              <a:ext uri="{FF2B5EF4-FFF2-40B4-BE49-F238E27FC236}">
                <a16:creationId xmlns:a16="http://schemas.microsoft.com/office/drawing/2014/main" id="{2F75E60C-F9D7-0EB1-DB87-30BB4B887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85955"/>
            <a:ext cx="12192000" cy="14859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48F23094-2741-BF93-9618-593A39D42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052" y="2251890"/>
            <a:ext cx="2133315" cy="90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83891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500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顧客主権</a:t>
            </a:r>
          </a:p>
        </p:txBody>
      </p:sp>
      <p:sp>
        <p:nvSpPr>
          <p:cNvPr id="16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D63831D1-6AB6-9FDC-DF3D-910C1C60EA7D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697670" y="3740150"/>
            <a:ext cx="2066698" cy="61595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生データ、業務イベント、原本文書、固有Graph/adapter、golden set、outcome。顧客境界に残る</a:t>
            </a:r>
          </a:p>
        </p:txBody>
      </p:sp>
      <p:sp>
        <p:nvSpPr>
          <p:cNvPr id="34" name="Rounded Rectangle 33">
            <a:extLst xmlns:a="http://schemas.openxmlformats.org/drawingml/2006/main">
              <a:ext uri="{FF2B5EF4-FFF2-40B4-BE49-F238E27FC236}">
                <a16:creationId xmlns:a16="http://schemas.microsoft.com/office/drawing/2014/main" id="{D0C74EF0-61EA-0AD2-19B0-75CAAA4B8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5905" y="2032000"/>
            <a:ext cx="2581975" cy="2656541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5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6130B530-1157-40A3-0161-21ADDD16D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3257" y="2251890"/>
            <a:ext cx="2133315" cy="90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55931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500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許諾済み信号</a:t>
            </a:r>
          </a:p>
        </p:txBody>
      </p:sp>
      <p:sp>
        <p:nvSpPr>
          <p:cNvPr id="36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7DE51176-FC24-C3CB-45B8-8EA48AFAF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9875" y="3740150"/>
            <a:ext cx="2066698" cy="615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匿名化telemetry、集約統計、明示許諾評価、secure aggregation後の信号。範囲を限定</a:t>
            </a:r>
          </a:p>
        </p:txBody>
      </p:sp>
      <p:sp>
        <p:nvSpPr>
          <p:cNvPr id="37" name="Rounded Rectangle 36">
            <a:extLst xmlns:a="http://schemas.openxmlformats.org/drawingml/2006/main">
              <a:ext uri="{FF2B5EF4-FFF2-40B4-BE49-F238E27FC236}">
                <a16:creationId xmlns:a16="http://schemas.microsoft.com/office/drawing/2014/main" id="{B5992B1D-5E0E-664C-375F-216AFC12E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1986" y="2032000"/>
            <a:ext cx="2581975" cy="2656541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8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54A023A6-B45F-0FFE-0391-DBB435439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9338" y="2251890"/>
            <a:ext cx="2133315" cy="90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58642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500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KairosAI共通</a:t>
            </a:r>
          </a:p>
        </p:txBody>
      </p:sp>
      <p:sp>
        <p:nvSpPr>
          <p:cNvPr id="39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5E890D67-9D53-7808-5E55-E05F92307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5956" y="3740150"/>
            <a:ext cx="2066698" cy="615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スキーマ、評価テンプレート、ハーネス、compiler、runtime、運用パターン。顧客データを含めない</a:t>
            </a:r>
          </a:p>
        </p:txBody>
      </p:sp>
      <p:sp>
        <p:nvSpPr>
          <p:cNvPr id="40" name="Rounded Rectangle 39">
            <a:extLst xmlns:a="http://schemas.openxmlformats.org/drawingml/2006/main">
              <a:ext uri="{FF2B5EF4-FFF2-40B4-BE49-F238E27FC236}">
                <a16:creationId xmlns:a16="http://schemas.microsoft.com/office/drawing/2014/main" id="{DEE6595D-2709-1F7C-8B9A-47164A9A4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4191" y="2032000"/>
            <a:ext cx="2581975" cy="2656541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1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0DD8DA38-D646-1FA9-28D4-71AFE0F87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1543" y="2251890"/>
            <a:ext cx="2133315" cy="90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55931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500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国内共有能力</a:t>
            </a:r>
          </a:p>
        </p:txBody>
      </p:sp>
      <p:sp>
        <p:nvSpPr>
          <p:cNvPr id="42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5D7CE5C2-7A4C-5B39-AEB6-25510E71F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8161" y="3740150"/>
            <a:ext cx="2066698" cy="615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共有コア、共通評価、標準、設計IP、benchmark。ガバナンス・退出条件を定義</a:t>
            </a:r>
          </a:p>
        </p:txBody>
      </p:sp>
      <p:sp>
        <p:nvSpPr>
          <p:cNvPr id="4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21B19CD8-2634-6048-888D-54374B2A6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1100" y="400899"/>
            <a:ext cx="5539873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所有名義だけでなく、行為ごとの権利をregistryと契約で分ける。</a:t>
            </a:r>
          </a:p>
        </p:txBody>
      </p:sp>
    </p:spTree>
    <p:extLst>
      <p:ext uri="{BB962C8B-B14F-4D97-AF65-F5344CB8AC3E}">
        <p14:creationId xmlns:p14="http://schemas.microsoft.com/office/powerpoint/2010/main" val="4134999073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4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FD0B8991-15CE-5924-F040-9CC6E6C804F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1977136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>1. 保有する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>2. 利用する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>3. 学習へ投入する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>4. 派生成果物を作る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>5. 第三者へ再許諾する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>6. 修正・訂正・削除を求める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>7. 配備・停止・rollbackする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>8. 契約終了時に持ち出す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>9. 対価・利益配分を受ける</a:t>
            </a:r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DB60879D-9A12-E66E-63A7-9EAE035EDE7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fld id="{CCF91274-D221-1BB4-3BF9-836E3AD31EBE}" type="slidenum">
              <a:t>19</a:t>
            </a:fld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E64CA8E-885C-5948-3B1F-1E7285BD26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各資産に分けて定義する「権利束」</a:t>
            </a:r>
          </a:p>
        </p:txBody>
      </p:sp>
      <p:sp>
        <p:nvSpPr>
          <p:cNvPr id="2" name="Rounded Rectangle 1">
            <a:extLst xmlns:a="http://schemas.openxmlformats.org/drawingml/2006/main">
              <a:ext uri="{FF2B5EF4-FFF2-40B4-BE49-F238E27FC236}">
                <a16:creationId xmlns:a16="http://schemas.microsoft.com/office/drawing/2014/main" id="{9A77EF8F-7D2D-B0A4-22FC-0DFD48E5B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1100" y="2032000"/>
            <a:ext cx="2581975" cy="39624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A4053458-0312-2074-FD20-BF977E267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0957" y="2032000"/>
            <a:ext cx="2597343" cy="39624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Content Placeholder 17">
            <a:extLst xmlns:a="http://schemas.openxmlformats.org/drawingml/2006/main">
              <a:ext uri="{FF2B5EF4-FFF2-40B4-BE49-F238E27FC236}">
                <a16:creationId xmlns:a16="http://schemas.microsoft.com/office/drawing/2014/main" id="{368FE714-E23E-EF23-52EC-6BCED49E2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6256" y="4204277"/>
            <a:ext cx="2145400" cy="159904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契約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目的・期間・再利用範囲・終了後の扱いを明示</a:t>
            </a:r>
          </a:p>
        </p:txBody>
      </p:sp>
      <p:sp>
        <p:nvSpPr>
          <p:cNvPr id="5" name="Text Placeholder 18">
            <a:extLst xmlns:a="http://schemas.openxmlformats.org/drawingml/2006/main">
              <a:ext uri="{FF2B5EF4-FFF2-40B4-BE49-F238E27FC236}">
                <a16:creationId xmlns:a16="http://schemas.microsoft.com/office/drawing/2014/main" id="{1B866A88-0792-644A-55AC-C2F198867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3210" y="4204277"/>
            <a:ext cx="2149303" cy="159904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Registry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資産、権利者、許諾、来歴、model versionを機械可読に管理</a:t>
            </a:r>
          </a:p>
        </p:txBody>
      </p:sp>
    </p:spTree>
    <p:extLst>
      <p:ext uri="{BB962C8B-B14F-4D97-AF65-F5344CB8AC3E}">
        <p14:creationId xmlns:p14="http://schemas.microsoft.com/office/powerpoint/2010/main" val="907036490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69A7B84F-6F74-164C-037A-8CB20BDDFE1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fld id="{844E025A-983C-6D44-79C6-4612AACD43FC}" type="slidenum">
              <a:t>20</a:t>
            </a:fld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E3D44A9C-8B13-1683-4B06-D873237D1D1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35687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共有コア還流の6条件</a:t>
            </a:r>
          </a:p>
        </p:txBody>
      </p:sp>
      <p:sp>
        <p:nvSpPr>
          <p:cNvPr id="10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047BF48D-F983-118D-D2F7-E43AACA9F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2445" y="393701"/>
            <a:ext cx="5505855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利用目的と反映先が明示されている</a:t>
            </a:r>
          </a:p>
        </p:txBody>
      </p:sp>
      <p:sp>
        <p:nvSpPr>
          <p:cNvPr id="2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AF6A488A-017C-2F49-A724-CF4366590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245" y="393701"/>
            <a:ext cx="1784755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 Medium"/>
                <a:ea typeface="Helvetica Neue Medium"/>
                <a:cs typeface="Helvetica Neue Medium"/>
              </a:rPr>
              <a:t>目的</a:t>
            </a:r>
          </a:p>
        </p:txBody>
      </p:sp>
      <p:sp>
        <p:nvSpPr>
          <p:cNvPr id="7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59230B05-F497-DE80-839D-8A9B7CC16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2445" y="1397001"/>
            <a:ext cx="5505855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顧客または正当な権利者が許諾している</a:t>
            </a:r>
          </a:p>
        </p:txBody>
      </p:sp>
      <p:sp>
        <p:nvSpPr>
          <p:cNvPr id="9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D01219A0-506D-650D-E147-5B8132027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245" y="1397001"/>
            <a:ext cx="1784755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 Medium"/>
                <a:ea typeface="Helvetica Neue Medium"/>
                <a:cs typeface="Helvetica Neue Medium"/>
              </a:rPr>
              <a:t>許諾</a:t>
            </a:r>
          </a:p>
        </p:txBody>
      </p:sp>
      <p:sp>
        <p:nvSpPr>
          <p:cNvPr id="12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F5BFF3A2-62B8-C64E-A147-B21AD9CBB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2445" y="2374901"/>
            <a:ext cx="5505855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生データや顧客固有adapterを含まない</a:t>
            </a:r>
          </a:p>
        </p:txBody>
      </p:sp>
      <p:sp>
        <p:nvSpPr>
          <p:cNvPr id="15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F7608A34-9B1E-8319-01AB-B013BBE67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245" y="2374901"/>
            <a:ext cx="1784755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 Medium"/>
                <a:ea typeface="Helvetica Neue Medium"/>
                <a:cs typeface="Helvetica Neue Medium"/>
              </a:rPr>
              <a:t>分離</a:t>
            </a:r>
          </a:p>
        </p:txBody>
      </p:sp>
      <p:sp>
        <p:nvSpPr>
          <p:cNvPr id="16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0845C908-26F4-26EB-1CA7-AABB89BB3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2445" y="3365501"/>
            <a:ext cx="5505855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再識別・推論攻撃のリスクを評価している</a:t>
            </a:r>
          </a:p>
        </p:txBody>
      </p:sp>
      <p:sp>
        <p:nvSpPr>
          <p:cNvPr id="17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228D802D-D8A9-E697-144D-8E7477F29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245" y="3365501"/>
            <a:ext cx="1784755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 Medium"/>
                <a:ea typeface="Helvetica Neue Medium"/>
                <a:cs typeface="Helvetica Neue Medium"/>
              </a:rPr>
              <a:t>安全</a:t>
            </a:r>
          </a:p>
        </p:txBody>
      </p:sp>
      <p:sp>
        <p:nvSpPr>
          <p:cNvPr id="18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0CCFFBE1-F391-100C-F0AF-8B730BA0A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2445" y="4356101"/>
            <a:ext cx="5505855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provenanceとmodel versionへの寄与を追跡できる</a:t>
            </a:r>
          </a:p>
        </p:txBody>
      </p:sp>
      <p:sp>
        <p:nvSpPr>
          <p:cNvPr id="19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BDD61A53-13D8-0ED5-E0A9-5CB7D8718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245" y="4356101"/>
            <a:ext cx="1784755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 Medium"/>
                <a:ea typeface="Helvetica Neue Medium"/>
                <a:cs typeface="Helvetica Neue Medium"/>
              </a:rPr>
              <a:t>追跡</a:t>
            </a:r>
          </a:p>
        </p:txBody>
      </p:sp>
      <p:sp>
        <p:nvSpPr>
          <p:cNvPr id="20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8FDE77B0-FFF1-E69E-8C9B-D6E2B9870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2445" y="5359401"/>
            <a:ext cx="5505855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許諾終了後の扱いが契約で決まっている</a:t>
            </a:r>
          </a:p>
        </p:txBody>
      </p:sp>
      <p:sp>
        <p:nvSpPr>
          <p:cNvPr id="21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5657569D-FC7C-5C9F-EA43-E13413EF7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245" y="5359401"/>
            <a:ext cx="1784755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 Medium"/>
                <a:ea typeface="Helvetica Neue Medium"/>
                <a:cs typeface="Helvetica Neue Medium"/>
              </a:rPr>
              <a:t>終了</a:t>
            </a:r>
          </a:p>
        </p:txBody>
      </p:sp>
    </p:spTree>
    <p:extLst>
      <p:ext uri="{BB962C8B-B14F-4D97-AF65-F5344CB8AC3E}">
        <p14:creationId xmlns:p14="http://schemas.microsoft.com/office/powerpoint/2010/main" val="3081640303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52A30403-4B2D-2E15-7A2F-51A6DF6BE5D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fld id="{F6DF2BE2-2DFA-1C03-677D-BDC2260D6D92}" type="slidenum">
              <a:t>21</a:t>
            </a:fld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0A2BB6CD-1085-4638-68F3-7000FD29EA0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9"/>
            <a:ext cx="7835900" cy="58158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削除可能性を保つ知識配置</a:t>
            </a:r>
          </a:p>
        </p:txBody>
      </p:sp>
      <p:sp>
        <p:nvSpPr>
          <p:cNvPr id="2" name="Rounded Rectangle 1">
            <a:extLst xmlns:a="http://schemas.openxmlformats.org/drawingml/2006/main">
              <a:ext uri="{FF2B5EF4-FFF2-40B4-BE49-F238E27FC236}">
                <a16:creationId xmlns:a16="http://schemas.microsoft.com/office/drawing/2014/main" id="{390FBCE0-CCE2-0D7F-19D7-0DA59E2FB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013" y="3025321"/>
            <a:ext cx="5533887" cy="1320801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31291836-42DE-4BA2-7C66-683137F11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48" y="3274205"/>
            <a:ext cx="4986886" cy="8777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重みに固定しない</a:t>
            </a:r>
          </a:p>
        </p:txBody>
      </p:sp>
      <p:sp>
        <p:nvSpPr>
          <p:cNvPr id="4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3D399E38-72C8-159B-DE08-FC689A75B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48" y="4514850"/>
            <a:ext cx="5236652" cy="977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28600" indent="-2286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har char="•"/>
            </a:pPr>
            <a:r>
              <a:rPr sz="14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削除・訂正・利用停止が想定される情報は、共有モデルの重みに原則固定しない。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5E1586E9-BDFD-E84E-20C0-875E339DC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0785" y="3025321"/>
            <a:ext cx="5533887" cy="1320801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BDE93465-12EE-49A8-048B-A3C97C2DF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20" y="3274205"/>
            <a:ext cx="4986886" cy="8777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監査可能な場所へ置く</a:t>
            </a:r>
          </a:p>
        </p:txBody>
      </p:sp>
      <p:sp>
        <p:nvSpPr>
          <p:cNvPr id="13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0F1EA821-AA26-C1FC-F948-D100ABDE2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20" y="4514850"/>
            <a:ext cx="5236652" cy="977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28600" indent="-2286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har char="•"/>
            </a:pPr>
            <a:r>
              <a:rPr sz="14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RAG、KG、state registry、顧客固有adapter、ルールに保持し、削除・監査・差替えを可能にする。</a:t>
            </a:r>
          </a:p>
        </p:txBody>
      </p:sp>
      <p:sp>
        <p:nvSpPr>
          <p:cNvPr id="14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53566714-9098-3B48-6D62-954DC695F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39" y="1157513"/>
            <a:ext cx="11404599" cy="16292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800">
                <a:solidFill>
                  <a:prstClr val="black"/>
                </a:solidFill>
                <a:latin typeface="Helvetica Neue Medium"/>
                <a:ea typeface="Helvetica Neue Medium"/>
                <a:cs typeface="Helvetica Neue Medium"/>
              </a:rPr>
              <a:t>secure aggregationや差分プライバシーはリスク低減手段であり、権利処理を不要にはしない。</a:t>
            </a:r>
          </a:p>
        </p:txBody>
      </p:sp>
      <p:sp>
        <p:nvSpPr>
          <p:cNvPr id="26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E7F409CA-A992-D5A3-DF49-49CFA53E4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39" y="5617936"/>
            <a:ext cx="11404599" cy="529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性能だけでなく、権利・可逆性・安全性・経済性から知識配置を決める。</a:t>
            </a:r>
          </a:p>
        </p:txBody>
      </p:sp>
    </p:spTree>
    <p:extLst>
      <p:ext uri="{BB962C8B-B14F-4D97-AF65-F5344CB8AC3E}">
        <p14:creationId xmlns:p14="http://schemas.microsoft.com/office/powerpoint/2010/main" val="3462458655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4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73983F85-E2E7-5016-FA2B-D1CE29449182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>確認済みの公開情報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>• Palantir / NVIDIAは2026-03-12にSovereign AI OS Reference Architectureを発表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>• 公式説明では顧客がデータ、モデル、アプリを制御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>• 顧客は外部モデルを持込み、開発・評価・release可能</a:t>
            </a:r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1BCBE750-7048-686D-1472-52C53362D6C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fld id="{0BB18BA8-60F4-C50D-CD9B-1BB87D3E8506}" type="slidenum">
              <a:t>22</a:t>
            </a:fld>
          </a:p>
        </p:txBody>
      </p:sp>
      <p:sp>
        <p:nvSpPr>
          <p:cNvPr id="2" name="Content Placeholder 1">
            <a:extLst xmlns:a="http://schemas.openxmlformats.org/drawingml/2006/main">
              <a:ext uri="{FF2B5EF4-FFF2-40B4-BE49-F238E27FC236}">
                <a16:creationId xmlns:a16="http://schemas.microsoft.com/office/drawing/2014/main" id="{336409A4-E296-79C0-A5A6-B0CD8EB393CA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/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根拠なく断定しない</a:t>
            </a:r>
          </a:p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• 外資基盤では顧客がモデル更新できない</a:t>
            </a:r>
          </a:p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• 学習成果が必ず外資所有になる</a:t>
            </a:r>
          </a:p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• Apollo配信＝顧客モデル更新権の喪失</a:t>
            </a:r>
          </a:p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競合の現在能力を過小評価しない。</a:t>
            </a:r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B5D55CD-1C17-7CD8-F26A-2DD65B0676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外資の主権配慮基盤との比較：確認可能な差だけを使う</a:t>
            </a:r>
          </a:p>
        </p:txBody>
      </p:sp>
    </p:spTree>
    <p:extLst>
      <p:ext uri="{BB962C8B-B14F-4D97-AF65-F5344CB8AC3E}">
        <p14:creationId xmlns:p14="http://schemas.microsoft.com/office/powerpoint/2010/main" val="3667182145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4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73983F85-E2E7-5016-FA2B-D1CE29449182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>未確定の論点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>• 基盤ソフトの改変・派生・保守権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>• Ontology / 業務ロジックの完全移植性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>• ベンダー支援なしの長期運用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>• 終了時の成果物・鍵・評価・知識移転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>• HW置換と供給継続の範囲</a:t>
            </a:r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1BCBE750-7048-686D-1472-52C53362D6C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fld id="{A4E99CEF-AF55-BA3C-ADF8-4E52E186DD8F}" type="slidenum">
              <a:t>23</a:t>
            </a:fld>
          </a:p>
        </p:txBody>
      </p:sp>
      <p:sp>
        <p:nvSpPr>
          <p:cNvPr id="2" name="Content Placeholder 1">
            <a:extLst xmlns:a="http://schemas.openxmlformats.org/drawingml/2006/main">
              <a:ext uri="{FF2B5EF4-FFF2-40B4-BE49-F238E27FC236}">
                <a16:creationId xmlns:a16="http://schemas.microsoft.com/office/drawing/2014/main" id="{336409A4-E296-79C0-A5A6-B0CD8EB393CA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/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KairosAIの差別化仮説</a:t>
            </a:r>
          </a:p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国内主体がモデルだけでなく、評価、業務ロジック、基盤ソフト、鍵、配備経路、計算構成を監査・改変・移植し、その能力を国内組織へ蓄積する。</a:t>
            </a:r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B5D55CD-1C17-7CD8-F26A-2DD65B0676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公開情報だけでは確定しない論点と、KairosAIの仮説</a:t>
            </a:r>
          </a:p>
        </p:txBody>
      </p:sp>
    </p:spTree>
    <p:extLst>
      <p:ext uri="{BB962C8B-B14F-4D97-AF65-F5344CB8AC3E}">
        <p14:creationId xmlns:p14="http://schemas.microsoft.com/office/powerpoint/2010/main" val="3667182145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4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5E6F3576-FAD9-7780-1390-E4CCDDDDF4C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391832"/>
            <a:ext cx="3568700" cy="36025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solidFill>
                  <a:prstClr val="black"/>
                </a:solidFill>
                <a:latin typeface="Helvetica Neue Medium"/>
                <a:ea typeface="Helvetica Neue Medium"/>
                <a:cs typeface="Helvetica Neue Medium"/>
              </a:rPr>
              <a:t>01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solidFill>
                  <a:prstClr val="black"/>
                </a:solidFill>
                <a:latin typeface="Helvetica Neue Medium"/>
                <a:ea typeface="Helvetica Neue Medium"/>
                <a:cs typeface="Helvetica Neue Medium"/>
              </a:rPr>
              <a:t>証明手段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契約、ソースアクセス、エスクロー、標準API、移行テスト、国内運用実績。</a:t>
            </a:r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DBEA618B-866F-6F23-43A9-78F2D312787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fld id="{4A59AF09-D197-0193-A7DE-FAAF0B691058}" type="slidenum">
              <a:t>24</a:t>
            </a:fld>
          </a:p>
        </p:txBody>
      </p:sp>
      <p:sp>
        <p:nvSpPr>
          <p:cNvPr id="2" name="Content Placeholder 1">
            <a:extLst xmlns:a="http://schemas.openxmlformats.org/drawingml/2006/main">
              <a:ext uri="{FF2B5EF4-FFF2-40B4-BE49-F238E27FC236}">
                <a16:creationId xmlns:a16="http://schemas.microsoft.com/office/drawing/2014/main" id="{7ED2788F-D3A7-1987-7296-9AC0BE2A1D11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4318000" y="2374900"/>
            <a:ext cx="3568700" cy="3619500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 Medium"/>
                <a:ea typeface="Helvetica Neue Medium"/>
                <a:cs typeface="Helvetica Neue Medium"/>
              </a:rPr>
              <a:t>02</a:t>
            </a:r>
          </a:p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 Medium"/>
                <a:ea typeface="Helvetica Neue Medium"/>
                <a:cs typeface="Helvetica Neue Medium"/>
              </a:rPr>
              <a:t>比較の三状態</a:t>
            </a:r>
          </a:p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sz="16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228600" indent="-22860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har char="•"/>
            </a:pPr>
            <a:r>
              <a:rPr sz="16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現在実証済み：本番・契約・製品で確認</a:t>
            </a:r>
          </a:p>
          <a:p xmlns:a="http://schemas.openxmlformats.org/drawingml/2006/main">
            <a:pPr marL="228600" indent="-22860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har char="•"/>
            </a:pPr>
            <a:r>
              <a:rPr sz="16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次のゲート：次フェーズで検証・獲得</a:t>
            </a:r>
          </a:p>
          <a:p xmlns:a="http://schemas.openxmlformats.org/drawingml/2006/main">
            <a:pPr marL="228600" indent="-22860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har char="•"/>
            </a:pPr>
            <a:r>
              <a:rPr sz="16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長期目標：条件付き到達状態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0AB3D00A-6146-FC12-E7D6-0A4E6D490B4A}"/>
              </a:ext>
            </a:extLst>
          </p:cNvPr>
          <p:cNvSpPr>
            <a:spLocks xmlns:a="http://schemas.openxmlformats.org/drawingml/2006/main" noGrp="1"/>
          </p:cNvSpPr>
          <p:nvPr>
            <p:ph idx="11"/>
          </p:nvPr>
        </p:nvSpPr>
        <p:spPr>
          <a:xfrm xmlns:a="http://schemas.openxmlformats.org/drawingml/2006/main">
            <a:off x="8232273" y="2374900"/>
            <a:ext cx="3568700" cy="3619500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 Medium"/>
                <a:ea typeface="Helvetica Neue Medium"/>
                <a:cs typeface="Helvetica Neue Medium"/>
              </a:rPr>
              <a:t>03</a:t>
            </a:r>
          </a:p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 Medium"/>
                <a:ea typeface="Helvetica Neue Medium"/>
                <a:cs typeface="Helvetica Neue Medium"/>
              </a:rPr>
              <a:t>比較原則</a:t>
            </a:r>
          </a:p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sz="16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228600" indent="-22860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har char="•"/>
            </a:pPr>
            <a:r>
              <a:rPr sz="16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競合の現在とKairosAIの将来目標を同じ「○」で比較しない。未達を隠さず、段階ごとの証拠を示す。</a:t>
            </a:r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24C70FFE-9D4B-9EEB-4231-9B1B74B40AF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能力主権は、証拠を積み上げて証明する軌道</a:t>
            </a:r>
          </a:p>
        </p:txBody>
      </p:sp>
    </p:spTree>
    <p:extLst>
      <p:ext uri="{BB962C8B-B14F-4D97-AF65-F5344CB8AC3E}">
        <p14:creationId xmlns:p14="http://schemas.microsoft.com/office/powerpoint/2010/main" val="2966171638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31C01230-0AB7-5FBA-6CB0-F4C1122A588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3568700" cy="19812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モデル・データ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現場で判断し、利用から改善する</a:t>
            </a:r>
          </a:p>
        </p:txBody>
      </p:sp>
      <p:sp>
        <p:nvSpPr>
          <p:cNvPr id="2" name="Slide Number Placeholder 1">
            <a:extLst xmlns:a="http://schemas.openxmlformats.org/drawingml/2006/main">
              <a:ext uri="{FF2B5EF4-FFF2-40B4-BE49-F238E27FC236}">
                <a16:creationId xmlns:a16="http://schemas.microsoft.com/office/drawing/2014/main" id="{5346F6B8-73F6-AB72-2971-C8B37B27DCFE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3AE1AE4-D79E-94D6-E825-3FC6C21A77D2}" type="slidenum">
              <a:t>25</a:t>
            </a:fld>
          </a:p>
        </p:txBody>
      </p:sp>
      <p:sp>
        <p:nvSpPr>
          <p:cNvPr id="11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36C44BD0-2306-5DD3-6221-887B2EAEA0CB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4318000" y="2032000"/>
            <a:ext cx="3568700" cy="19812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実行基盤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状態・権利・履歴・承認・結果を捕捉</a:t>
            </a:r>
          </a:p>
        </p:txBody>
      </p:sp>
      <p:sp>
        <p:nvSpPr>
          <p:cNvPr id="12" name="Content Placeholder 11">
            <a:extLst xmlns:a="http://schemas.openxmlformats.org/drawingml/2006/main">
              <a:ext uri="{FF2B5EF4-FFF2-40B4-BE49-F238E27FC236}">
                <a16:creationId xmlns:a16="http://schemas.microsoft.com/office/drawing/2014/main" id="{DE8FF54C-F86E-60F9-B524-2931B90F4D94}"/>
              </a:ext>
            </a:extLst>
          </p:cNvPr>
          <p:cNvSpPr>
            <a:spLocks xmlns:a="http://schemas.openxmlformats.org/drawingml/2006/main" noGrp="1"/>
          </p:cNvSpPr>
          <p:nvPr>
            <p:ph idx="11"/>
          </p:nvPr>
        </p:nvSpPr>
        <p:spPr>
          <a:xfrm xmlns:a="http://schemas.openxmlformats.org/drawingml/2006/main">
            <a:off x="8232273" y="2032000"/>
            <a:ext cx="3568700" cy="19812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計算基盤・半導体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高効率基盤で境界内常時稼働</a:t>
            </a:r>
          </a:p>
        </p:txBody>
      </p:sp>
      <p:sp>
        <p:nvSpPr>
          <p:cNvPr id="3" name="Title 2">
            <a:extLst xmlns:a="http://schemas.openxmlformats.org/drawingml/2006/main">
              <a:ext uri="{FF2B5EF4-FFF2-40B4-BE49-F238E27FC236}">
                <a16:creationId xmlns:a16="http://schemas.microsoft.com/office/drawing/2014/main" id="{BC736807-305D-4EC1-A98F-2A17C38135E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三本柱：主権上の役割と差別化を分ける</a:t>
            </a:r>
          </a:p>
        </p:txBody>
      </p:sp>
      <p:sp>
        <p:nvSpPr>
          <p:cNvPr id="13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19211427-9600-D234-704D-53BE123AB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4133787"/>
            <a:ext cx="3568700" cy="18606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95753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320040" indent="-22606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har char="→"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主権：評価・知識配置・学習・配備・停止</a:t>
            </a:r>
          </a:p>
          <a:p xmlns:a="http://schemas.openxmlformats.org/drawingml/2006/main">
            <a:pPr marL="320040" indent="-22606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har char="→"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差別化：outcome接続と改善速度</a:t>
            </a:r>
          </a:p>
        </p:txBody>
      </p:sp>
      <p:sp>
        <p:nvSpPr>
          <p:cNvPr id="20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AC9183D9-7CC4-79A2-884C-5E7D4E0CC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7778" y="4133787"/>
            <a:ext cx="3568700" cy="18606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95753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320040" indent="-22606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har char="→"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主権：状態更新権・実行権・監査</a:t>
            </a:r>
          </a:p>
          <a:p xmlns:a="http://schemas.openxmlformats.org/drawingml/2006/main">
            <a:pPr marL="320040" indent="-22606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har char="→"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差別化：必須だが構造は模倣可能</a:t>
            </a:r>
          </a:p>
        </p:txBody>
      </p:sp>
      <p:sp>
        <p:nvSpPr>
          <p:cNvPr id="21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8026D696-5B0D-B1A2-BDA5-A14DA5889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3007" y="4133787"/>
            <a:ext cx="3568700" cy="18606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95753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320040" indent="-22606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har char="→"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主権：計算継続・改変・代替調達</a:t>
            </a:r>
          </a:p>
          <a:p xmlns:a="http://schemas.openxmlformats.org/drawingml/2006/main">
            <a:pPr marL="320040" indent="-22606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har char="→"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差別化：outcome単位TCO・電力効率</a:t>
            </a:r>
          </a:p>
        </p:txBody>
      </p:sp>
    </p:spTree>
    <p:extLst>
      <p:ext uri="{BB962C8B-B14F-4D97-AF65-F5344CB8AC3E}">
        <p14:creationId xmlns:p14="http://schemas.microsoft.com/office/powerpoint/2010/main" val="3064231191"/>
      </p:ext>
    </p:extLst>
  </p:cSld>
</p:sld>
</file>

<file path=ppt/slides/slide2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8" name="Google Shape;558;p61">
            <a:extLst xmlns:a="http://schemas.openxmlformats.org/drawingml/2006/main">
              <a:ext uri="{FF2B5EF4-FFF2-40B4-BE49-F238E27FC236}">
                <a16:creationId xmlns:a16="http://schemas.microsoft.com/office/drawing/2014/main" id="{D453D0E1-242E-49D8-B605-60A8CD3ECAC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4013200"/>
            <a:ext cx="3568700" cy="198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1300"/>
              </a:spcAft>
              <a:buNone/>
            </a:pPr>
            <a:r>
              <a:rPr sz="1900"/>
              <a:t>モデル・データ</a:t>
            </a:r>
          </a:p>
          <a:p xmlns:a="http://schemas.openxmlformats.org/drawingml/2006/main">
            <a:pPr marL="0" indent="0">
              <a:spcAft>
                <a:spcPts val="1300"/>
              </a:spcAft>
              <a:buNone/>
            </a:pPr>
            <a:r>
              <a:rPr sz="1900"/>
              <a:t/>
            </a:r>
          </a:p>
          <a:p xmlns:a="http://schemas.openxmlformats.org/drawingml/2006/main">
            <a:pPr marL="0" indent="0">
              <a:spcAft>
                <a:spcPts val="1300"/>
              </a:spcAft>
              <a:buNone/>
            </a:pPr>
            <a:r>
              <a:rPr sz="1900"/>
              <a:t>判断、修正、失敗、outcomeという「内容」を生む。</a:t>
            </a:r>
          </a:p>
        </p:txBody>
      </p:sp>
      <p:sp>
        <p:nvSpPr>
          <p:cNvPr id="556" name="Google Shape;556;p61">
            <a:extLst xmlns:a="http://schemas.openxmlformats.org/drawingml/2006/main">
              <a:ext uri="{FF2B5EF4-FFF2-40B4-BE49-F238E27FC236}">
                <a16:creationId xmlns:a16="http://schemas.microsoft.com/office/drawing/2014/main" id="{3C54F134-8A0A-4021-94F3-182A9932AA7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fld id="{5AB55966-FA28-BC73-EA9E-53DF014DF033}" type="slidenum">
              <a:t>26</a:t>
            </a:fld>
          </a:p>
        </p:txBody>
      </p:sp>
      <p:sp>
        <p:nvSpPr>
          <p:cNvPr id="559" name="Google Shape;559;p61">
            <a:extLst xmlns:a="http://schemas.openxmlformats.org/drawingml/2006/main">
              <a:ext uri="{FF2B5EF4-FFF2-40B4-BE49-F238E27FC236}">
                <a16:creationId xmlns:a16="http://schemas.microsoft.com/office/drawing/2014/main" id="{FD14A4ED-A66F-45D7-B273-FCA7EBE38464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4318000" y="4013200"/>
            <a:ext cx="3568700" cy="198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1300"/>
              </a:spcAft>
              <a:buNone/>
            </a:pPr>
            <a:r>
              <a:rPr sz="1900">
                <a:solidFill>
                  <a:schemeClr val="dk1"/>
                </a:solidFill>
              </a:rPr>
              <a:t>実行基盤</a:t>
            </a:r>
          </a:p>
          <a:p xmlns:a="http://schemas.openxmlformats.org/drawingml/2006/main">
            <a:pPr marL="0" indent="0">
              <a:spcAft>
                <a:spcPts val="1300"/>
              </a:spcAft>
              <a:buNone/>
            </a:pPr>
            <a:r>
              <a:rPr sz="1900">
                <a:solidFill>
                  <a:schemeClr val="dk1"/>
                </a:solidFill>
              </a:rPr>
              <a:t/>
            </a:r>
          </a:p>
          <a:p xmlns:a="http://schemas.openxmlformats.org/drawingml/2006/main">
            <a:pPr marL="0" indent="0">
              <a:spcAft>
                <a:spcPts val="1300"/>
              </a:spcAft>
              <a:buNone/>
            </a:pPr>
            <a:r>
              <a:rPr sz="1900">
                <a:solidFill>
                  <a:schemeClr val="dk1"/>
                </a:solidFill>
              </a:rPr>
              <a:t>state、権利、承認、action、provenanceとして捕捉・統治する。</a:t>
            </a:r>
          </a:p>
        </p:txBody>
      </p:sp>
      <p:sp>
        <p:nvSpPr>
          <p:cNvPr id="560" name="Google Shape;560;p61">
            <a:extLst xmlns:a="http://schemas.openxmlformats.org/drawingml/2006/main">
              <a:ext uri="{FF2B5EF4-FFF2-40B4-BE49-F238E27FC236}">
                <a16:creationId xmlns:a16="http://schemas.microsoft.com/office/drawing/2014/main" id="{572ED513-7A54-421B-AF8F-D08F0046C26B}"/>
              </a:ext>
            </a:extLst>
          </p:cNvPr>
          <p:cNvSpPr>
            <a:spLocks xmlns:a="http://schemas.openxmlformats.org/drawingml/2006/main" noGrp="1"/>
          </p:cNvSpPr>
          <p:nvPr>
            <p:ph idx="11"/>
          </p:nvPr>
        </p:nvSpPr>
        <p:spPr>
          <a:xfrm xmlns:a="http://schemas.openxmlformats.org/drawingml/2006/main">
            <a:off x="8232273" y="4013200"/>
            <a:ext cx="3568700" cy="198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1300"/>
              </a:spcAft>
              <a:buNone/>
            </a:pPr>
            <a:r>
              <a:rPr sz="1900">
                <a:solidFill>
                  <a:schemeClr val="dk1"/>
                </a:solidFill>
              </a:rPr>
              <a:t>計算基盤</a:t>
            </a:r>
          </a:p>
          <a:p xmlns:a="http://schemas.openxmlformats.org/drawingml/2006/main">
            <a:pPr marL="0" indent="0">
              <a:spcAft>
                <a:spcPts val="1300"/>
              </a:spcAft>
              <a:buNone/>
            </a:pPr>
            <a:r>
              <a:rPr sz="1900">
                <a:solidFill>
                  <a:schemeClr val="dk1"/>
                </a:solidFill>
              </a:rPr>
              <a:t/>
            </a:r>
          </a:p>
          <a:p xmlns:a="http://schemas.openxmlformats.org/drawingml/2006/main">
            <a:pPr marL="0" indent="0">
              <a:spcAft>
                <a:spcPts val="1300"/>
              </a:spcAft>
              <a:buNone/>
            </a:pPr>
            <a:r>
              <a:rPr sz="1900">
                <a:solidFill>
                  <a:schemeClr val="dk1"/>
                </a:solidFill>
              </a:rPr>
              <a:t>必要な場所・電力・レイテンシで、その処理を継続可能にする。</a:t>
            </a:r>
          </a:p>
        </p:txBody>
      </p:sp>
      <p:sp>
        <p:nvSpPr>
          <p:cNvPr id="557" name="Google Shape;557;p61">
            <a:extLst xmlns:a="http://schemas.openxmlformats.org/drawingml/2006/main">
              <a:ext uri="{FF2B5EF4-FFF2-40B4-BE49-F238E27FC236}">
                <a16:creationId xmlns:a16="http://schemas.microsoft.com/office/drawing/2014/main" id="{5B7DCF10-12E5-4EB4-841A-47C58380CE2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高価値データは、三本柱が共同生産する</a:t>
            </a:r>
          </a:p>
        </p:txBody>
      </p:sp>
      <p:sp>
        <p:nvSpPr>
          <p:cNvPr id="561" name="Google Shape;561;p61">
            <a:extLst xmlns:a="http://schemas.openxmlformats.org/drawingml/2006/main">
              <a:ext uri="{FF2B5EF4-FFF2-40B4-BE49-F238E27FC236}">
                <a16:creationId xmlns:a16="http://schemas.microsoft.com/office/drawing/2014/main" id="{40EEBE57-A95D-4F3F-98C8-D8716B073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9904" y="3433102"/>
            <a:ext cx="315580" cy="353873"/>
          </a:xfrm>
          <a:custGeom xmlns:a="http://schemas.openxmlformats.org/drawingml/2006/main">
            <a:rect l="l" t="t" r="r" b="b"/>
            <a:pathLst>
              <a:path w="20236" h="20115">
                <a:moveTo>
                  <a:pt x="11303" y="2594"/>
                </a:moveTo>
                <a:lnTo>
                  <a:pt x="2175" y="11983"/>
                </a:lnTo>
                <a:lnTo>
                  <a:pt x="9033" y="11983"/>
                </a:lnTo>
                <a:cubicBezTo>
                  <a:pt x="9364" y="11983"/>
                  <a:pt x="9678" y="12118"/>
                  <a:pt x="9883" y="12348"/>
                </a:cubicBezTo>
                <a:cubicBezTo>
                  <a:pt x="10089" y="12579"/>
                  <a:pt x="10165" y="12880"/>
                  <a:pt x="10089" y="13166"/>
                </a:cubicBezTo>
                <a:lnTo>
                  <a:pt x="8933" y="17522"/>
                </a:lnTo>
                <a:lnTo>
                  <a:pt x="18061" y="8133"/>
                </a:lnTo>
                <a:lnTo>
                  <a:pt x="11203" y="8133"/>
                </a:lnTo>
                <a:cubicBezTo>
                  <a:pt x="10872" y="8133"/>
                  <a:pt x="10558" y="7999"/>
                  <a:pt x="10353" y="7768"/>
                </a:cubicBezTo>
                <a:cubicBezTo>
                  <a:pt x="10147" y="7537"/>
                  <a:pt x="10071" y="7236"/>
                  <a:pt x="10147" y="6950"/>
                </a:cubicBezTo>
                <a:lnTo>
                  <a:pt x="11303" y="2594"/>
                </a:lnTo>
                <a:close/>
                <a:moveTo>
                  <a:pt x="10382" y="593"/>
                </a:moveTo>
                <a:cubicBezTo>
                  <a:pt x="11679" y="-742"/>
                  <a:pt x="14125" y="363"/>
                  <a:pt x="13670" y="2078"/>
                </a:cubicBezTo>
                <a:lnTo>
                  <a:pt x="12574" y="6208"/>
                </a:lnTo>
                <a:lnTo>
                  <a:pt x="18061" y="6208"/>
                </a:lnTo>
                <a:cubicBezTo>
                  <a:pt x="19918" y="6208"/>
                  <a:pt x="20918" y="8142"/>
                  <a:pt x="19705" y="9390"/>
                </a:cubicBezTo>
                <a:lnTo>
                  <a:pt x="9854" y="19523"/>
                </a:lnTo>
                <a:cubicBezTo>
                  <a:pt x="8557" y="20858"/>
                  <a:pt x="6111" y="19753"/>
                  <a:pt x="6566" y="18038"/>
                </a:cubicBezTo>
                <a:lnTo>
                  <a:pt x="7662" y="13908"/>
                </a:lnTo>
                <a:lnTo>
                  <a:pt x="2175" y="13908"/>
                </a:lnTo>
                <a:cubicBezTo>
                  <a:pt x="318" y="13908"/>
                  <a:pt x="-682" y="11974"/>
                  <a:pt x="531" y="10726"/>
                </a:cubicBezTo>
                <a:lnTo>
                  <a:pt x="10382" y="59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7725" tIns="67725" rIns="67725" bIns="677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62" name="Google Shape;562;p61">
            <a:extLst xmlns:a="http://schemas.openxmlformats.org/drawingml/2006/main">
              <a:ext uri="{FF2B5EF4-FFF2-40B4-BE49-F238E27FC236}">
                <a16:creationId xmlns:a16="http://schemas.microsoft.com/office/drawing/2014/main" id="{31953A3E-37DD-41ED-89B6-2E9B596A9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666" y="3429011"/>
            <a:ext cx="327078" cy="362074"/>
          </a:xfrm>
          <a:custGeom xmlns:a="http://schemas.openxmlformats.org/drawingml/2006/main">
            <a:rect l="l" t="t" r="r" b="b"/>
            <a:pathLst>
              <a:path w="21600" h="21333">
                <a:moveTo>
                  <a:pt x="11359" y="2130"/>
                </a:moveTo>
                <a:cubicBezTo>
                  <a:pt x="11014" y="1951"/>
                  <a:pt x="10588" y="1951"/>
                  <a:pt x="10241" y="2130"/>
                </a:cubicBezTo>
                <a:lnTo>
                  <a:pt x="3250" y="5732"/>
                </a:lnTo>
                <a:lnTo>
                  <a:pt x="10817" y="9530"/>
                </a:lnTo>
                <a:lnTo>
                  <a:pt x="18593" y="5856"/>
                </a:lnTo>
                <a:lnTo>
                  <a:pt x="11359" y="2130"/>
                </a:lnTo>
                <a:close/>
                <a:moveTo>
                  <a:pt x="19364" y="7749"/>
                </a:moveTo>
                <a:lnTo>
                  <a:pt x="11918" y="11267"/>
                </a:lnTo>
                <a:lnTo>
                  <a:pt x="11918" y="18916"/>
                </a:lnTo>
                <a:lnTo>
                  <a:pt x="18805" y="15367"/>
                </a:lnTo>
                <a:cubicBezTo>
                  <a:pt x="19152" y="15189"/>
                  <a:pt x="19364" y="14860"/>
                  <a:pt x="19364" y="14503"/>
                </a:cubicBezTo>
                <a:lnTo>
                  <a:pt x="19364" y="7749"/>
                </a:lnTo>
                <a:close/>
                <a:moveTo>
                  <a:pt x="9682" y="18916"/>
                </a:moveTo>
                <a:lnTo>
                  <a:pt x="9682" y="11250"/>
                </a:lnTo>
                <a:lnTo>
                  <a:pt x="2236" y="7513"/>
                </a:lnTo>
                <a:lnTo>
                  <a:pt x="2236" y="14503"/>
                </a:lnTo>
                <a:cubicBezTo>
                  <a:pt x="2236" y="14860"/>
                  <a:pt x="2448" y="15189"/>
                  <a:pt x="2795" y="15367"/>
                </a:cubicBezTo>
                <a:lnTo>
                  <a:pt x="9682" y="18916"/>
                </a:lnTo>
                <a:close/>
                <a:moveTo>
                  <a:pt x="9123" y="401"/>
                </a:moveTo>
                <a:cubicBezTo>
                  <a:pt x="10160" y="-133"/>
                  <a:pt x="11440" y="-133"/>
                  <a:pt x="12477" y="401"/>
                </a:cubicBezTo>
                <a:lnTo>
                  <a:pt x="19923" y="4238"/>
                </a:lnTo>
                <a:cubicBezTo>
                  <a:pt x="20962" y="4773"/>
                  <a:pt x="21600" y="5761"/>
                  <a:pt x="21600" y="6830"/>
                </a:cubicBezTo>
                <a:lnTo>
                  <a:pt x="21600" y="14503"/>
                </a:lnTo>
                <a:cubicBezTo>
                  <a:pt x="21600" y="15572"/>
                  <a:pt x="20962" y="16561"/>
                  <a:pt x="19923" y="17096"/>
                </a:cubicBezTo>
                <a:lnTo>
                  <a:pt x="12477" y="20932"/>
                </a:lnTo>
                <a:cubicBezTo>
                  <a:pt x="11440" y="21467"/>
                  <a:pt x="10160" y="21467"/>
                  <a:pt x="9123" y="20932"/>
                </a:cubicBezTo>
                <a:lnTo>
                  <a:pt x="1677" y="17096"/>
                </a:lnTo>
                <a:cubicBezTo>
                  <a:pt x="640" y="16561"/>
                  <a:pt x="0" y="15572"/>
                  <a:pt x="0" y="14503"/>
                </a:cubicBezTo>
                <a:lnTo>
                  <a:pt x="0" y="6830"/>
                </a:lnTo>
                <a:cubicBezTo>
                  <a:pt x="0" y="5761"/>
                  <a:pt x="640" y="4773"/>
                  <a:pt x="1677" y="4238"/>
                </a:cubicBezTo>
                <a:lnTo>
                  <a:pt x="9123" y="40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7725" tIns="67725" rIns="67725" bIns="677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63" name="Google Shape;563;p61">
            <a:extLst xmlns:a="http://schemas.openxmlformats.org/drawingml/2006/main">
              <a:ext uri="{FF2B5EF4-FFF2-40B4-BE49-F238E27FC236}">
                <a16:creationId xmlns:a16="http://schemas.microsoft.com/office/drawing/2014/main" id="{64C4BA2A-3ECF-475C-AC33-EB58028F9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4664" y="3474581"/>
            <a:ext cx="338580" cy="270918"/>
          </a:xfrm>
          <a:custGeom xmlns:a="http://schemas.openxmlformats.org/drawingml/2006/main">
            <a:rect l="l" t="t" r="r" b="b"/>
            <a:pathLst>
              <a:path w="21600" h="21600">
                <a:moveTo>
                  <a:pt x="6220" y="0"/>
                </a:moveTo>
                <a:lnTo>
                  <a:pt x="15380" y="0"/>
                </a:lnTo>
                <a:cubicBezTo>
                  <a:pt x="16250" y="0"/>
                  <a:pt x="16968" y="0"/>
                  <a:pt x="17552" y="59"/>
                </a:cubicBezTo>
                <a:cubicBezTo>
                  <a:pt x="18159" y="122"/>
                  <a:pt x="18717" y="255"/>
                  <a:pt x="19241" y="589"/>
                </a:cubicBezTo>
                <a:cubicBezTo>
                  <a:pt x="20055" y="1106"/>
                  <a:pt x="20715" y="1932"/>
                  <a:pt x="21129" y="2948"/>
                </a:cubicBezTo>
                <a:cubicBezTo>
                  <a:pt x="21396" y="3603"/>
                  <a:pt x="21503" y="4301"/>
                  <a:pt x="21552" y="5060"/>
                </a:cubicBezTo>
                <a:cubicBezTo>
                  <a:pt x="21600" y="5790"/>
                  <a:pt x="21600" y="6688"/>
                  <a:pt x="21600" y="7775"/>
                </a:cubicBezTo>
                <a:lnTo>
                  <a:pt x="21600" y="13825"/>
                </a:lnTo>
                <a:cubicBezTo>
                  <a:pt x="21600" y="14912"/>
                  <a:pt x="21600" y="15810"/>
                  <a:pt x="21552" y="16540"/>
                </a:cubicBezTo>
                <a:cubicBezTo>
                  <a:pt x="21503" y="17299"/>
                  <a:pt x="21396" y="17997"/>
                  <a:pt x="21129" y="18652"/>
                </a:cubicBezTo>
                <a:cubicBezTo>
                  <a:pt x="20715" y="19668"/>
                  <a:pt x="20055" y="20494"/>
                  <a:pt x="19241" y="21011"/>
                </a:cubicBezTo>
                <a:cubicBezTo>
                  <a:pt x="18717" y="21345"/>
                  <a:pt x="18159" y="21478"/>
                  <a:pt x="17552" y="21541"/>
                </a:cubicBezTo>
                <a:cubicBezTo>
                  <a:pt x="16968" y="21600"/>
                  <a:pt x="16250" y="21600"/>
                  <a:pt x="15380" y="21600"/>
                </a:cubicBezTo>
                <a:lnTo>
                  <a:pt x="6220" y="21600"/>
                </a:lnTo>
                <a:cubicBezTo>
                  <a:pt x="5350" y="21600"/>
                  <a:pt x="4632" y="21600"/>
                  <a:pt x="4048" y="21541"/>
                </a:cubicBezTo>
                <a:cubicBezTo>
                  <a:pt x="3441" y="21478"/>
                  <a:pt x="2883" y="21345"/>
                  <a:pt x="2359" y="21011"/>
                </a:cubicBezTo>
                <a:cubicBezTo>
                  <a:pt x="1545" y="20494"/>
                  <a:pt x="885" y="19668"/>
                  <a:pt x="471" y="18652"/>
                </a:cubicBezTo>
                <a:cubicBezTo>
                  <a:pt x="204" y="17997"/>
                  <a:pt x="97" y="17299"/>
                  <a:pt x="48" y="16540"/>
                </a:cubicBezTo>
                <a:cubicBezTo>
                  <a:pt x="0" y="15810"/>
                  <a:pt x="0" y="14912"/>
                  <a:pt x="0" y="13825"/>
                </a:cubicBezTo>
                <a:lnTo>
                  <a:pt x="0" y="7775"/>
                </a:lnTo>
                <a:cubicBezTo>
                  <a:pt x="0" y="6688"/>
                  <a:pt x="0" y="5790"/>
                  <a:pt x="48" y="5060"/>
                </a:cubicBezTo>
                <a:cubicBezTo>
                  <a:pt x="97" y="4301"/>
                  <a:pt x="204" y="3603"/>
                  <a:pt x="471" y="2948"/>
                </a:cubicBezTo>
                <a:cubicBezTo>
                  <a:pt x="885" y="1932"/>
                  <a:pt x="1545" y="1106"/>
                  <a:pt x="2359" y="589"/>
                </a:cubicBezTo>
                <a:cubicBezTo>
                  <a:pt x="2883" y="255"/>
                  <a:pt x="3441" y="122"/>
                  <a:pt x="4048" y="59"/>
                </a:cubicBezTo>
                <a:cubicBezTo>
                  <a:pt x="4632" y="0"/>
                  <a:pt x="5350" y="0"/>
                  <a:pt x="6220" y="0"/>
                </a:cubicBezTo>
                <a:close/>
                <a:moveTo>
                  <a:pt x="2160" y="9450"/>
                </a:moveTo>
                <a:lnTo>
                  <a:pt x="2160" y="13770"/>
                </a:lnTo>
                <a:cubicBezTo>
                  <a:pt x="2160" y="14927"/>
                  <a:pt x="2161" y="15713"/>
                  <a:pt x="2201" y="16320"/>
                </a:cubicBezTo>
                <a:cubicBezTo>
                  <a:pt x="2239" y="16911"/>
                  <a:pt x="2309" y="17215"/>
                  <a:pt x="2395" y="17426"/>
                </a:cubicBezTo>
                <a:cubicBezTo>
                  <a:pt x="2603" y="17933"/>
                  <a:pt x="2933" y="18347"/>
                  <a:pt x="3339" y="18606"/>
                </a:cubicBezTo>
                <a:cubicBezTo>
                  <a:pt x="3508" y="18714"/>
                  <a:pt x="3751" y="18801"/>
                  <a:pt x="4224" y="18849"/>
                </a:cubicBezTo>
                <a:cubicBezTo>
                  <a:pt x="4710" y="18899"/>
                  <a:pt x="5338" y="18900"/>
                  <a:pt x="6264" y="18900"/>
                </a:cubicBezTo>
                <a:lnTo>
                  <a:pt x="15336" y="18900"/>
                </a:lnTo>
                <a:cubicBezTo>
                  <a:pt x="16262" y="18900"/>
                  <a:pt x="16890" y="18899"/>
                  <a:pt x="17376" y="18849"/>
                </a:cubicBezTo>
                <a:cubicBezTo>
                  <a:pt x="17849" y="18801"/>
                  <a:pt x="18092" y="18714"/>
                  <a:pt x="18261" y="18606"/>
                </a:cubicBezTo>
                <a:cubicBezTo>
                  <a:pt x="18667" y="18347"/>
                  <a:pt x="18997" y="17933"/>
                  <a:pt x="19205" y="17426"/>
                </a:cubicBezTo>
                <a:cubicBezTo>
                  <a:pt x="19291" y="17215"/>
                  <a:pt x="19361" y="16911"/>
                  <a:pt x="19399" y="16320"/>
                </a:cubicBezTo>
                <a:cubicBezTo>
                  <a:pt x="19439" y="15713"/>
                  <a:pt x="19440" y="14927"/>
                  <a:pt x="19440" y="13770"/>
                </a:cubicBezTo>
                <a:lnTo>
                  <a:pt x="19440" y="9450"/>
                </a:lnTo>
                <a:lnTo>
                  <a:pt x="2160" y="9450"/>
                </a:lnTo>
                <a:close/>
                <a:moveTo>
                  <a:pt x="19438" y="6750"/>
                </a:moveTo>
                <a:cubicBezTo>
                  <a:pt x="19435" y="6148"/>
                  <a:pt x="19425" y="5677"/>
                  <a:pt x="19399" y="5280"/>
                </a:cubicBezTo>
                <a:cubicBezTo>
                  <a:pt x="19361" y="4689"/>
                  <a:pt x="19291" y="4385"/>
                  <a:pt x="19205" y="4174"/>
                </a:cubicBezTo>
                <a:cubicBezTo>
                  <a:pt x="18997" y="3667"/>
                  <a:pt x="18667" y="3254"/>
                  <a:pt x="18261" y="2994"/>
                </a:cubicBezTo>
                <a:cubicBezTo>
                  <a:pt x="18092" y="2886"/>
                  <a:pt x="17849" y="2799"/>
                  <a:pt x="17376" y="2751"/>
                </a:cubicBezTo>
                <a:cubicBezTo>
                  <a:pt x="16890" y="2701"/>
                  <a:pt x="16262" y="2700"/>
                  <a:pt x="15336" y="2700"/>
                </a:cubicBezTo>
                <a:lnTo>
                  <a:pt x="6264" y="2700"/>
                </a:lnTo>
                <a:cubicBezTo>
                  <a:pt x="5338" y="2700"/>
                  <a:pt x="4710" y="2701"/>
                  <a:pt x="4224" y="2751"/>
                </a:cubicBezTo>
                <a:cubicBezTo>
                  <a:pt x="3751" y="2799"/>
                  <a:pt x="3508" y="2886"/>
                  <a:pt x="3339" y="2994"/>
                </a:cubicBezTo>
                <a:cubicBezTo>
                  <a:pt x="2933" y="3254"/>
                  <a:pt x="2603" y="3667"/>
                  <a:pt x="2395" y="4174"/>
                </a:cubicBezTo>
                <a:cubicBezTo>
                  <a:pt x="2309" y="4385"/>
                  <a:pt x="2239" y="4689"/>
                  <a:pt x="2201" y="5280"/>
                </a:cubicBezTo>
                <a:cubicBezTo>
                  <a:pt x="2175" y="5677"/>
                  <a:pt x="2165" y="6148"/>
                  <a:pt x="2162" y="6750"/>
                </a:cubicBezTo>
                <a:lnTo>
                  <a:pt x="19438" y="6750"/>
                </a:lnTo>
                <a:close/>
                <a:moveTo>
                  <a:pt x="12960" y="14850"/>
                </a:moveTo>
                <a:cubicBezTo>
                  <a:pt x="12960" y="14105"/>
                  <a:pt x="13444" y="13500"/>
                  <a:pt x="14040" y="13500"/>
                </a:cubicBezTo>
                <a:lnTo>
                  <a:pt x="16200" y="13500"/>
                </a:lnTo>
                <a:cubicBezTo>
                  <a:pt x="16796" y="13500"/>
                  <a:pt x="17280" y="14105"/>
                  <a:pt x="17280" y="14850"/>
                </a:cubicBezTo>
                <a:cubicBezTo>
                  <a:pt x="17280" y="15595"/>
                  <a:pt x="16796" y="16200"/>
                  <a:pt x="16200" y="16200"/>
                </a:cubicBezTo>
                <a:lnTo>
                  <a:pt x="14040" y="16200"/>
                </a:lnTo>
                <a:cubicBezTo>
                  <a:pt x="13444" y="16200"/>
                  <a:pt x="12960" y="15595"/>
                  <a:pt x="12960" y="1485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7725" tIns="67725" rIns="67725" bIns="677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356419077"/>
      </p:ext>
    </p:extLst>
  </p:cSld>
</p:sld>
</file>

<file path=ppt/slides/slide2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object 3">
            <a:extLst xmlns:a="http://schemas.openxmlformats.org/drawingml/2006/main">
              <a:ext uri="{FF2B5EF4-FFF2-40B4-BE49-F238E27FC236}">
                <a16:creationId xmlns:a16="http://schemas.microsoft.com/office/drawing/2014/main" id="{E9587ADC-D7C6-0752-CB04-90543E6E5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0900" y="0"/>
            <a:ext cx="6261100" cy="6858000"/>
          </a:xfrm>
          <a:custGeom xmlns:a="http://schemas.openxmlformats.org/drawingml/2006/main">
            <a:rect l="l" t="t" r="r" b="b"/>
            <a:pathLst>
              <a:path w="7386319" h="7475220">
                <a:moveTo>
                  <a:pt x="7385710" y="0"/>
                </a:moveTo>
                <a:lnTo>
                  <a:pt x="0" y="0"/>
                </a:lnTo>
                <a:lnTo>
                  <a:pt x="0" y="7474610"/>
                </a:lnTo>
                <a:lnTo>
                  <a:pt x="7385710" y="7474610"/>
                </a:lnTo>
                <a:lnTo>
                  <a:pt x="7385710" y="0"/>
                </a:lnTo>
                <a:close/>
              </a:path>
            </a:pathLst>
          </a:custGeom>
          <a:solidFill xmlns:a="http://schemas.openxmlformats.org/drawingml/2006/main">
            <a:srgbClr val="EDEDED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/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F0FFD4C2-91BF-62E5-3F4D-5F22CB693C50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fld id="{02F15020-66A7-620A-7B7A-C05C4312DEAE}" type="slidenum">
              <a:t>27</a:t>
            </a:fld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76B53431-A5A3-DBCC-DDCF-BA4B5ED509B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5537200" cy="267859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rPr sz="4200"/>
              <a:t>高効率・低消費電力の</a:t>
            </a:r>
          </a:p>
          <a:p xmlns:a="http://schemas.openxmlformats.org/drawingml/2006/main">
            <a:r>
              <a:rPr sz="4200"/>
              <a:t>AI専用計算基盤は</a:t>
            </a:r>
          </a:p>
          <a:p xmlns:a="http://schemas.openxmlformats.org/drawingml/2006/main">
            <a:r>
              <a:rPr sz="4200"/>
              <a:t>非オプション。</a:t>
            </a:r>
          </a:p>
        </p:txBody>
      </p:sp>
      <p:sp>
        <p:nvSpPr>
          <p:cNvPr id="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482C0709-78B4-948D-01E2-20AD0623C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1100" y="4297107"/>
            <a:ext cx="5537200" cy="21176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buNone/>
              <a:defRPr sz="29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r>
              <a:rPr sz="4200"/>
              <a:t>本番推論のROIを成立させる</a:t>
            </a:r>
          </a:p>
          <a:p xmlns:a="http://schemas.openxmlformats.org/drawingml/2006/main">
            <a:r>
              <a:rPr sz="4200"/>
              <a:t>前提条件である。</a:t>
            </a:r>
          </a:p>
        </p:txBody>
      </p:sp>
    </p:spTree>
    <p:extLst>
      <p:ext uri="{BB962C8B-B14F-4D97-AF65-F5344CB8AC3E}">
        <p14:creationId xmlns:p14="http://schemas.microsoft.com/office/powerpoint/2010/main" val="3931526918"/>
      </p:ext>
    </p:extLst>
  </p:cSld>
</p:sld>
</file>

<file path=ppt/slides/slide2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52A30403-4B2D-2E15-7A2F-51A6DF6BE5D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fld id="{68AD4375-9F50-F53A-6F9F-DD8473067C05}" type="slidenum">
              <a:t>28</a:t>
            </a:fld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0A2BB6CD-1085-4638-68F3-7000FD29EA0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9"/>
            <a:ext cx="7835900" cy="58158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推論は、利用のたびに全取引へ課される変動費</a:t>
            </a:r>
          </a:p>
        </p:txBody>
      </p:sp>
      <p:sp>
        <p:nvSpPr>
          <p:cNvPr id="2" name="Rounded Rectangle 1">
            <a:extLst xmlns:a="http://schemas.openxmlformats.org/drawingml/2006/main">
              <a:ext uri="{FF2B5EF4-FFF2-40B4-BE49-F238E27FC236}">
                <a16:creationId xmlns:a16="http://schemas.microsoft.com/office/drawing/2014/main" id="{390FBCE0-CCE2-0D7F-19D7-0DA59E2FB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013" y="3025321"/>
            <a:ext cx="5533887" cy="1320801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31291836-42DE-4BA2-7C66-683137F11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48" y="3274205"/>
            <a:ext cx="4986886" cy="8777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年間推論総コスト</a:t>
            </a:r>
          </a:p>
        </p:txBody>
      </p:sp>
      <p:sp>
        <p:nvSpPr>
          <p:cNvPr id="4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3D399E38-72C8-159B-DE08-FC689A75B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48" y="4514850"/>
            <a:ext cx="5236652" cy="977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28600" indent="-2286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har char="•"/>
            </a:pPr>
            <a:r>
              <a:rPr sz="14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利用件数 × 1件当たり呼出し回数 × 1呼出し推論コスト</a:t>
            </a:r>
          </a:p>
          <a:p xmlns:a="http://schemas.openxmlformats.org/drawingml/2006/main">
            <a:pPr marL="228600" indent="-2286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har char="•"/>
            </a:pPr>
            <a:r>
              <a:rPr sz="14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＋ 設備償却 ＋ 電力・冷却・保守・運用費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5E1586E9-BDFD-E84E-20C0-875E339DC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0785" y="3025321"/>
            <a:ext cx="5533887" cy="1320801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BDE93465-12EE-49A8-048B-A3C97C2DF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20" y="3274205"/>
            <a:ext cx="4986886" cy="8777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PoC性能 ≠ 本番ROI</a:t>
            </a:r>
          </a:p>
        </p:txBody>
      </p:sp>
      <p:sp>
        <p:nvSpPr>
          <p:cNvPr id="13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0F1EA821-AA26-C1FC-F948-D100ABDE2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20" y="4514850"/>
            <a:ext cx="5236652" cy="977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28600" indent="-2286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har char="•"/>
            </a:pPr>
            <a:r>
              <a:rPr sz="14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性能が出ても、常時利用・ピーク容量・設備費を含む単位経済性が成立するとは限らない。</a:t>
            </a:r>
          </a:p>
        </p:txBody>
      </p:sp>
      <p:sp>
        <p:nvSpPr>
          <p:cNvPr id="14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53566714-9098-3B48-6D62-954DC695F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39" y="1157513"/>
            <a:ext cx="11404599" cy="16292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800">
                <a:solidFill>
                  <a:prstClr val="black"/>
                </a:solidFill>
                <a:latin typeface="Helvetica Neue Medium"/>
                <a:ea typeface="Helvetica Neue Medium"/>
                <a:cs typeface="Helvetica Neue Medium"/>
              </a:rPr>
              <a:t>Agentic AIでは、モデル呼出し、検索、再推論、tool use、検証、reflectionが一業務で反復される。</a:t>
            </a:r>
          </a:p>
        </p:txBody>
      </p:sp>
      <p:sp>
        <p:nvSpPr>
          <p:cNvPr id="26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E7F409CA-A992-D5A3-DF49-49CFA53E4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39" y="5617936"/>
            <a:ext cx="11404599" cy="529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AIが現場へ深く入るほど、推論基盤の効率が導入可能範囲を決める。</a:t>
            </a:r>
          </a:p>
        </p:txBody>
      </p:sp>
    </p:spTree>
    <p:extLst>
      <p:ext uri="{BB962C8B-B14F-4D97-AF65-F5344CB8AC3E}">
        <p14:creationId xmlns:p14="http://schemas.microsoft.com/office/powerpoint/2010/main" val="3462458655"/>
      </p:ext>
    </p:extLst>
  </p:cSld>
</p:sld>
</file>

<file path=ppt/slides/slide2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4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73983F85-E2E7-5016-FA2B-D1CE29449182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>1｜常時発生する推論量とAgentの多段呼出し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>2｜低遅延・可用性・ピーク・冗長化の余剰容量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>3｜decode、長context、KV cache、RAG/KGでmemoryとdata移動が支配</a:t>
            </a:r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1BCBE750-7048-686D-1472-52C53362D6C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fld id="{41680313-6E64-04FF-399A-57B7CADE95A9}" type="slidenum">
              <a:t>29</a:t>
            </a:fld>
          </a:p>
        </p:txBody>
      </p:sp>
      <p:sp>
        <p:nvSpPr>
          <p:cNvPr id="2" name="Content Placeholder 1">
            <a:extLst xmlns:a="http://schemas.openxmlformats.org/drawingml/2006/main">
              <a:ext uri="{FF2B5EF4-FFF2-40B4-BE49-F238E27FC236}">
                <a16:creationId xmlns:a16="http://schemas.microsoft.com/office/drawing/2014/main" id="{336409A4-E296-79C0-A5A6-B0CD8EB393CA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/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4｜企業施設・工場・車両・基地の電力・冷却・rack制約</a:t>
            </a:r>
          </a:p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5｜推論で利用しない汎用性を含むHW・memory・SW・運用stackへの支払い</a:t>
            </a:r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B5D55CD-1C17-7CD8-F26A-2DD65B0676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汎用GPUの単純増設でROIが悪化する5要因</a:t>
            </a:r>
          </a:p>
        </p:txBody>
      </p:sp>
    </p:spTree>
    <p:extLst>
      <p:ext uri="{BB962C8B-B14F-4D97-AF65-F5344CB8AC3E}">
        <p14:creationId xmlns:p14="http://schemas.microsoft.com/office/powerpoint/2010/main" val="3667182145"/>
      </p:ext>
    </p:extLst>
  </p:cSld>
</p:sld>
</file>

<file path=ppt/slides/slide3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69A7B84F-6F74-164C-037A-8CB20BDDFE1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fld id="{5FEBBBCE-9E16-527A-0EE3-E5839422D847}" type="slidenum">
              <a:t>30</a:t>
            </a:fld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E3D44A9C-8B13-1683-4B06-D873237D1D1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35687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専用計算基盤の6層</a:t>
            </a:r>
          </a:p>
        </p:txBody>
      </p:sp>
      <p:sp>
        <p:nvSpPr>
          <p:cNvPr id="10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047BF48D-F983-118D-D2F7-E43AACA9F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2445" y="393701"/>
            <a:ext cx="5505855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96509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小型化、MoE、量子化、sparsity、speculative decoding、蒸留</a:t>
            </a:r>
          </a:p>
        </p:txBody>
      </p:sp>
      <p:sp>
        <p:nvSpPr>
          <p:cNvPr id="2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AF6A488A-017C-2F49-A724-CF4366590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245" y="393701"/>
            <a:ext cx="1784755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 Medium"/>
                <a:ea typeface="Helvetica Neue Medium"/>
                <a:cs typeface="Helvetica Neue Medium"/>
              </a:rPr>
              <a:t>モデル</a:t>
            </a:r>
          </a:p>
        </p:txBody>
      </p:sp>
      <p:sp>
        <p:nvSpPr>
          <p:cNvPr id="7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59230B05-F497-DE80-839D-8A9B7CC16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2445" y="1397001"/>
            <a:ext cx="5505855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難度別routing、RAG/KG/ルール、batch形成</a:t>
            </a:r>
          </a:p>
        </p:txBody>
      </p:sp>
      <p:sp>
        <p:nvSpPr>
          <p:cNvPr id="9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D01219A0-506D-650D-E147-5B8132027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245" y="1397001"/>
            <a:ext cx="1784755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 Medium"/>
                <a:ea typeface="Helvetica Neue Medium"/>
                <a:cs typeface="Helvetica Neue Medium"/>
              </a:rPr>
              <a:t>配置</a:t>
            </a:r>
          </a:p>
        </p:txBody>
      </p:sp>
      <p:sp>
        <p:nvSpPr>
          <p:cNvPr id="12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F5BFF3A2-62B8-C64E-A147-B21AD9CBB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2445" y="2374901"/>
            <a:ext cx="5505855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serving、kernel、compiler、runtime、cache、scheduler</a:t>
            </a:r>
          </a:p>
        </p:txBody>
      </p:sp>
      <p:sp>
        <p:nvSpPr>
          <p:cNvPr id="15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F7608A34-9B1E-8319-01AB-B013BBE67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245" y="2374901"/>
            <a:ext cx="1784755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 Medium"/>
                <a:ea typeface="Helvetica Neue Medium"/>
                <a:cs typeface="Helvetica Neue Medium"/>
              </a:rPr>
              <a:t>推論SW</a:t>
            </a:r>
          </a:p>
        </p:txBody>
      </p:sp>
      <p:sp>
        <p:nvSpPr>
          <p:cNvPr id="16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0845C908-26F4-26EB-1CA7-AABB89BB3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2445" y="3365501"/>
            <a:ext cx="5505855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98318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KV cache、HBM/DRAM/CXL、近接配置、圧縮、interconnect</a:t>
            </a:r>
          </a:p>
        </p:txBody>
      </p:sp>
      <p:sp>
        <p:nvSpPr>
          <p:cNvPr id="17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228D802D-D8A9-E697-144D-8E7477F29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245" y="3365501"/>
            <a:ext cx="1784755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 Medium"/>
                <a:ea typeface="Helvetica Neue Medium"/>
                <a:cs typeface="Helvetica Neue Medium"/>
              </a:rPr>
              <a:t>Memory/I/O</a:t>
            </a:r>
          </a:p>
        </p:txBody>
      </p:sp>
      <p:sp>
        <p:nvSpPr>
          <p:cNvPr id="18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0CCFFBE1-F391-100C-F0AF-8B730BA0A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2445" y="4356101"/>
            <a:ext cx="5505855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GPU、推論accelerator、FPGA、必要時のASIC</a:t>
            </a:r>
          </a:p>
        </p:txBody>
      </p:sp>
      <p:sp>
        <p:nvSpPr>
          <p:cNvPr id="19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BDD61A53-13D8-0ED5-E0A9-5CB7D8718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245" y="4356101"/>
            <a:ext cx="1784755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 Medium"/>
                <a:ea typeface="Helvetica Neue Medium"/>
                <a:cs typeface="Helvetica Neue Medium"/>
              </a:rPr>
              <a:t>演算</a:t>
            </a:r>
          </a:p>
        </p:txBody>
      </p:sp>
      <p:sp>
        <p:nvSpPr>
          <p:cNvPr id="20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8FDE77B0-FFF1-E69E-8C9B-D6E2B9870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2445" y="5359401"/>
            <a:ext cx="5505855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電力、冷却、冗長化、可観測性、縮退運転、保守</a:t>
            </a:r>
          </a:p>
        </p:txBody>
      </p:sp>
      <p:sp>
        <p:nvSpPr>
          <p:cNvPr id="21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5657569D-FC7C-5C9F-EA43-E13413EF7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245" y="5359401"/>
            <a:ext cx="1784755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 Medium"/>
                <a:ea typeface="Helvetica Neue Medium"/>
                <a:cs typeface="Helvetica Neue Medium"/>
              </a:rPr>
              <a:t>設備</a:t>
            </a:r>
          </a:p>
        </p:txBody>
      </p:sp>
    </p:spTree>
    <p:extLst>
      <p:ext uri="{BB962C8B-B14F-4D97-AF65-F5344CB8AC3E}">
        <p14:creationId xmlns:p14="http://schemas.microsoft.com/office/powerpoint/2010/main" val="3081640303"/>
      </p:ext>
    </p:extLst>
  </p:cSld>
</p:sld>
</file>

<file path=ppt/slides/slide3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52A30403-4B2D-2E15-7A2F-51A6DF6BE5D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fld id="{D172A7C5-A0CC-7B36-F236-345181E6AD72}" type="slidenum">
              <a:t>31</a:t>
            </a:fld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0A2BB6CD-1085-4638-68F3-7000FD29EA0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9"/>
            <a:ext cx="7835900" cy="58158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高効率計算基盤は、業務成果に対する総費用で評価する</a:t>
            </a:r>
          </a:p>
        </p:txBody>
      </p:sp>
      <p:sp>
        <p:nvSpPr>
          <p:cNvPr id="2" name="Rounded Rectangle 1">
            <a:extLst xmlns:a="http://schemas.openxmlformats.org/drawingml/2006/main">
              <a:ext uri="{FF2B5EF4-FFF2-40B4-BE49-F238E27FC236}">
                <a16:creationId xmlns:a16="http://schemas.microsoft.com/office/drawing/2014/main" id="{390FBCE0-CCE2-0D7F-19D7-0DA59E2FB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013" y="3025321"/>
            <a:ext cx="5533887" cy="1320801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31291836-42DE-4BA2-7C66-683137F11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48" y="3274205"/>
            <a:ext cx="4986886" cy="8777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Outcome単位</a:t>
            </a:r>
          </a:p>
        </p:txBody>
      </p:sp>
      <p:sp>
        <p:nvSpPr>
          <p:cNvPr id="4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3D399E38-72C8-159B-DE08-FC689A75B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48" y="4514850"/>
            <a:ext cx="5236652" cy="977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28600" indent="-2286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har char="•"/>
            </a:pPr>
            <a:r>
              <a:rPr sz="14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• 1業務当たり推論回数</a:t>
            </a:r>
          </a:p>
          <a:p xmlns:a="http://schemas.openxmlformats.org/drawingml/2006/main">
            <a:pPr marL="228600" indent="-2286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har char="•"/>
            </a:pPr>
            <a:r>
              <a:rPr sz="14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• 採用判断/action当たり計算費</a:t>
            </a:r>
          </a:p>
          <a:p xmlns:a="http://schemas.openxmlformats.org/drawingml/2006/main">
            <a:pPr marL="228600" indent="-2286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har char="•"/>
            </a:pPr>
            <a:r>
              <a:rPr sz="14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• outcome当たり電力量</a:t>
            </a:r>
          </a:p>
          <a:p xmlns:a="http://schemas.openxmlformats.org/drawingml/2006/main">
            <a:pPr marL="228600" indent="-2286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har char="•"/>
            </a:pPr>
            <a:r>
              <a:rPr sz="14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• 年間純便益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5E1586E9-BDFD-E84E-20C0-875E339DC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0785" y="3025321"/>
            <a:ext cx="5533887" cy="1320801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BDE93465-12EE-49A8-048B-A3C97C2DF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20" y="3274205"/>
            <a:ext cx="4986886" cy="8777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設備・運用</a:t>
            </a:r>
          </a:p>
        </p:txBody>
      </p:sp>
      <p:sp>
        <p:nvSpPr>
          <p:cNvPr id="13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0F1EA821-AA26-C1FC-F948-D100ABDE2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20" y="4514850"/>
            <a:ext cx="5236652" cy="977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28600" indent="-2286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har char="•"/>
            </a:pPr>
            <a:r>
              <a:rPr sz="14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• 利用率とSLO余剰容量</a:t>
            </a:r>
          </a:p>
          <a:p xmlns:a="http://schemas.openxmlformats.org/drawingml/2006/main">
            <a:pPr marL="228600" indent="-2286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har char="•"/>
            </a:pPr>
            <a:r>
              <a:rPr sz="14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• 償却込みTCO</a:t>
            </a:r>
          </a:p>
          <a:p xmlns:a="http://schemas.openxmlformats.org/drawingml/2006/main">
            <a:pPr marL="228600" indent="-2286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har char="•"/>
            </a:pPr>
            <a:r>
              <a:rPr sz="14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• SW最適化の費用・電力削減率</a:t>
            </a:r>
          </a:p>
        </p:txBody>
      </p:sp>
      <p:sp>
        <p:nvSpPr>
          <p:cNvPr id="14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53566714-9098-3B48-6D62-954DC695F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39" y="1157513"/>
            <a:ext cx="11404599" cy="16292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800">
                <a:solidFill>
                  <a:prstClr val="black"/>
                </a:solidFill>
                <a:latin typeface="Helvetica Neue Medium"/>
                <a:ea typeface="Helvetica Neue Medium"/>
                <a:cs typeface="Helvetica Neue Medium"/>
              </a:rPr>
              <a:t>AI導入の年間純便益 ＝ 業務価値・損失回避 − 推論・設備・電力・冷却・保守・運用の年間総費用</a:t>
            </a:r>
          </a:p>
        </p:txBody>
      </p:sp>
      <p:sp>
        <p:nvSpPr>
          <p:cNvPr id="26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E7F409CA-A992-D5A3-DF49-49CFA53E4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39" y="5617936"/>
            <a:ext cx="11404599" cy="529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Phase 1から単位経済性を計測し、Phase 2でROI改善を実証する。</a:t>
            </a:r>
          </a:p>
        </p:txBody>
      </p:sp>
    </p:spTree>
    <p:extLst>
      <p:ext uri="{BB962C8B-B14F-4D97-AF65-F5344CB8AC3E}">
        <p14:creationId xmlns:p14="http://schemas.microsoft.com/office/powerpoint/2010/main" val="3462458655"/>
      </p:ext>
    </p:extLst>
  </p:cSld>
</p:sld>
</file>

<file path=ppt/slides/slide3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69A7B84F-6F74-164C-037A-8CB20BDDFE1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fld id="{66C3428B-053E-6B4E-39FF-75B44F3F33F6}" type="slidenum">
              <a:t>32</a:t>
            </a:fld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E3D44A9C-8B13-1683-4B06-D873237D1D1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35687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国内設計・代替の6能力</a:t>
            </a:r>
          </a:p>
        </p:txBody>
      </p:sp>
      <p:sp>
        <p:nvSpPr>
          <p:cNvPr id="10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047BF48D-F983-118D-D2F7-E43AACA9F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2445" y="393701"/>
            <a:ext cx="5505855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実ワークロードから計算要件を定義する</a:t>
            </a:r>
          </a:p>
        </p:txBody>
      </p:sp>
      <p:sp>
        <p:nvSpPr>
          <p:cNvPr id="2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AF6A488A-017C-2F49-A724-CF4366590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245" y="393701"/>
            <a:ext cx="1784755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 Medium"/>
                <a:ea typeface="Helvetica Neue Medium"/>
                <a:cs typeface="Helvetica Neue Medium"/>
              </a:rPr>
              <a:t>要件</a:t>
            </a:r>
          </a:p>
        </p:txBody>
      </p:sp>
      <p:sp>
        <p:nvSpPr>
          <p:cNvPr id="7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59230B05-F497-DE80-839D-8A9B7CC16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2445" y="1397001"/>
            <a:ext cx="5505855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GPU・FPGA・複数acceleratorを比較・統合する</a:t>
            </a:r>
          </a:p>
        </p:txBody>
      </p:sp>
      <p:sp>
        <p:nvSpPr>
          <p:cNvPr id="9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D01219A0-506D-650D-E147-5B8132027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245" y="1397001"/>
            <a:ext cx="1784755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 Medium"/>
                <a:ea typeface="Helvetica Neue Medium"/>
                <a:cs typeface="Helvetica Neue Medium"/>
              </a:rPr>
              <a:t>比較統合</a:t>
            </a:r>
          </a:p>
        </p:txBody>
      </p:sp>
      <p:sp>
        <p:nvSpPr>
          <p:cNvPr id="12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F5BFF3A2-62B8-C64E-A147-B21AD9CBB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2445" y="2374901"/>
            <a:ext cx="5505855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compiler、runtime、SDKを理解・改変する</a:t>
            </a:r>
          </a:p>
        </p:txBody>
      </p:sp>
      <p:sp>
        <p:nvSpPr>
          <p:cNvPr id="15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F7608A34-9B1E-8319-01AB-B013BBE67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245" y="2374901"/>
            <a:ext cx="1784755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 Medium"/>
                <a:ea typeface="Helvetica Neue Medium"/>
                <a:cs typeface="Helvetica Neue Medium"/>
              </a:rPr>
              <a:t>Software</a:t>
            </a:r>
          </a:p>
        </p:txBody>
      </p:sp>
      <p:sp>
        <p:nvSpPr>
          <p:cNvPr id="16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0845C908-26F4-26EB-1CA7-AABB89BB3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2445" y="3365501"/>
            <a:ext cx="5505855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board、memory、network、packageを統合する</a:t>
            </a:r>
          </a:p>
        </p:txBody>
      </p:sp>
      <p:sp>
        <p:nvSpPr>
          <p:cNvPr id="17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228D802D-D8A9-E697-144D-8E7477F29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245" y="3365501"/>
            <a:ext cx="1784755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 Medium"/>
                <a:ea typeface="Helvetica Neue Medium"/>
                <a:cs typeface="Helvetica Neue Medium"/>
              </a:rPr>
              <a:t>System</a:t>
            </a:r>
          </a:p>
        </p:txBody>
      </p:sp>
      <p:sp>
        <p:nvSpPr>
          <p:cNvPr id="18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0CCFFBE1-F391-100C-F0AF-8B730BA0A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2445" y="4356101"/>
            <a:ext cx="5505855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代替調達、在庫、保守、世代更新を設計する</a:t>
            </a:r>
          </a:p>
        </p:txBody>
      </p:sp>
      <p:sp>
        <p:nvSpPr>
          <p:cNvPr id="19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BDD61A53-13D8-0ED5-E0A9-5CB7D8718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245" y="4356101"/>
            <a:ext cx="1784755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 Medium"/>
                <a:ea typeface="Helvetica Neue Medium"/>
                <a:cs typeface="Helvetica Neue Medium"/>
              </a:rPr>
              <a:t>Supply</a:t>
            </a:r>
          </a:p>
        </p:txBody>
      </p:sp>
      <p:sp>
        <p:nvSpPr>
          <p:cNvPr id="20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8FDE77B0-FFF1-E69E-8C9B-D6E2B9870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2445" y="5359401"/>
            <a:ext cx="5505855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必要時に国内主導で半導体設計へ進める人材とIP</a:t>
            </a:r>
          </a:p>
        </p:txBody>
      </p:sp>
      <p:sp>
        <p:nvSpPr>
          <p:cNvPr id="21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5657569D-FC7C-5C9F-EA43-E13413EF7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245" y="5359401"/>
            <a:ext cx="1784755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 Medium"/>
                <a:ea typeface="Helvetica Neue Medium"/>
                <a:cs typeface="Helvetica Neue Medium"/>
              </a:rPr>
              <a:t>Design/IP</a:t>
            </a:r>
          </a:p>
        </p:txBody>
      </p:sp>
    </p:spTree>
    <p:extLst>
      <p:ext uri="{BB962C8B-B14F-4D97-AF65-F5344CB8AC3E}">
        <p14:creationId xmlns:p14="http://schemas.microsoft.com/office/powerpoint/2010/main" val="3081640303"/>
      </p:ext>
    </p:extLst>
  </p:cSld>
</p:sld>
</file>

<file path=ppt/slides/slide3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4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73983F85-E2E7-5016-FA2B-D1CE29449182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>半導体主権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>すべて国内製造することではない。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>必要な計算能力を指定・検証・統合・代替し、必要時に国内主導の設計へ進める能力。</a:t>
            </a:r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1BCBE750-7048-686D-1472-52C53362D6C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fld id="{59F9B2FD-F323-2D0A-D581-D6E61055F9A8}" type="slidenum">
              <a:t>33</a:t>
            </a:fld>
          </a:p>
        </p:txBody>
      </p:sp>
      <p:sp>
        <p:nvSpPr>
          <p:cNvPr id="2" name="Content Placeholder 1">
            <a:extLst xmlns:a="http://schemas.openxmlformats.org/drawingml/2006/main">
              <a:ext uri="{FF2B5EF4-FFF2-40B4-BE49-F238E27FC236}">
                <a16:creationId xmlns:a16="http://schemas.microsoft.com/office/drawing/2014/main" id="{336409A4-E296-79C0-A5A6-B0CD8EB393CA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/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ASIC製品化の5ゲート</a:t>
            </a:r>
          </a:p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1｜対象演算がTCO・電力・遅延を支配</a:t>
            </a:r>
          </a:p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2｜SW最適化・GPU・FPGA等では解けない</a:t>
            </a:r>
          </a:p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3｜複数顧客または国家需要が継続</a:t>
            </a:r>
          </a:p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4｜outcome/TCO改善が明確</a:t>
            </a:r>
          </a:p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5｜設計・製造・実装・保守・更新体制</a:t>
            </a:r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B5D55CD-1C17-7CD8-F26A-2DD65B0676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半導体主権の定義と、専用ASIC製品化の5ゲート</a:t>
            </a:r>
          </a:p>
        </p:txBody>
      </p:sp>
    </p:spTree>
    <p:extLst>
      <p:ext uri="{BB962C8B-B14F-4D97-AF65-F5344CB8AC3E}">
        <p14:creationId xmlns:p14="http://schemas.microsoft.com/office/powerpoint/2010/main" val="3667182145"/>
      </p:ext>
    </p:extLst>
  </p:cSld>
</p:sld>
</file>

<file path=ppt/slides/slide3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52A30403-4B2D-2E15-7A2F-51A6DF6BE5D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fld id="{D6C2EC43-E3B9-C9B0-67FF-5447EB7F3925}" type="slidenum">
              <a:t>34</a:t>
            </a:fld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0A2BB6CD-1085-4638-68F3-7000FD29EA0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9"/>
            <a:ext cx="7835900" cy="58158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ゲート対象は「計算基盤を作るか」ではない</a:t>
            </a:r>
          </a:p>
        </p:txBody>
      </p:sp>
      <p:sp>
        <p:nvSpPr>
          <p:cNvPr id="2" name="Rounded Rectangle 1">
            <a:extLst xmlns:a="http://schemas.openxmlformats.org/drawingml/2006/main">
              <a:ext uri="{FF2B5EF4-FFF2-40B4-BE49-F238E27FC236}">
                <a16:creationId xmlns:a16="http://schemas.microsoft.com/office/drawing/2014/main" id="{390FBCE0-CCE2-0D7F-19D7-0DA59E2FB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013" y="3025321"/>
            <a:ext cx="5533887" cy="1320801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31291836-42DE-4BA2-7C66-683137F11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48" y="3274205"/>
            <a:ext cx="4986886" cy="8777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GO：専用HW</a:t>
            </a:r>
          </a:p>
        </p:txBody>
      </p:sp>
      <p:sp>
        <p:nvSpPr>
          <p:cNvPr id="4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3D399E38-72C8-159B-DE08-FC689A75B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48" y="4514850"/>
            <a:ext cx="5236652" cy="977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28600" indent="-2286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har char="•"/>
            </a:pPr>
            <a:r>
              <a:rPr sz="14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条件を満たせば、国産設計IP、量産、実装、保守、世代更新へ進む。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5E1586E9-BDFD-E84E-20C0-875E339DC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0785" y="3025321"/>
            <a:ext cx="5533887" cy="1320801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BDE93465-12EE-49A8-048B-A3C97C2DF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20" y="3274205"/>
            <a:ext cx="4986886" cy="8777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NO-GO：既存シリコン</a:t>
            </a:r>
          </a:p>
        </p:txBody>
      </p:sp>
      <p:sp>
        <p:nvSpPr>
          <p:cNvPr id="13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0F1EA821-AA26-C1FC-F948-D100ABDE2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20" y="4514850"/>
            <a:ext cx="5236652" cy="977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28600" indent="-2286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har char="•"/>
            </a:pPr>
            <a:r>
              <a:rPr sz="14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GPU、accelerator、FPGA、custom kernel、compiler、memory最適化を組み合わせ、専用性と継続能力を高める。</a:t>
            </a:r>
          </a:p>
        </p:txBody>
      </p:sp>
      <p:sp>
        <p:nvSpPr>
          <p:cNvPr id="14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53566714-9098-3B48-6D62-954DC695F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39" y="1157513"/>
            <a:ext cx="11404599" cy="16292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800">
                <a:solidFill>
                  <a:prstClr val="black"/>
                </a:solidFill>
                <a:latin typeface="Helvetica Neue Medium"/>
                <a:ea typeface="Helvetica Neue Medium"/>
                <a:cs typeface="Helvetica Neue Medium"/>
              </a:rPr>
              <a:t>判断するのは、AI専用計算基盤のどの部分を専用シリコンとして製品化するか。</a:t>
            </a:r>
          </a:p>
        </p:txBody>
      </p:sp>
      <p:sp>
        <p:nvSpPr>
          <p:cNvPr id="26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E7F409CA-A992-D5A3-DF49-49CFA53E4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39" y="5617936"/>
            <a:ext cx="11404599" cy="529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ASICを作らない判断も失敗ではない。どちらでも国内能力を蓄積する。</a:t>
            </a:r>
          </a:p>
        </p:txBody>
      </p:sp>
    </p:spTree>
    <p:extLst>
      <p:ext uri="{BB962C8B-B14F-4D97-AF65-F5344CB8AC3E}">
        <p14:creationId xmlns:p14="http://schemas.microsoft.com/office/powerpoint/2010/main" val="3462458655"/>
      </p:ext>
    </p:extLst>
  </p:cSld>
</p:sld>
</file>

<file path=ppt/slides/slide3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CCCB27A2-1D9F-6514-0821-C7CC3F67552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fld id="{4A4FA566-8B12-6DD2-DDB5-FA6393938FB6}" type="slidenum">
              <a:t>35</a:t>
            </a:fld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3FD2F4B0-1B4E-4F78-8608-85E7ADD9074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9448800" cy="366919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rPr sz="4800"/>
              <a:t>intelligence per joule を、business outcome per joule へ拡張する。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8B4C5563-C118-E2D4-2A1A-F84171FF9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953" y="3365501"/>
            <a:ext cx="3568700" cy="26289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87EC77EB-07E7-2818-9132-6416EC5EF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65501"/>
            <a:ext cx="3568700" cy="26289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14F9DBD7-0427-326B-17D5-5DD215C44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821" y="4146160"/>
            <a:ext cx="2949339" cy="143287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AI+HW 2035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Chen et al. (2026) は、algorithm、software、memory、interconnect、semiconductor、applicationの協調設計を提唱。</a:t>
            </a:r>
          </a:p>
        </p:txBody>
      </p:sp>
      <p:sp>
        <p:nvSpPr>
          <p:cNvPr id="13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A81FFF27-06E1-B925-B772-E8C07A029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6094" y="4146160"/>
            <a:ext cx="2949339" cy="143287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KairosAIの戦略的推論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重点業務の成果まで含む効率へ拡張する。同論文が国産化政策や特定ASICを直接支持するわけではない。</a:t>
            </a:r>
          </a:p>
        </p:txBody>
      </p:sp>
      <p:sp>
        <p:nvSpPr>
          <p:cNvPr id="14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D182FC54-B4D0-2FD9-7909-F4321F701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7645" y="3694101"/>
            <a:ext cx="233806" cy="233717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12304657-C94E-6AEC-95B3-FF04FD52D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3270" y="3694102"/>
            <a:ext cx="233806" cy="233717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1566183075"/>
      </p:ext>
    </p:extLst>
  </p:cSld>
</p:sld>
</file>

<file path=ppt/slides/slide3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69A7B84F-6F74-164C-037A-8CB20BDDFE1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fld id="{E39A338D-B192-3127-EB9A-53A2665A0BB7}" type="slidenum">
              <a:t>36</a:t>
            </a:fld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E3D44A9C-8B13-1683-4B06-D873237D1D1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35687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実行順（1–6）</a:t>
            </a:r>
          </a:p>
        </p:txBody>
      </p:sp>
      <p:sp>
        <p:nvSpPr>
          <p:cNvPr id="10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047BF48D-F983-118D-D2F7-E43AACA9F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2445" y="393701"/>
            <a:ext cx="5505855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主権上守るべき領域と業務を定める</a:t>
            </a:r>
          </a:p>
        </p:txBody>
      </p:sp>
      <p:sp>
        <p:nvSpPr>
          <p:cNvPr id="2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AF6A488A-017C-2F49-A724-CF4366590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245" y="393701"/>
            <a:ext cx="1784755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 Medium"/>
                <a:ea typeface="Helvetica Neue Medium"/>
                <a:cs typeface="Helvetica Neue Medium"/>
              </a:rPr>
              <a:t>1</a:t>
            </a:r>
          </a:p>
        </p:txBody>
      </p:sp>
      <p:sp>
        <p:nvSpPr>
          <p:cNvPr id="7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59230B05-F497-DE80-839D-8A9B7CC16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2445" y="1397001"/>
            <a:ext cx="5505855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本番利用と業務outcomeの測定条件を設計</a:t>
            </a:r>
          </a:p>
        </p:txBody>
      </p:sp>
      <p:sp>
        <p:nvSpPr>
          <p:cNvPr id="9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D01219A0-506D-650D-E147-5B8132027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245" y="1397001"/>
            <a:ext cx="1784755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 Medium"/>
                <a:ea typeface="Helvetica Neue Medium"/>
                <a:cs typeface="Helvetica Neue Medium"/>
              </a:rPr>
              <a:t>2</a:t>
            </a:r>
          </a:p>
        </p:txBody>
      </p:sp>
      <p:sp>
        <p:nvSpPr>
          <p:cNvPr id="12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F5BFF3A2-62B8-C64E-A147-B21AD9CBB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2445" y="2374901"/>
            <a:ext cx="5505855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モデル・データと実行基盤を同時に組み込む</a:t>
            </a:r>
          </a:p>
        </p:txBody>
      </p:sp>
      <p:sp>
        <p:nvSpPr>
          <p:cNvPr id="15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F7608A34-9B1E-8319-01AB-B013BBE67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245" y="2374901"/>
            <a:ext cx="1784755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 Medium"/>
                <a:ea typeface="Helvetica Neue Medium"/>
                <a:cs typeface="Helvetica Neue Medium"/>
              </a:rPr>
              <a:t>3</a:t>
            </a:r>
          </a:p>
        </p:txBody>
      </p:sp>
      <p:sp>
        <p:nvSpPr>
          <p:cNvPr id="16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0845C908-26F4-26EB-1CA7-AABB89BB3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2445" y="3365501"/>
            <a:ext cx="5505855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判断・修正・失敗・状態遷移・結果を捕捉</a:t>
            </a:r>
          </a:p>
        </p:txBody>
      </p:sp>
      <p:sp>
        <p:nvSpPr>
          <p:cNvPr id="17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228D802D-D8A9-E697-144D-8E7477F29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245" y="3365501"/>
            <a:ext cx="1784755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 Medium"/>
                <a:ea typeface="Helvetica Neue Medium"/>
                <a:cs typeface="Helvetica Neue Medium"/>
              </a:rPr>
              <a:t>4</a:t>
            </a:r>
          </a:p>
        </p:txBody>
      </p:sp>
      <p:sp>
        <p:nvSpPr>
          <p:cNvPr id="18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0CCFFBE1-F391-100C-F0AF-8B730BA0A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2445" y="4356101"/>
            <a:ext cx="5505855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権利・品質・来歴・知識配置を判定</a:t>
            </a:r>
          </a:p>
        </p:txBody>
      </p:sp>
      <p:sp>
        <p:nvSpPr>
          <p:cNvPr id="19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BDD61A53-13D8-0ED5-E0A9-5CB7D8718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245" y="4356101"/>
            <a:ext cx="1784755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 Medium"/>
                <a:ea typeface="Helvetica Neue Medium"/>
                <a:cs typeface="Helvetica Neue Medium"/>
              </a:rPr>
              <a:t>5</a:t>
            </a:r>
          </a:p>
        </p:txBody>
      </p:sp>
      <p:sp>
        <p:nvSpPr>
          <p:cNvPr id="20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8FDE77B0-FFF1-E69E-8C9B-D6E2B9870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2445" y="5359401"/>
            <a:ext cx="5505855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国内で評価・改善・配備・停止・rollback</a:t>
            </a:r>
          </a:p>
        </p:txBody>
      </p:sp>
      <p:sp>
        <p:nvSpPr>
          <p:cNvPr id="21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5657569D-FC7C-5C9F-EA43-E13413EF7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245" y="5359401"/>
            <a:ext cx="1784755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 Medium"/>
                <a:ea typeface="Helvetica Neue Medium"/>
                <a:cs typeface="Helvetica Neue Medium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3081640303"/>
      </p:ext>
    </p:extLst>
  </p:cSld>
</p:sld>
</file>

<file path=ppt/slides/slide3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69A7B84F-6F74-164C-037A-8CB20BDDFE1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fld id="{8D334276-4C85-190E-BA41-5CA1CBB04E4E}" type="slidenum">
              <a:t>37</a:t>
            </a:fld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E3D44A9C-8B13-1683-4B06-D873237D1D1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35687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実行順（7–12）</a:t>
            </a:r>
          </a:p>
        </p:txBody>
      </p:sp>
      <p:sp>
        <p:nvSpPr>
          <p:cNvPr id="10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047BF48D-F983-118D-D2F7-E43AACA9F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2445" y="393701"/>
            <a:ext cx="5505855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利用と改善を反復し、実ワークロードを計測</a:t>
            </a:r>
          </a:p>
        </p:txBody>
      </p:sp>
      <p:sp>
        <p:nvSpPr>
          <p:cNvPr id="2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AF6A488A-017C-2F49-A724-CF4366590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245" y="393701"/>
            <a:ext cx="1784755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 Medium"/>
                <a:ea typeface="Helvetica Neue Medium"/>
                <a:cs typeface="Helvetica Neue Medium"/>
              </a:rPr>
              <a:t>7</a:t>
            </a:r>
          </a:p>
        </p:txBody>
      </p:sp>
      <p:sp>
        <p:nvSpPr>
          <p:cNvPr id="7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59230B05-F497-DE80-839D-8A9B7CC16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2445" y="1397001"/>
            <a:ext cx="5505855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AI専用計算基盤を協調最適化</a:t>
            </a:r>
          </a:p>
        </p:txBody>
      </p:sp>
      <p:sp>
        <p:nvSpPr>
          <p:cNvPr id="9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D01219A0-506D-650D-E147-5B8132027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245" y="1397001"/>
            <a:ext cx="1784755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 Medium"/>
                <a:ea typeface="Helvetica Neue Medium"/>
                <a:cs typeface="Helvetica Neue Medium"/>
              </a:rPr>
              <a:t>8</a:t>
            </a:r>
          </a:p>
        </p:txBody>
      </p:sp>
      <p:sp>
        <p:nvSpPr>
          <p:cNvPr id="12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F5BFF3A2-62B8-C64E-A147-B21AD9CBB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2445" y="2374901"/>
            <a:ext cx="5505855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残る制約を国内設計・供給能力へ翻訳</a:t>
            </a:r>
          </a:p>
        </p:txBody>
      </p:sp>
      <p:sp>
        <p:nvSpPr>
          <p:cNvPr id="15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F7608A34-9B1E-8319-01AB-B013BBE67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245" y="2374901"/>
            <a:ext cx="1784755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 Medium"/>
                <a:ea typeface="Helvetica Neue Medium"/>
                <a:cs typeface="Helvetica Neue Medium"/>
              </a:rPr>
              <a:t>9</a:t>
            </a:r>
          </a:p>
        </p:txBody>
      </p:sp>
      <p:sp>
        <p:nvSpPr>
          <p:cNvPr id="16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0845C908-26F4-26EB-1CA7-AABB89BB3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2445" y="3365501"/>
            <a:ext cx="5505855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需要ゲートでASIC等の製品化を判断</a:t>
            </a:r>
          </a:p>
        </p:txBody>
      </p:sp>
      <p:sp>
        <p:nvSpPr>
          <p:cNvPr id="17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228D802D-D8A9-E697-144D-8E7477F29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245" y="3365501"/>
            <a:ext cx="1784755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 Medium"/>
                <a:ea typeface="Helvetica Neue Medium"/>
                <a:cs typeface="Helvetica Neue Medium"/>
              </a:rPr>
              <a:t>10</a:t>
            </a:r>
          </a:p>
        </p:txBody>
      </p:sp>
      <p:sp>
        <p:nvSpPr>
          <p:cNvPr id="18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0CCFFBE1-F391-100C-F0AF-8B730BA0A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2445" y="4356101"/>
            <a:ext cx="5505855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93715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GO：国産HW更新 / NO-GO：multi-vendor・FPGA・custom SW</a:t>
            </a:r>
          </a:p>
        </p:txBody>
      </p:sp>
      <p:sp>
        <p:nvSpPr>
          <p:cNvPr id="19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BDD61A53-13D8-0ED5-E0A9-5CB7D8718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245" y="4356101"/>
            <a:ext cx="1784755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 Medium"/>
                <a:ea typeface="Helvetica Neue Medium"/>
                <a:cs typeface="Helvetica Neue Medium"/>
              </a:rPr>
              <a:t>11</a:t>
            </a:r>
          </a:p>
        </p:txBody>
      </p:sp>
      <p:sp>
        <p:nvSpPr>
          <p:cNvPr id="20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8FDE77B0-FFF1-E69E-8C9B-D6E2B9870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2445" y="5359401"/>
            <a:ext cx="5505855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より多くの利用へ戻し、改善資産と供給能力を育てる</a:t>
            </a:r>
          </a:p>
        </p:txBody>
      </p:sp>
      <p:sp>
        <p:nvSpPr>
          <p:cNvPr id="21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5657569D-FC7C-5C9F-EA43-E13413EF7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245" y="5359401"/>
            <a:ext cx="1784755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 Medium"/>
                <a:ea typeface="Helvetica Neue Medium"/>
                <a:cs typeface="Helvetica Neue Medium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3081640303"/>
      </p:ext>
    </p:extLst>
  </p:cSld>
</p:sld>
</file>

<file path=ppt/slides/slide3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4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73983F85-E2E7-5016-FA2B-D1CE29449182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>Phase 1｜国内統治可能な本番利用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>• OSS・海外GPU・既存ツールを利用可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>• 重点業務でoutcomeと継続利用を測る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>• 顧客資産・鍵・評価・承認・停止を国内側へ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>• export / restoreを実試験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>• API停止時の縮退運転を設計</a:t>
            </a:r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1BCBE750-7048-686D-1472-52C53362D6C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fld id="{855A7F00-3259-A23D-D734-A322A9F9DD63}" type="slidenum">
              <a:t>38</a:t>
            </a:fld>
          </a:p>
        </p:txBody>
      </p:sp>
      <p:sp>
        <p:nvSpPr>
          <p:cNvPr id="2" name="Content Placeholder 1">
            <a:extLst xmlns:a="http://schemas.openxmlformats.org/drawingml/2006/main">
              <a:ext uri="{FF2B5EF4-FFF2-40B4-BE49-F238E27FC236}">
                <a16:creationId xmlns:a16="http://schemas.microsoft.com/office/drawing/2014/main" id="{336409A4-E296-79C0-A5A6-B0CD8EB393CA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/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Phase 2｜改善主権を実証</a:t>
            </a:r>
          </a:p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• RAG/KG/adapter/評価を改善</a:t>
            </a:r>
          </a:p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• 国内で評価・配備・rollback</a:t>
            </a:r>
          </a:p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• 権利処理済み資産だけ再利用</a:t>
            </a:r>
          </a:p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• 顧客固有知識と移転可能能力を分離</a:t>
            </a:r>
          </a:p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• outcome費用とoutcome/jouleを測定</a:t>
            </a:r>
          </a:p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• GPU上でもrouting・量子化・cache等を最適化</a:t>
            </a:r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B5D55CD-1C17-7CD8-F26A-2DD65B0676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段階実装：Phase 1 → Phase 2</a:t>
            </a:r>
          </a:p>
        </p:txBody>
      </p:sp>
    </p:spTree>
    <p:extLst>
      <p:ext uri="{BB962C8B-B14F-4D97-AF65-F5344CB8AC3E}">
        <p14:creationId xmlns:p14="http://schemas.microsoft.com/office/powerpoint/2010/main" val="3667182145"/>
      </p:ext>
    </p:extLst>
  </p:cSld>
</p:sld>
</file>

<file path=ppt/slides/slide3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4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73983F85-E2E7-5016-FA2B-D1CE29449182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>Phase 3｜能力主権とAI+HWゲート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>• モデル・SW・実行基盤の国内改変範囲を拡大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>• 競合基盤からの移行試験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>• 支配的な計算・データ移動を特定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>• GPU最適化、FPGA、既存accelerator、ASICを比較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>• 専用シリコン化範囲をgo/no-go</a:t>
            </a:r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1BCBE750-7048-686D-1472-52C53362D6C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fld id="{6166C477-A387-35CF-F492-F54B4FA4FEC9}" type="slidenum">
              <a:t>39</a:t>
            </a:fld>
          </a:p>
        </p:txBody>
      </p:sp>
      <p:sp>
        <p:nvSpPr>
          <p:cNvPr id="2" name="Content Placeholder 1">
            <a:extLst xmlns:a="http://schemas.openxmlformats.org/drawingml/2006/main">
              <a:ext uri="{FF2B5EF4-FFF2-40B4-BE49-F238E27FC236}">
                <a16:creationId xmlns:a16="http://schemas.microsoft.com/office/drawing/2014/main" id="{336409A4-E296-79C0-A5A6-B0CD8EB393CA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/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Phase 4A｜HW製品化へ進む</a:t>
            </a:r>
          </a:p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• 国産設計IPと既存SW契約の互換</a:t>
            </a:r>
          </a:p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• 量産・実装・保守・世代更新を需要へ接続</a:t>
            </a:r>
          </a:p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• 単一foundry障害を想定した継続計画</a:t>
            </a:r>
          </a:p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需要と運用体制が揃った範囲だけを製品化する。</a:t>
            </a:r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B5D55CD-1C17-7CD8-F26A-2DD65B0676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段階実装：Phase 3 → Phase 4A</a:t>
            </a:r>
          </a:p>
        </p:txBody>
      </p:sp>
    </p:spTree>
    <p:extLst>
      <p:ext uri="{BB962C8B-B14F-4D97-AF65-F5344CB8AC3E}">
        <p14:creationId xmlns:p14="http://schemas.microsoft.com/office/powerpoint/2010/main" val="3667182145"/>
      </p:ext>
    </p:extLst>
  </p:cSld>
</p:sld>
</file>

<file path=ppt/slides/slide4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4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73983F85-E2E7-5016-FA2B-D1CE29449182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>1｜複数GPU・acceleratorへの移植性を維持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>2｜国内compiler、runtime、kernel、FPGA能力を育成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>3｜国内でboard、機器、実装、保守、在庫、代替調達を統合</a:t>
            </a:r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1BCBE750-7048-686D-1472-52C53362D6C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fld id="{C0C89EF0-BE71-8D92-BDDF-FF7D05F0AC04}" type="slidenum">
              <a:t>40</a:t>
            </a:fld>
          </a:p>
        </p:txBody>
      </p:sp>
      <p:sp>
        <p:nvSpPr>
          <p:cNvPr id="2" name="Content Placeholder 1">
            <a:extLst xmlns:a="http://schemas.openxmlformats.org/drawingml/2006/main">
              <a:ext uri="{FF2B5EF4-FFF2-40B4-BE49-F238E27FC236}">
                <a16:creationId xmlns:a16="http://schemas.microsoft.com/office/drawing/2014/main" id="{336409A4-E296-79C0-A5A6-B0CD8EB393CA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/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4｜既存シリコン上で高効率推論基盤を継続更新</a:t>
            </a:r>
          </a:p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5｜次回需要ゲートを判断できるbenchmarkと人材を維持</a:t>
            </a:r>
          </a:p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Phase 4Bでも計算・供給主権を高められる。</a:t>
            </a:r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B5D55CD-1C17-7CD8-F26A-2DD65B0676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Phase 4B：専用ASIC製品化へ進まない場合</a:t>
            </a:r>
          </a:p>
        </p:txBody>
      </p:sp>
    </p:spTree>
    <p:extLst>
      <p:ext uri="{BB962C8B-B14F-4D97-AF65-F5344CB8AC3E}">
        <p14:creationId xmlns:p14="http://schemas.microsoft.com/office/powerpoint/2010/main" val="3667182145"/>
      </p:ext>
    </p:extLst>
  </p:cSld>
</p:sld>
</file>

<file path=ppt/slides/slide4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4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5E6F3576-FAD9-7780-1390-E4CCDDDDF4C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391832"/>
            <a:ext cx="3568700" cy="36025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solidFill>
                  <a:prstClr val="black"/>
                </a:solidFill>
                <a:latin typeface="Helvetica Neue Medium"/>
                <a:ea typeface="Helvetica Neue Medium"/>
                <a:cs typeface="Helvetica Neue Medium"/>
              </a:rPr>
              <a:t>S｜主権必須領域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solidFill>
                  <a:prstClr val="black"/>
                </a:solidFill>
                <a:latin typeface="Helvetica Neue Medium"/>
                <a:ea typeface="Helvetica Neue Medium"/>
                <a:cs typeface="Helvetica Neue Medium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外部最終コントロール不可、air-gapped、有事継続。</a:t>
            </a:r>
          </a:p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防衛・重要インフラ等で能力主権を最優先に実証するbeachhead。</a:t>
            </a:r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DBEA618B-866F-6F23-43A9-78F2D312787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fld id="{9CAEC632-A9E6-82AB-6034-3014BC3905A0}" type="slidenum">
              <a:t>41</a:t>
            </a:fld>
          </a:p>
        </p:txBody>
      </p:sp>
      <p:sp>
        <p:nvSpPr>
          <p:cNvPr id="2" name="Content Placeholder 1">
            <a:extLst xmlns:a="http://schemas.openxmlformats.org/drawingml/2006/main">
              <a:ext uri="{FF2B5EF4-FFF2-40B4-BE49-F238E27FC236}">
                <a16:creationId xmlns:a16="http://schemas.microsoft.com/office/drawing/2014/main" id="{7ED2788F-D3A7-1987-7296-9AC0BE2A1D11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4318000" y="2374900"/>
            <a:ext cx="3568700" cy="3619500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 Medium"/>
                <a:ea typeface="Helvetica Neue Medium"/>
                <a:cs typeface="Helvetica Neue Medium"/>
              </a:rPr>
              <a:t>R｜規制・重要商用</a:t>
            </a:r>
          </a:p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 Medium"/>
                <a:ea typeface="Helvetica Neue Medium"/>
                <a:cs typeface="Helvetica Neue Medium"/>
              </a:rPr>
              <a:t/>
            </a:r>
          </a:p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sz="16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データ境界、監査、移行性、安定運用。</a:t>
            </a:r>
          </a:p>
          <a:p xmlns:a="http://schemas.openxmlformats.org/drawingml/2006/main">
            <a:pPr marL="228600" indent="-22860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har char="•"/>
            </a:pPr>
            <a:r>
              <a:rPr sz="16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公共・金融・製造等で利用量と改善ループを拡大する中核市場。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0AB3D00A-6146-FC12-E7D6-0A4E6D490B4A}"/>
              </a:ext>
            </a:extLst>
          </p:cNvPr>
          <p:cNvSpPr>
            <a:spLocks xmlns:a="http://schemas.openxmlformats.org/drawingml/2006/main" noGrp="1"/>
          </p:cNvSpPr>
          <p:nvPr>
            <p:ph idx="11"/>
          </p:nvPr>
        </p:nvSpPr>
        <p:spPr>
          <a:xfrm xmlns:a="http://schemas.openxmlformats.org/drawingml/2006/main">
            <a:off x="8232273" y="2374900"/>
            <a:ext cx="3568700" cy="3619500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 Medium"/>
                <a:ea typeface="Helvetica Neue Medium"/>
                <a:cs typeface="Helvetica Neue Medium"/>
              </a:rPr>
              <a:t>C｜一般商用</a:t>
            </a:r>
          </a:p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 Medium"/>
                <a:ea typeface="Helvetica Neue Medium"/>
                <a:cs typeface="Helvetica Neue Medium"/>
              </a:rPr>
              <a:t/>
            </a:r>
          </a:p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sz="16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ROI、速度、使いやすさ、低TCO。</a:t>
            </a:r>
          </a:p>
          <a:p xmlns:a="http://schemas.openxmlformats.org/drawingml/2006/main">
            <a:pPr marL="228600" indent="-22860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har char="•"/>
            </a:pPr>
            <a:r>
              <a:rPr sz="16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外資より優れたoutcomeまたはTCOを出せる場合に選択展開。</a:t>
            </a:r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24C70FFE-9D4B-9EEB-4231-9B1B74B40AF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市場の入口は狭く、能力の利用先は広く</a:t>
            </a:r>
          </a:p>
        </p:txBody>
      </p:sp>
    </p:spTree>
    <p:extLst>
      <p:ext uri="{BB962C8B-B14F-4D97-AF65-F5344CB8AC3E}">
        <p14:creationId xmlns:p14="http://schemas.microsoft.com/office/powerpoint/2010/main" val="2966171638"/>
      </p:ext>
    </p:extLst>
  </p:cSld>
</p:sld>
</file>

<file path=ppt/slides/slide4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CCCB27A2-1D9F-6514-0821-C7CC3F67552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fld id="{675CE1F1-F8E2-E359-8FD1-A9FA98B3A676}" type="slidenum">
              <a:t>42</a:t>
            </a:fld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3FD2F4B0-1B4E-4F78-8608-85E7ADD9074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9448800" cy="366919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rPr sz="4800"/>
              <a:t>「主権だから買う」だけに依存しない。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8B4C5563-C118-E2D4-2A1A-F84171FF9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953" y="3365501"/>
            <a:ext cx="3568700" cy="26289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87EC77EB-07E7-2818-9132-6416EC5EF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65501"/>
            <a:ext cx="3568700" cy="26289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14F9DBD7-0427-326B-17D5-5DD215C44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821" y="4146160"/>
            <a:ext cx="2949339" cy="143287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導入理由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実用性。重点業務で価値を出し、本番利用へ移れること。</a:t>
            </a:r>
          </a:p>
        </p:txBody>
      </p:sp>
      <p:sp>
        <p:nvSpPr>
          <p:cNvPr id="13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A81FFF27-06E1-B925-B772-E8C07A029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6094" y="4146160"/>
            <a:ext cx="2949339" cy="143287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継続理由 / 国家選択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改善速度と移行可能性で使い続け、能力主権を国家的な選択理由にする。</a:t>
            </a:r>
          </a:p>
        </p:txBody>
      </p:sp>
      <p:sp>
        <p:nvSpPr>
          <p:cNvPr id="14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D182FC54-B4D0-2FD9-7909-F4321F701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7645" y="3694101"/>
            <a:ext cx="233806" cy="233717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12304657-C94E-6AEC-95B3-FF04FD52D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3270" y="3694102"/>
            <a:ext cx="233806" cy="233717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1566183075"/>
      </p:ext>
    </p:extLst>
  </p:cSld>
</p:sld>
</file>

<file path=ppt/slides/slide4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4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73983F85-E2E7-5016-FA2B-D1CE29449182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>利用と成果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>• 本番導入された重点業務数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>• PoC→本番移行率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>• 月次・日次の継続利用率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>• 判断がaction/outcomeへ接続した割合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>• 顧客・公共主体が確認した成果</a:t>
            </a:r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1BCBE750-7048-686D-1472-52C53362D6C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fld id="{270EE3B2-1325-F8E9-D276-8EA80C32ED19}" type="slidenum">
              <a:t>43</a:t>
            </a:fld>
          </a:p>
        </p:txBody>
      </p:sp>
      <p:sp>
        <p:nvSpPr>
          <p:cNvPr id="2" name="Content Placeholder 1">
            <a:extLst xmlns:a="http://schemas.openxmlformats.org/drawingml/2006/main">
              <a:ext uri="{FF2B5EF4-FFF2-40B4-BE49-F238E27FC236}">
                <a16:creationId xmlns:a16="http://schemas.microsoft.com/office/drawing/2014/main" id="{336409A4-E296-79C0-A5A6-B0CD8EB393CA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/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実用資産と権利</a:t>
            </a:r>
          </a:p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• 判断と実行結果の対応率</a:t>
            </a:r>
          </a:p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• provenance・目的・期限・削除条件の機械可読率</a:t>
            </a:r>
          </a:p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• 顧客資産/共有可能資産の分類率</a:t>
            </a:r>
          </a:p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• 明示許諾による再利用率</a:t>
            </a:r>
          </a:p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• 削除・訂正のSLA達成率</a:t>
            </a:r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B5D55CD-1C17-7CD8-F26A-2DD65B0676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KPI 1–2：利用・成果と、実用資産・権利</a:t>
            </a:r>
          </a:p>
        </p:txBody>
      </p:sp>
    </p:spTree>
    <p:extLst>
      <p:ext uri="{BB962C8B-B14F-4D97-AF65-F5344CB8AC3E}">
        <p14:creationId xmlns:p14="http://schemas.microsoft.com/office/powerpoint/2010/main" val="3667182145"/>
      </p:ext>
    </p:extLst>
  </p:cSld>
</p:sld>
</file>

<file path=ppt/slides/slide4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4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73983F85-E2E7-5016-FA2B-D1CE29449182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>改善主権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>• 国内で評価・配備・停止できる業務比率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>• 国内で署名・配備・rollbackできるモデル比率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>• 現場知見の安全反映時間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>• 代替モデル/基盤への移行成功率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>• 成果物export・restore可能率</a:t>
            </a:r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1BCBE750-7048-686D-1472-52C53362D6C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fld id="{1110800D-D5E6-B48B-B335-F070B0EAA3B9}" type="slidenum">
              <a:t>44</a:t>
            </a:fld>
          </a:p>
        </p:txBody>
      </p:sp>
      <p:sp>
        <p:nvSpPr>
          <p:cNvPr id="2" name="Content Placeholder 1">
            <a:extLst xmlns:a="http://schemas.openxmlformats.org/drawingml/2006/main">
              <a:ext uri="{FF2B5EF4-FFF2-40B4-BE49-F238E27FC236}">
                <a16:creationId xmlns:a16="http://schemas.microsoft.com/office/drawing/2014/main" id="{336409A4-E296-79C0-A5A6-B0CD8EB393CA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/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実行・計算・供給</a:t>
            </a:r>
          </a:p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• 国内policyで統治される実行比率</a:t>
            </a:r>
          </a:p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• API切断訓練の継続率</a:t>
            </a:r>
          </a:p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• 目標時間内の縮退・復旧率</a:t>
            </a:r>
          </a:p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• 単一vendor非依存構成比率</a:t>
            </a:r>
          </a:p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• 国内改変・保守可能SW範囲</a:t>
            </a:r>
          </a:p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• 代替調達比率と在庫日数</a:t>
            </a:r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B5D55CD-1C17-7CD8-F26A-2DD65B0676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KPI 3–4：改善主権と、実行・計算・供給継続</a:t>
            </a:r>
          </a:p>
        </p:txBody>
      </p:sp>
    </p:spTree>
    <p:extLst>
      <p:ext uri="{BB962C8B-B14F-4D97-AF65-F5344CB8AC3E}">
        <p14:creationId xmlns:p14="http://schemas.microsoft.com/office/powerpoint/2010/main" val="3667182145"/>
      </p:ext>
    </p:extLst>
  </p:cSld>
</p:sld>
</file>

<file path=ppt/slides/slide4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Number Placeholder 1">
            <a:extLst xmlns:a="http://schemas.openxmlformats.org/drawingml/2006/main">
              <a:ext uri="{FF2B5EF4-FFF2-40B4-BE49-F238E27FC236}">
                <a16:creationId xmlns:a16="http://schemas.microsoft.com/office/drawing/2014/main" id="{78745C74-45EB-AE28-C330-5C7EA227B3A0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E060EEA-E29B-CF3D-E7B7-BE01DFE3A2D2}" type="slidenum">
              <a:t>45</a:t>
            </a:fld>
          </a:p>
        </p:txBody>
      </p:sp>
      <p:sp>
        <p:nvSpPr>
          <p:cNvPr id="3" name="Title 2">
            <a:extLst xmlns:a="http://schemas.openxmlformats.org/drawingml/2006/main">
              <a:ext uri="{FF2B5EF4-FFF2-40B4-BE49-F238E27FC236}">
                <a16:creationId xmlns:a16="http://schemas.microsoft.com/office/drawing/2014/main" id="{D03F6A93-D8A5-5E1B-B897-7FC43395C7A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9"/>
            <a:ext cx="7484432" cy="68705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KPI 5｜効率はoutcome単位で測る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4B8E9A03-4B2C-B18E-82B3-81A4A01C1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4356100"/>
            <a:ext cx="2334563" cy="1882398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BB9C5A0A-A5A1-9670-2D34-4ADE3A987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8634" y="4356100"/>
            <a:ext cx="2334563" cy="1882398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Rounded Rectangle 19">
            <a:extLst xmlns:a="http://schemas.openxmlformats.org/drawingml/2006/main">
              <a:ext uri="{FF2B5EF4-FFF2-40B4-BE49-F238E27FC236}">
                <a16:creationId xmlns:a16="http://schemas.microsoft.com/office/drawing/2014/main" id="{F8B1C048-B419-3AD6-93D8-57A7BA14E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69" y="4356100"/>
            <a:ext cx="2334563" cy="1882398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5" name="Footer Placeholder 24">
            <a:extLst xmlns:a="http://schemas.openxmlformats.org/drawingml/2006/main">
              <a:ext uri="{FF2B5EF4-FFF2-40B4-BE49-F238E27FC236}">
                <a16:creationId xmlns:a16="http://schemas.microsoft.com/office/drawing/2014/main" id="{95A1BACE-9FEC-6113-E43D-CADED94947C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100"/>
              <a:t>*原文 v0.2 のKPI体系をスライド化</a:t>
            </a:r>
          </a:p>
        </p:txBody>
      </p:sp>
      <p:sp>
        <p:nvSpPr>
          <p:cNvPr id="28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B3C3191E-B483-A5B1-1BFC-8359BB565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73" y="2374900"/>
            <a:ext cx="3568700" cy="38635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solidFill>
                  <a:prstClr val="black"/>
                </a:solidFill>
                <a:latin typeface="Helvetica Neue Medium"/>
                <a:ea typeface="Helvetica Neue Medium"/>
                <a:cs typeface="Helvetica Neue Medium"/>
              </a:rPr>
              <a:t>補助指標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intelligence per joule、データ移動量、メモリ、レイテンシ、SW最適化前後の改善率。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GPU台数、モデルサイズ、tape-out件数は入力値であり、単独の成功KPIではない。</a:t>
            </a:r>
          </a:p>
        </p:txBody>
      </p:sp>
      <p:sp>
        <p:nvSpPr>
          <p:cNvPr id="30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A2629DBE-08D2-7E4E-7363-739E24C59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150" y="4563078"/>
            <a:ext cx="1612900" cy="90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57809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500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Utilization</a:t>
            </a:r>
          </a:p>
        </p:txBody>
      </p:sp>
      <p:sp>
        <p:nvSpPr>
          <p:cNvPr id="31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2D533C57-9277-DA71-420A-852FB372D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590" y="5466828"/>
            <a:ext cx="1612900" cy="39295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73251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設備利用率とSLO余剰率</a:t>
            </a:r>
          </a:p>
        </p:txBody>
      </p:sp>
      <p:sp>
        <p:nvSpPr>
          <p:cNvPr id="32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C960D833-F6EA-C5E9-6DE4-D21876FC3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2795" y="4563078"/>
            <a:ext cx="1612900" cy="90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5391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500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Annual cost</a:t>
            </a:r>
          </a:p>
        </p:txBody>
      </p:sp>
      <p:sp>
        <p:nvSpPr>
          <p:cNvPr id="33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BF33EEB6-55CD-E6FE-95D2-55A288BCF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4235" y="5466828"/>
            <a:ext cx="1612900" cy="39295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73251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償却・電力・冷却・保守込み総費用</a:t>
            </a:r>
          </a:p>
        </p:txBody>
      </p:sp>
      <p:sp>
        <p:nvSpPr>
          <p:cNvPr id="35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6ABC2165-3103-0F8C-58B6-34BB68635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1616" y="4563078"/>
            <a:ext cx="1612900" cy="90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500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ROI</a:t>
            </a:r>
          </a:p>
        </p:txBody>
      </p:sp>
      <p:sp>
        <p:nvSpPr>
          <p:cNvPr id="36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C48CB7DC-F282-1D69-FD55-0B1565AB0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3056" y="5466828"/>
            <a:ext cx="1612900" cy="39295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73251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年間業務価値 ÷ 年間推論総費用</a:t>
            </a:r>
          </a:p>
        </p:txBody>
      </p:sp>
      <p:sp>
        <p:nvSpPr>
          <p:cNvPr id="4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BD5FE77B-90E1-5236-3990-7079CE78B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241550"/>
            <a:ext cx="2334563" cy="1882398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60C351F7-AC2A-1B40-78B5-13B90FA91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8634" y="2241550"/>
            <a:ext cx="2334563" cy="1882398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11CEE641-9418-21DE-A949-29DF25A0E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69" y="2241550"/>
            <a:ext cx="2334563" cy="1882398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C27408C0-0932-3E46-A6F1-86E2F1C7E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150" y="2448528"/>
            <a:ext cx="1612900" cy="90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5391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500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Outcome/J</a:t>
            </a:r>
          </a:p>
        </p:txBody>
      </p:sp>
      <p:sp>
        <p:nvSpPr>
          <p:cNvPr id="9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56E44BE8-FC97-2F06-AD91-3DEB9C133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590" y="3352278"/>
            <a:ext cx="1612900" cy="39295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73251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business outcome per joule</a:t>
            </a:r>
          </a:p>
        </p:txBody>
      </p:sp>
      <p:sp>
        <p:nvSpPr>
          <p:cNvPr id="10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DF499E89-5132-2D79-D060-7F883BF46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2795" y="2448528"/>
            <a:ext cx="1612900" cy="90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500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TCO</a:t>
            </a:r>
          </a:p>
        </p:txBody>
      </p:sp>
      <p:sp>
        <p:nvSpPr>
          <p:cNvPr id="11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5C3FD83C-7E51-3532-0CC5-3111AC378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4235" y="3352278"/>
            <a:ext cx="1612900" cy="39295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73251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outcome単位の総保有コスト</a:t>
            </a:r>
          </a:p>
        </p:txBody>
      </p:sp>
      <p:sp>
        <p:nvSpPr>
          <p:cNvPr id="12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69C6FF59-91B0-A266-F811-6C509F30C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1616" y="2448528"/>
            <a:ext cx="1612900" cy="90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5391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500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Action cost</a:t>
            </a:r>
          </a:p>
        </p:txBody>
      </p:sp>
      <p:sp>
        <p:nvSpPr>
          <p:cNvPr id="13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CB933D0C-0148-034A-E964-ED7F56E5F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3056" y="3352278"/>
            <a:ext cx="1612900" cy="39295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73251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採用判断・action当たり推論費</a:t>
            </a:r>
          </a:p>
        </p:txBody>
      </p:sp>
    </p:spTree>
    <p:extLst>
      <p:ext uri="{BB962C8B-B14F-4D97-AF65-F5344CB8AC3E}">
        <p14:creationId xmlns:p14="http://schemas.microsoft.com/office/powerpoint/2010/main" val="855019973"/>
      </p:ext>
    </p:extLst>
  </p:cSld>
</p:sld>
</file>

<file path=ppt/slides/slide4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4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5E6F3576-FAD9-7780-1390-E4CCDDDDF4C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391832"/>
            <a:ext cx="3568700" cy="36025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solidFill>
                  <a:prstClr val="black"/>
                </a:solidFill>
                <a:latin typeface="Helvetica Neue Medium"/>
                <a:ea typeface="Helvetica Neue Medium"/>
                <a:cs typeface="Helvetica Neue Medium"/>
              </a:rPr>
              <a:t>1｜利用されない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solidFill>
                  <a:prstClr val="black"/>
                </a:solidFill>
                <a:latin typeface="Helvetica Neue Medium"/>
                <a:ea typeface="Helvetica Neue Medium"/>
                <a:cs typeface="Helvetica Neue Medium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国内主導構成が実用性・価格・速度で継続劣位。</a:t>
            </a:r>
          </a:p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→ 対象業務、提供範囲、共通化方法を見直す。</a:t>
            </a:r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DBEA618B-866F-6F23-43A9-78F2D312787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fld id="{472DB7CE-501A-BBF4-0CAD-B084CE0A592C}" type="slidenum">
              <a:t>46</a:t>
            </a:fld>
          </a:p>
        </p:txBody>
      </p:sp>
      <p:sp>
        <p:nvSpPr>
          <p:cNvPr id="2" name="Content Placeholder 1">
            <a:extLst xmlns:a="http://schemas.openxmlformats.org/drawingml/2006/main">
              <a:ext uri="{FF2B5EF4-FFF2-40B4-BE49-F238E27FC236}">
                <a16:creationId xmlns:a16="http://schemas.microsoft.com/office/drawing/2014/main" id="{7ED2788F-D3A7-1987-7296-9AC0BE2A1D11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4318000" y="2374900"/>
            <a:ext cx="3568700" cy="3619500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 Medium"/>
                <a:ea typeface="Helvetica Neue Medium"/>
                <a:cs typeface="Helvetica Neue Medium"/>
              </a:rPr>
              <a:t>2｜外資が制御権を実証</a:t>
            </a:r>
          </a:p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 Medium"/>
                <a:ea typeface="Helvetica Neue Medium"/>
                <a:cs typeface="Helvetica Neue Medium"/>
              </a:rPr>
              <a:t/>
            </a:r>
          </a:p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sz="16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改変権、完全移植性、供給継続を契約・実績で提供。</a:t>
            </a:r>
          </a:p>
          <a:p xmlns:a="http://schemas.openxmlformats.org/drawingml/2006/main">
            <a:pPr marL="228600" indent="-22860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har char="•"/>
            </a:pPr>
            <a:r>
              <a:rPr sz="16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→ 国籍ではなく実証済み制御権で再評価。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0AB3D00A-6146-FC12-E7D6-0A4E6D490B4A}"/>
              </a:ext>
            </a:extLst>
          </p:cNvPr>
          <p:cNvSpPr>
            <a:spLocks xmlns:a="http://schemas.openxmlformats.org/drawingml/2006/main" noGrp="1"/>
          </p:cNvSpPr>
          <p:nvPr>
            <p:ph idx="11"/>
          </p:nvPr>
        </p:nvSpPr>
        <p:spPr>
          <a:xfrm xmlns:a="http://schemas.openxmlformats.org/drawingml/2006/main">
            <a:off x="8232273" y="2374900"/>
            <a:ext cx="3568700" cy="3619500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 Medium"/>
                <a:ea typeface="Helvetica Neue Medium"/>
                <a:cs typeface="Helvetica Neue Medium"/>
              </a:rPr>
              <a:t>3｜outcomeデータが無効</a:t>
            </a:r>
          </a:p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 Medium"/>
                <a:ea typeface="Helvetica Neue Medium"/>
                <a:cs typeface="Helvetica Neue Medium"/>
              </a:rPr>
              <a:t/>
            </a:r>
          </a:p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sz="16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モデル改善に有効でない。</a:t>
            </a:r>
          </a:p>
          <a:p xmlns:a="http://schemas.openxmlformats.org/drawingml/2006/main">
            <a:pPr marL="228600" indent="-22860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har char="•"/>
            </a:pPr>
            <a:r>
              <a:rPr sz="16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→ RAG、ルール、業務設計、評価改善へ資源移動。</a:t>
            </a:r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24C70FFE-9D4B-9EEB-4231-9B1B74B40AF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戦略を信念化しない：反証条件（1–3）</a:t>
            </a:r>
          </a:p>
        </p:txBody>
      </p:sp>
    </p:spTree>
    <p:extLst>
      <p:ext uri="{BB962C8B-B14F-4D97-AF65-F5344CB8AC3E}">
        <p14:creationId xmlns:p14="http://schemas.microsoft.com/office/powerpoint/2010/main" val="2966171638"/>
      </p:ext>
    </p:extLst>
  </p:cSld>
</p:sld>
</file>

<file path=ppt/slides/slide4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4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5E6F3576-FAD9-7780-1390-E4CCDDDDF4C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391832"/>
            <a:ext cx="3568700" cy="36025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solidFill>
                  <a:prstClr val="black"/>
                </a:solidFill>
                <a:latin typeface="Helvetica Neue Medium"/>
                <a:ea typeface="Helvetica Neue Medium"/>
                <a:cs typeface="Helvetica Neue Medium"/>
              </a:rPr>
              <a:t>4｜共有信号が少ない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solidFill>
                  <a:prstClr val="black"/>
                </a:solidFill>
                <a:latin typeface="Helvetica Neue Medium"/>
                <a:ea typeface="Helvetica Neue Medium"/>
                <a:cs typeface="Helvetica Neue Medium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顧客間で共有可能な信号が不足。</a:t>
            </a:r>
          </a:p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→ 領域専門家・顧客local構成を維持。</a:t>
            </a:r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DBEA618B-866F-6F23-43A9-78F2D312787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fld id="{F766E625-45F0-7FC0-7206-B9D4780D3461}" type="slidenum">
              <a:t>47</a:t>
            </a:fld>
          </a:p>
        </p:txBody>
      </p:sp>
      <p:sp>
        <p:nvSpPr>
          <p:cNvPr id="2" name="Content Placeholder 1">
            <a:extLst xmlns:a="http://schemas.openxmlformats.org/drawingml/2006/main">
              <a:ext uri="{FF2B5EF4-FFF2-40B4-BE49-F238E27FC236}">
                <a16:creationId xmlns:a16="http://schemas.microsoft.com/office/drawing/2014/main" id="{7ED2788F-D3A7-1987-7296-9AC0BE2A1D11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4318000" y="2374900"/>
            <a:ext cx="3568700" cy="3619500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 Medium"/>
                <a:ea typeface="Helvetica Neue Medium"/>
                <a:cs typeface="Helvetica Neue Medium"/>
              </a:rPr>
              <a:t>5｜ASIC合理性がない</a:t>
            </a:r>
          </a:p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 Medium"/>
                <a:ea typeface="Helvetica Neue Medium"/>
                <a:cs typeface="Helvetica Neue Medium"/>
              </a:rPr>
              <a:t/>
            </a:r>
          </a:p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sz="16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既存GPU/accelerator上の専用基盤より不経済。</a:t>
            </a:r>
          </a:p>
          <a:p xmlns:a="http://schemas.openxmlformats.org/drawingml/2006/main">
            <a:pPr marL="228600" indent="-22860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har char="•"/>
            </a:pPr>
            <a:r>
              <a:rPr sz="16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→ Phase 4Bで専用計算基盤を継続。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0AB3D00A-6146-FC12-E7D6-0A4E6D490B4A}"/>
              </a:ext>
            </a:extLst>
          </p:cNvPr>
          <p:cNvSpPr>
            <a:spLocks xmlns:a="http://schemas.openxmlformats.org/drawingml/2006/main" noGrp="1"/>
          </p:cNvSpPr>
          <p:nvPr>
            <p:ph idx="11"/>
          </p:nvPr>
        </p:nvSpPr>
        <p:spPr>
          <a:xfrm xmlns:a="http://schemas.openxmlformats.org/drawingml/2006/main">
            <a:off x="8232273" y="2374900"/>
            <a:ext cx="3568700" cy="3619500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 Medium"/>
                <a:ea typeface="Helvetica Neue Medium"/>
                <a:cs typeface="Helvetica Neue Medium"/>
              </a:rPr>
              <a:t>6｜権利処理が高コスト</a:t>
            </a:r>
          </a:p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 Medium"/>
                <a:ea typeface="Helvetica Neue Medium"/>
                <a:cs typeface="Helvetica Neue Medium"/>
              </a:rPr>
              <a:t/>
            </a:r>
          </a:p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sz="16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再利用便益を上回る。</a:t>
            </a:r>
          </a:p>
          <a:p xmlns:a="http://schemas.openxmlformats.org/drawingml/2006/main">
            <a:pPr marL="228600" indent="-22860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har char="•"/>
            </a:pPr>
            <a:r>
              <a:rPr sz="16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→ 共有範囲を縮小し、顧客境界内改善へ集中。</a:t>
            </a:r>
          </a:p>
          <a:p xmlns:a="http://schemas.openxmlformats.org/drawingml/2006/main">
            <a:pPr marL="228600" indent="-22860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har char="•"/>
            </a:pPr>
            <a:r>
              <a:rPr sz="16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228600" indent="-22860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har char="•"/>
            </a:pPr>
            <a:r>
              <a:rPr sz="16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モデル統合・共有コア・専用HWは独立ゲート。</a:t>
            </a:r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24C70FFE-9D4B-9EEB-4231-9B1B74B40AF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反証条件（4–6）と独立ゲート</a:t>
            </a:r>
          </a:p>
        </p:txBody>
      </p:sp>
    </p:spTree>
    <p:extLst>
      <p:ext uri="{BB962C8B-B14F-4D97-AF65-F5344CB8AC3E}">
        <p14:creationId xmlns:p14="http://schemas.microsoft.com/office/powerpoint/2010/main" val="2966171638"/>
      </p:ext>
    </p:extLst>
  </p:cSld>
</p:sld>
</file>

<file path=ppt/slides/slide4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DCDD464D-3316-879D-91C3-30E54491AD1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9CF87E8-8F71-04A5-6F3A-BEE8F630D5E2}" type="slidenum">
              <a:t>48</a:t>
            </a:fld>
          </a:p>
        </p:txBody>
      </p:sp>
      <p:sp>
        <p:nvSpPr>
          <p:cNvPr id="11" name="Title 10">
            <a:extLst xmlns:a="http://schemas.openxmlformats.org/drawingml/2006/main">
              <a:ext uri="{FF2B5EF4-FFF2-40B4-BE49-F238E27FC236}">
                <a16:creationId xmlns:a16="http://schemas.microsoft.com/office/drawing/2014/main" id="{8D39B68E-326B-DDEB-2069-B8BB0D01F04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5534180" cy="104749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誤読を避ける（1–4）</a:t>
            </a: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29B30B4D-AB5C-65DB-5658-753508EB3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032000"/>
            <a:ext cx="2581975" cy="2656541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" name="Rounded Rectangle 1">
            <a:extLst xmlns:a="http://schemas.openxmlformats.org/drawingml/2006/main">
              <a:ext uri="{FF2B5EF4-FFF2-40B4-BE49-F238E27FC236}">
                <a16:creationId xmlns:a16="http://schemas.microsoft.com/office/drawing/2014/main" id="{2F75E60C-F9D7-0EB1-DB87-30BB4B887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85955"/>
            <a:ext cx="12192000" cy="14859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48F23094-2741-BF93-9618-593A39D42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052" y="2251890"/>
            <a:ext cx="2133315" cy="90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67117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500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外資排除？</a:t>
            </a:r>
          </a:p>
        </p:txBody>
      </p:sp>
      <p:sp>
        <p:nvSpPr>
          <p:cNvPr id="16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D63831D1-6AB6-9FDC-DF3D-910C1C60EA7D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697670" y="3740150"/>
            <a:ext cx="2066698" cy="61595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違う。外部技術を使いながら、決定・実行・移行・継続を国内側へ残す</a:t>
            </a:r>
          </a:p>
        </p:txBody>
      </p:sp>
      <p:sp>
        <p:nvSpPr>
          <p:cNvPr id="34" name="Rounded Rectangle 33">
            <a:extLst xmlns:a="http://schemas.openxmlformats.org/drawingml/2006/main">
              <a:ext uri="{FF2B5EF4-FFF2-40B4-BE49-F238E27FC236}">
                <a16:creationId xmlns:a16="http://schemas.microsoft.com/office/drawing/2014/main" id="{D0C74EF0-61EA-0AD2-19B0-75CAAA4B8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5905" y="2032000"/>
            <a:ext cx="2581975" cy="2656541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5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6130B530-1157-40A3-0161-21ADDD16D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3257" y="2251890"/>
            <a:ext cx="2133315" cy="90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5391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500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国内企業なら主権？</a:t>
            </a:r>
          </a:p>
        </p:txBody>
      </p:sp>
      <p:sp>
        <p:nvSpPr>
          <p:cNvPr id="36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7DE51176-FC24-C3CB-45B8-8EA48AFAF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9875" y="3740150"/>
            <a:ext cx="2066698" cy="615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違う。顧客がデータ・評価・鍵・配備・移行を制御できなければlock-in</a:t>
            </a:r>
          </a:p>
        </p:txBody>
      </p:sp>
      <p:sp>
        <p:nvSpPr>
          <p:cNvPr id="37" name="Rounded Rectangle 36">
            <a:extLst xmlns:a="http://schemas.openxmlformats.org/drawingml/2006/main">
              <a:ext uri="{FF2B5EF4-FFF2-40B4-BE49-F238E27FC236}">
                <a16:creationId xmlns:a16="http://schemas.microsoft.com/office/drawing/2014/main" id="{B5992B1D-5E0E-664C-375F-216AFC12E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1986" y="2032000"/>
            <a:ext cx="2581975" cy="2656541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8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54A023A6-B45F-0FFE-0391-DBB435439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9338" y="2251890"/>
            <a:ext cx="2133315" cy="90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5391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500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オンプレなら主権？</a:t>
            </a:r>
          </a:p>
        </p:txBody>
      </p:sp>
      <p:sp>
        <p:nvSpPr>
          <p:cNvPr id="39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5E890D67-9D53-7808-5E55-E05F92307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5956" y="3740150"/>
            <a:ext cx="2066698" cy="615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違う。評価・改変・更新・停止・移行・供給継続まで確認する</a:t>
            </a:r>
          </a:p>
        </p:txBody>
      </p:sp>
      <p:sp>
        <p:nvSpPr>
          <p:cNvPr id="40" name="Rounded Rectangle 39">
            <a:extLst xmlns:a="http://schemas.openxmlformats.org/drawingml/2006/main">
              <a:ext uri="{FF2B5EF4-FFF2-40B4-BE49-F238E27FC236}">
                <a16:creationId xmlns:a16="http://schemas.microsoft.com/office/drawing/2014/main" id="{DEE6595D-2709-1F7C-8B9A-47164A9A4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4191" y="2032000"/>
            <a:ext cx="2581975" cy="2656541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1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0DD8DA38-D646-1FA9-28D4-71AFE0F87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1543" y="2251890"/>
            <a:ext cx="2133315" cy="90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5391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500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柱Cは濠でない＝不要？</a:t>
            </a:r>
          </a:p>
        </p:txBody>
      </p:sp>
      <p:sp>
        <p:nvSpPr>
          <p:cNvPr id="42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5D7CE5C2-7A4C-5B39-AEB6-25510E71F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8161" y="3740150"/>
            <a:ext cx="2066698" cy="615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違う。模倣可能でも、状態更新権と実行権を守る必須能力</a:t>
            </a:r>
          </a:p>
        </p:txBody>
      </p:sp>
      <p:sp>
        <p:nvSpPr>
          <p:cNvPr id="4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21B19CD8-2634-6048-888D-54374B2A6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1100" y="400899"/>
            <a:ext cx="5539873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主権性は企業国籍や配置場所ではなく、実質的な権利と能力で測る。</a:t>
            </a:r>
          </a:p>
        </p:txBody>
      </p:sp>
    </p:spTree>
    <p:extLst>
      <p:ext uri="{BB962C8B-B14F-4D97-AF65-F5344CB8AC3E}">
        <p14:creationId xmlns:p14="http://schemas.microsoft.com/office/powerpoint/2010/main" val="4134999073"/>
      </p:ext>
    </p:extLst>
  </p:cSld>
</p:sld>
</file>

<file path=ppt/slides/slide4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4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5E6F3576-FAD9-7780-1390-E4CCDDDDF4C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391832"/>
            <a:ext cx="3568700" cy="36025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solidFill>
                  <a:prstClr val="black"/>
                </a:solidFill>
                <a:latin typeface="Helvetica Neue Medium"/>
                <a:ea typeface="Helvetica Neue Medium"/>
                <a:cs typeface="Helvetica Neue Medium"/>
              </a:rPr>
              <a:t>5｜専用計算基盤も需要次第？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solidFill>
                  <a:prstClr val="black"/>
                </a:solidFill>
                <a:latin typeface="Helvetica Neue Medium"/>
                <a:ea typeface="Helvetica Neue Medium"/>
                <a:cs typeface="Helvetica Neue Medium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違う。高効率計算基盤は非オプション。需要ゲートは専用ASIC化の範囲に置く。</a:t>
            </a:r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DBEA618B-866F-6F23-43A9-78F2D312787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fld id="{AD74175A-4E66-87FD-D56A-AAD4D4BBF877}" type="slidenum">
              <a:t>49</a:t>
            </a:fld>
          </a:p>
        </p:txBody>
      </p:sp>
      <p:sp>
        <p:nvSpPr>
          <p:cNvPr id="2" name="Content Placeholder 1">
            <a:extLst xmlns:a="http://schemas.openxmlformats.org/drawingml/2006/main">
              <a:ext uri="{FF2B5EF4-FFF2-40B4-BE49-F238E27FC236}">
                <a16:creationId xmlns:a16="http://schemas.microsoft.com/office/drawing/2014/main" id="{7ED2788F-D3A7-1987-7296-9AC0BE2A1D11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4318000" y="2374900"/>
            <a:ext cx="3568700" cy="3619500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 Medium"/>
                <a:ea typeface="Helvetica Neue Medium"/>
                <a:cs typeface="Helvetica Neue Medium"/>
              </a:rPr>
              <a:t>6｜顧客データを国家共有コアへ？</a:t>
            </a:r>
          </a:p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 Medium"/>
                <a:ea typeface="Helvetica Neue Medium"/>
                <a:cs typeface="Helvetica Neue Medium"/>
              </a:rPr>
              <a:t/>
            </a:r>
          </a:p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sz="16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違う。顧客資産は境界内。共有は権利処理された限定信号だけ。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0AB3D00A-6146-FC12-E7D6-0A4E6D490B4A}"/>
              </a:ext>
            </a:extLst>
          </p:cNvPr>
          <p:cNvSpPr>
            <a:spLocks xmlns:a="http://schemas.openxmlformats.org/drawingml/2006/main" noGrp="1"/>
          </p:cNvSpPr>
          <p:nvPr>
            <p:ph idx="11"/>
          </p:nvPr>
        </p:nvSpPr>
        <p:spPr>
          <a:xfrm xmlns:a="http://schemas.openxmlformats.org/drawingml/2006/main">
            <a:off x="8232273" y="2374900"/>
            <a:ext cx="3568700" cy="3619500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 Medium"/>
                <a:ea typeface="Helvetica Neue Medium"/>
                <a:cs typeface="Helvetica Neue Medium"/>
              </a:rPr>
              <a:t>7｜巨大共有コアが最終ゴール？</a:t>
            </a:r>
          </a:p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 Medium"/>
                <a:ea typeface="Helvetica Neue Medium"/>
                <a:cs typeface="Helvetica Neue Medium"/>
              </a:rPr>
              <a:t/>
            </a:r>
          </a:p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sz="16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違う。共有コア、専門家、local model、RAG、KG、ルールを性能・権利・可逆性・安全性・経済性で選ぶ。</a:t>
            </a:r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24C70FFE-9D4B-9EEB-4231-9B1B74B40AF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誤読を避ける（5–7）</a:t>
            </a:r>
          </a:p>
        </p:txBody>
      </p:sp>
    </p:spTree>
    <p:extLst>
      <p:ext uri="{BB962C8B-B14F-4D97-AF65-F5344CB8AC3E}">
        <p14:creationId xmlns:p14="http://schemas.microsoft.com/office/powerpoint/2010/main" val="2966171638"/>
      </p:ext>
    </p:extLst>
  </p:cSld>
</p:sld>
</file>

<file path=ppt/slides/slide5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4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73983F85-E2E7-5016-FA2B-D1CE29449182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>日本が守るべきもの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>データの保存場所だけではない。判断、専門家の修正、失敗、例外処理、状態遷移、実行結果を次の改善へつなげる能力。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>最大のリスク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>何を学習・評価・配備・停止し、供給障害時にどう続けるかを日本側が決められなくなること。</a:t>
            </a:r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1BCBE750-7048-686D-1472-52C53362D6C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fld id="{3491E0C6-B3E9-2F0E-6F4F-4638278C4AE4}" type="slidenum">
              <a:t>50</a:t>
            </a:fld>
          </a:p>
        </p:txBody>
      </p:sp>
      <p:sp>
        <p:nvSpPr>
          <p:cNvPr id="2" name="Content Placeholder 1">
            <a:extLst xmlns:a="http://schemas.openxmlformats.org/drawingml/2006/main">
              <a:ext uri="{FF2B5EF4-FFF2-40B4-BE49-F238E27FC236}">
                <a16:creationId xmlns:a16="http://schemas.microsoft.com/office/drawing/2014/main" id="{336409A4-E296-79C0-A5A6-B0CD8EB393CA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/>
        <p:txBody>
          <a:bodyPr xmlns:a="http://schemas.openxmlformats.org/drawingml/2006/main">
            <a:normAutofit fontScale="94512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KairosAIの構え</a:t>
            </a:r>
          </a:p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国産モデルを一度作るだけでは足りない。実用性で使われ、権利処理し、国内で改善できる一連のsystemを作る。</a:t>
            </a:r>
          </a:p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最初から全部国産化しない</a:t>
            </a:r>
          </a:p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OSS・海外GPUで本番を立ち上げつつ制御能力を国内へ蓄積し、専用計算基盤を構築。専用半導体化は需要ゲートで判断。</a:t>
            </a:r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B5D55CD-1C17-7CD8-F26A-2DD65B0676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戦略ナラティブ冒頭に置くべき論理</a:t>
            </a:r>
          </a:p>
        </p:txBody>
      </p:sp>
    </p:spTree>
    <p:extLst>
      <p:ext uri="{BB962C8B-B14F-4D97-AF65-F5344CB8AC3E}">
        <p14:creationId xmlns:p14="http://schemas.microsoft.com/office/powerpoint/2010/main" val="3667182145"/>
      </p:ext>
    </p:extLst>
  </p:cSld>
</p:sld>
</file>

<file path=ppt/slides/slide5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4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73983F85-E2E7-5016-FA2B-D1CE29449182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>1｜どの重点業務で、誰に、どの価値を出すか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>2｜利用からどの実用資産が生まれるか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>3｜資産の権利者と利用条件を誰が決めるか</a:t>
            </a:r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1BCBE750-7048-686D-1472-52C53362D6C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fld id="{6043A58D-60CA-DFB2-80EC-B65AE4CB9481}" type="slidenum">
              <a:t>51</a:t>
            </a:fld>
          </a:p>
        </p:txBody>
      </p:sp>
      <p:sp>
        <p:nvSpPr>
          <p:cNvPr id="2" name="Content Placeholder 1">
            <a:extLst xmlns:a="http://schemas.openxmlformats.org/drawingml/2006/main">
              <a:ext uri="{FF2B5EF4-FFF2-40B4-BE49-F238E27FC236}">
                <a16:creationId xmlns:a16="http://schemas.microsoft.com/office/drawing/2014/main" id="{336409A4-E296-79C0-A5A6-B0CD8EB393CA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/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4｜国内側が何を決定・実行・移行・継続できるか</a:t>
            </a:r>
          </a:p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5｜主権上必要か、競争上の差別化か、その両方か</a:t>
            </a:r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B5D55CD-1C17-7CD8-F26A-2DD65B0676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既存文書を改訂するときの判断原則（1–5）</a:t>
            </a:r>
          </a:p>
        </p:txBody>
      </p:sp>
    </p:spTree>
    <p:extLst>
      <p:ext uri="{BB962C8B-B14F-4D97-AF65-F5344CB8AC3E}">
        <p14:creationId xmlns:p14="http://schemas.microsoft.com/office/powerpoint/2010/main" val="3667182145"/>
      </p:ext>
    </p:extLst>
  </p:cSld>
</p:sld>
</file>

<file path=ppt/slides/slide5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4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73983F85-E2E7-5016-FA2B-D1CE29449182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>6｜現在実証済みか、次ゲートか、長期目標か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>7｜外部資料が支持する事実か、設計仮説・戦略推論か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>8｜失敗/no-go時にどの代替経路を採るか</a:t>
            </a:r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1BCBE750-7048-686D-1472-52C53362D6C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fld id="{E633A456-5465-3671-5B0B-A8DFBB753E5A}" type="slidenum">
              <a:t>52</a:t>
            </a:fld>
          </a:p>
        </p:txBody>
      </p:sp>
      <p:sp>
        <p:nvSpPr>
          <p:cNvPr id="2" name="Content Placeholder 1">
            <a:extLst xmlns:a="http://schemas.openxmlformats.org/drawingml/2006/main">
              <a:ext uri="{FF2B5EF4-FFF2-40B4-BE49-F238E27FC236}">
                <a16:creationId xmlns:a16="http://schemas.microsoft.com/office/drawing/2014/main" id="{336409A4-E296-79C0-A5A6-B0CD8EB393CA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/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9｜顧客を国内事業者へ不可逆にlock-inしないか</a:t>
            </a:r>
          </a:p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10｜KPIと反証条件を定義できるか</a:t>
            </a:r>
          </a:p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答えられないモデル規模・GPU台数・半導体仕様は戦略中心に置かない。</a:t>
            </a:r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B5D55CD-1C17-7CD8-F26A-2DD65B0676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既存文書を改訂するときの判断原則（6–10）</a:t>
            </a:r>
          </a:p>
        </p:txBody>
      </p:sp>
    </p:spTree>
    <p:extLst>
      <p:ext uri="{BB962C8B-B14F-4D97-AF65-F5344CB8AC3E}">
        <p14:creationId xmlns:p14="http://schemas.microsoft.com/office/powerpoint/2010/main" val="3667182145"/>
      </p:ext>
    </p:extLst>
  </p:cSld>
</p:sld>
</file>

<file path=ppt/slides/slide5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69A7B84F-6F74-164C-037A-8CB20BDDFE1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fld id="{4477B42F-3A06-F812-16D6-7080D8A12563}" type="slidenum">
              <a:t>53</a:t>
            </a:fld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E3D44A9C-8B13-1683-4B06-D873237D1D1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35687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用語統一の6原則</a:t>
            </a:r>
          </a:p>
        </p:txBody>
      </p:sp>
      <p:sp>
        <p:nvSpPr>
          <p:cNvPr id="10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047BF48D-F983-118D-D2F7-E43AACA9F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2445" y="393701"/>
            <a:ext cx="5505855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「国産所有」ではなく、誰がどの権利を持つかを書く</a:t>
            </a:r>
          </a:p>
        </p:txBody>
      </p:sp>
      <p:sp>
        <p:nvSpPr>
          <p:cNvPr id="2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AF6A488A-017C-2F49-A724-CF4366590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245" y="393701"/>
            <a:ext cx="1784755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 Medium"/>
                <a:ea typeface="Helvetica Neue Medium"/>
                <a:cs typeface="Helvetica Neue Medium"/>
              </a:rPr>
              <a:t>所有</a:t>
            </a:r>
          </a:p>
        </p:txBody>
      </p:sp>
      <p:sp>
        <p:nvSpPr>
          <p:cNvPr id="7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59230B05-F497-DE80-839D-8A9B7CC16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2445" y="1397001"/>
            <a:ext cx="5505855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「Layer 1」ではなく、共有コア / 顧客主権資産と明記</a:t>
            </a:r>
          </a:p>
        </p:txBody>
      </p:sp>
      <p:sp>
        <p:nvSpPr>
          <p:cNvPr id="9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D01219A0-506D-650D-E147-5B8132027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245" y="1397001"/>
            <a:ext cx="1784755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 Medium"/>
                <a:ea typeface="Helvetica Neue Medium"/>
                <a:cs typeface="Helvetica Neue Medium"/>
              </a:rPr>
              <a:t>Layer</a:t>
            </a:r>
          </a:p>
        </p:txBody>
      </p:sp>
      <p:sp>
        <p:nvSpPr>
          <p:cNvPr id="12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F5BFF3A2-62B8-C64E-A147-B21AD9CBB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2445" y="2374901"/>
            <a:ext cx="5505855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決定・実行・移行・継続の四条件で説明</a:t>
            </a:r>
          </a:p>
        </p:txBody>
      </p:sp>
      <p:sp>
        <p:nvSpPr>
          <p:cNvPr id="15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F7608A34-9B1E-8319-01AB-B013BBE67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245" y="2374901"/>
            <a:ext cx="1784755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 Medium"/>
                <a:ea typeface="Helvetica Neue Medium"/>
                <a:cs typeface="Helvetica Neue Medium"/>
              </a:rPr>
              <a:t>主権</a:t>
            </a:r>
          </a:p>
        </p:txBody>
      </p:sp>
      <p:sp>
        <p:nvSpPr>
          <p:cNvPr id="16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0845C908-26F4-26EB-1CA7-AABB89BB3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2445" y="3365501"/>
            <a:ext cx="5505855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「濠」と「必須能力」を分ける</a:t>
            </a:r>
          </a:p>
        </p:txBody>
      </p:sp>
      <p:sp>
        <p:nvSpPr>
          <p:cNvPr id="17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228D802D-D8A9-E697-144D-8E7477F29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245" y="3365501"/>
            <a:ext cx="1784755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 Medium"/>
                <a:ea typeface="Helvetica Neue Medium"/>
                <a:cs typeface="Helvetica Neue Medium"/>
              </a:rPr>
              <a:t>能力</a:t>
            </a:r>
          </a:p>
        </p:txBody>
      </p:sp>
      <p:sp>
        <p:nvSpPr>
          <p:cNvPr id="18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0CCFFBE1-F391-100C-F0AF-8B730BA0A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2445" y="4356101"/>
            <a:ext cx="5505855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「現在」「軌道」「長期目標」を分ける</a:t>
            </a:r>
          </a:p>
        </p:txBody>
      </p:sp>
      <p:sp>
        <p:nvSpPr>
          <p:cNvPr id="19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BDD61A53-13D8-0ED5-E0A9-5CB7D8718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245" y="4356101"/>
            <a:ext cx="1784755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 Medium"/>
                <a:ea typeface="Helvetica Neue Medium"/>
                <a:cs typeface="Helvetica Neue Medium"/>
              </a:rPr>
              <a:t>時間</a:t>
            </a:r>
          </a:p>
        </p:txBody>
      </p:sp>
      <p:sp>
        <p:nvSpPr>
          <p:cNvPr id="20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8FDE77B0-FFF1-E69E-8C9B-D6E2B9870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2445" y="5359401"/>
            <a:ext cx="5505855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必須の専用計算基盤と、ゲート判断する特定ASICを分ける</a:t>
            </a:r>
          </a:p>
        </p:txBody>
      </p:sp>
      <p:sp>
        <p:nvSpPr>
          <p:cNvPr id="21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5657569D-FC7C-5C9F-EA43-E13413EF7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245" y="5359401"/>
            <a:ext cx="1784755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 Medium"/>
                <a:ea typeface="Helvetica Neue Medium"/>
                <a:cs typeface="Helvetica Neue Medium"/>
              </a:rPr>
              <a:t>Compute</a:t>
            </a:r>
          </a:p>
        </p:txBody>
      </p:sp>
    </p:spTree>
    <p:extLst>
      <p:ext uri="{BB962C8B-B14F-4D97-AF65-F5344CB8AC3E}">
        <p14:creationId xmlns:p14="http://schemas.microsoft.com/office/powerpoint/2010/main" val="3081640303"/>
      </p:ext>
    </p:extLst>
  </p:cSld>
</p:sld>
</file>

<file path=ppt/slides/slide5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object 3">
            <a:extLst xmlns:a="http://schemas.openxmlformats.org/drawingml/2006/main">
              <a:ext uri="{FF2B5EF4-FFF2-40B4-BE49-F238E27FC236}">
                <a16:creationId xmlns:a16="http://schemas.microsoft.com/office/drawing/2014/main" id="{E9587ADC-D7C6-0752-CB04-90543E6E5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0900" y="0"/>
            <a:ext cx="6261100" cy="6858000"/>
          </a:xfrm>
          <a:custGeom xmlns:a="http://schemas.openxmlformats.org/drawingml/2006/main">
            <a:rect l="l" t="t" r="r" b="b"/>
            <a:pathLst>
              <a:path w="7386319" h="7475220">
                <a:moveTo>
                  <a:pt x="7385710" y="0"/>
                </a:moveTo>
                <a:lnTo>
                  <a:pt x="0" y="0"/>
                </a:lnTo>
                <a:lnTo>
                  <a:pt x="0" y="7474610"/>
                </a:lnTo>
                <a:lnTo>
                  <a:pt x="7385710" y="7474610"/>
                </a:lnTo>
                <a:lnTo>
                  <a:pt x="7385710" y="0"/>
                </a:lnTo>
                <a:close/>
              </a:path>
            </a:pathLst>
          </a:custGeom>
          <a:solidFill xmlns:a="http://schemas.openxmlformats.org/drawingml/2006/main">
            <a:srgbClr val="EDEDED"/>
          </a:solid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/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F0FFD4C2-91BF-62E5-3F4D-5F22CB693C50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fld id="{2FFCF489-DFD6-64BD-BCB3-4D97AF36B1FB}" type="slidenum">
              <a:t>54</a:t>
            </a:fld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76B53431-A5A3-DBCC-DDCF-BA4B5ED509B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5537200" cy="267859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rPr sz="4200"/>
              <a:t>実用性で使われ、使うほど</a:t>
            </a:r>
          </a:p>
          <a:p xmlns:a="http://schemas.openxmlformats.org/drawingml/2006/main">
            <a:r>
              <a:rPr sz="4200"/>
              <a:t>改善主権と継続能力が</a:t>
            </a:r>
          </a:p>
          <a:p xmlns:a="http://schemas.openxmlformats.org/drawingml/2006/main">
            <a:r>
              <a:rPr sz="4200"/>
              <a:t>国内に残るAIシステムを構築する。</a:t>
            </a:r>
          </a:p>
        </p:txBody>
      </p:sp>
      <p:sp>
        <p:nvSpPr>
          <p:cNvPr id="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482C0709-78B4-948D-01E2-20AD0623C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1100" y="4297107"/>
            <a:ext cx="5537200" cy="21176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buNone/>
              <a:defRPr sz="29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r>
              <a:rPr sz="4200"/>
              <a:t>日本側の意思で</a:t>
            </a:r>
          </a:p>
          <a:p xmlns:a="http://schemas.openxmlformats.org/drawingml/2006/main">
            <a:r>
              <a:rPr sz="4200"/>
              <a:t>改善・停止・移行し、</a:t>
            </a:r>
          </a:p>
          <a:p xmlns:a="http://schemas.openxmlformats.org/drawingml/2006/main">
            <a:r>
              <a:rPr sz="4200"/>
              <a:t>重要業務を継続する。</a:t>
            </a:r>
          </a:p>
        </p:txBody>
      </p:sp>
    </p:spTree>
    <p:extLst>
      <p:ext uri="{BB962C8B-B14F-4D97-AF65-F5344CB8AC3E}">
        <p14:creationId xmlns:p14="http://schemas.microsoft.com/office/powerpoint/2010/main" val="3931526918"/>
      </p:ext>
    </p:extLst>
  </p:cSld>
</p:sld>
</file>

<file path=ppt/slides/slide5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4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73983F85-E2E7-5016-FA2B-D1CE29449182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>1｜Chen et al. (2026), “AI+HW 2035”, arXiv:2603.05225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>2｜Delavande et al. (2026), “Understanding Efficiency…”, arXiv:2601.22362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>3｜“Bandwidth, Compute, Synchronization, and Capacity…”, arXiv:2507.14397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>4｜“The Cost of Dynamic Reasoning…”, arXiv:2506.04301</a:t>
            </a:r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1BCBE750-7048-686D-1472-52C53362D6C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fld id="{4C0BC6D5-207B-F838-F994-CD836D38A6B0}" type="slidenum">
              <a:t>55</a:t>
            </a:fld>
          </a:p>
        </p:txBody>
      </p:sp>
      <p:sp>
        <p:nvSpPr>
          <p:cNvPr id="2" name="Content Placeholder 1">
            <a:extLst xmlns:a="http://schemas.openxmlformats.org/drawingml/2006/main">
              <a:ext uri="{FF2B5EF4-FFF2-40B4-BE49-F238E27FC236}">
                <a16:creationId xmlns:a16="http://schemas.microsoft.com/office/drawing/2014/main" id="{336409A4-E296-79C0-A5A6-B0CD8EB393CA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/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5｜MLCommons, MLPerf Inference v6.0 Results (2026)</a:t>
            </a:r>
          </a:p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6｜Palantir / NVIDIA, Sovereign AI OS Reference Architecture (2026-03-12)</a:t>
            </a:r>
          </a:p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7｜Palantir, Model connectivity and development — Overview</a:t>
            </a:r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B5D55CD-1C17-7CD8-F26A-2DD65B0676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主要参考資料</a:t>
            </a:r>
          </a:p>
        </p:txBody>
      </p:sp>
    </p:spTree>
    <p:extLst>
      <p:ext uri="{BB962C8B-B14F-4D97-AF65-F5344CB8AC3E}">
        <p14:creationId xmlns:p14="http://schemas.microsoft.com/office/powerpoint/2010/main" val="3667182145"/>
      </p:ext>
    </p:extLst>
  </p:cSld>
</p:sld>
</file>

<file path=ppt/slides/slide5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4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73983F85-E2E7-5016-FA2B-D1CE29449182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>文書コンテキスト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>作成日：2026-06-22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>版：v0.2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>種別：戦略ナラティブ再構成の正準候補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>位置づけ：v0.1を保存し、本版を今後の改稿基準とする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>関連：Strategy Narrative v2.21 / Usage-Driven Sovereignty / Narrative Revision / Practicality Engine / Three-Solution Logic / Onprem Pillar C</a:t>
            </a:r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1BCBE750-7048-686D-1472-52C53362D6C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fld id="{53265AEE-4D99-0673-12C8-99EFF695690A}" type="slidenum">
              <a:t>56</a:t>
            </a:fld>
          </a:p>
        </p:txBody>
      </p:sp>
      <p:sp>
        <p:nvSpPr>
          <p:cNvPr id="2" name="Content Placeholder 1">
            <a:extLst xmlns:a="http://schemas.openxmlformats.org/drawingml/2006/main">
              <a:ext uri="{FF2B5EF4-FFF2-40B4-BE49-F238E27FC236}">
                <a16:creationId xmlns:a16="http://schemas.microsoft.com/office/drawing/2014/main" id="{336409A4-E296-79C0-A5A6-B0CD8EB393CA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/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v0.2の主な強化</a:t>
            </a:r>
          </a:p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• 主権を四条件で定義</a:t>
            </a:r>
          </a:p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• 必須能力と差別化を二軸化</a:t>
            </a:r>
          </a:p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• 4資産群と権利モデル</a:t>
            </a:r>
          </a:p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• 競合比較を事実/未確認に分離</a:t>
            </a:r>
          </a:p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• 計算基盤とASICゲートを分離</a:t>
            </a:r>
          </a:p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• Phase 4A/4B、S/R/C市場、KPI、反証条件を追加</a:t>
            </a:r>
          </a:p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 b="0" i="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• 推論ROIと高効率計算基盤を非オプション化</a:t>
            </a:r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B5D55CD-1C17-7CD8-F26A-2DD65B0676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文書の位置づけと改訂履歴</a:t>
            </a:r>
          </a:p>
        </p:txBody>
      </p:sp>
    </p:spTree>
    <p:extLst>
      <p:ext uri="{BB962C8B-B14F-4D97-AF65-F5344CB8AC3E}">
        <p14:creationId xmlns:p14="http://schemas.microsoft.com/office/powerpoint/2010/main" val="3667182145"/>
      </p:ext>
    </p:extLst>
  </p:cSld>
</p:sld>
</file>

<file path=ppt/theme/theme1.xml><?xml version="1.0" encoding="utf-8"?>
<a:theme xmlns:a="http://schemas.openxmlformats.org/drawingml/2006/main" name="Default Codex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2026-06-22T01:43:24.0530000Z</dcterms:created>
  <dcterms:modified xsi:type="dcterms:W3CDTF">2026-06-22T01:43:24.0530000Z</dcterms:modified>
</coreProperties>
</file>