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7a5d73f9de4c3f" /><Relationship Type="http://schemas.openxmlformats.org/officeDocument/2006/relationships/extended-properties" Target="/docProps/app.xml" Id="R98e458ee8c0242d2" /><Relationship Type="http://schemas.openxmlformats.org/officeDocument/2006/relationships/officeDocument" Target="/ppt/presentation.xml" Id="R6ac6618c1fa544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79e084ebbe480b"/>
  </p:sldMasterIdLst>
  <p:notesMasterIdLst>
    <p:notesMasterId xmlns:r="http://schemas.openxmlformats.org/officeDocument/2006/relationships" r:id="R867a99bf74834e16"/>
  </p:notesMasterIdLst>
  <p:sldIdLst>
    <p:sldId xmlns:r="http://schemas.openxmlformats.org/officeDocument/2006/relationships" id="256" r:id="Ra57244206cd9479d"/>
    <p:sldId xmlns:r="http://schemas.openxmlformats.org/officeDocument/2006/relationships" id="257" r:id="R56143cca11934a4c"/>
    <p:sldId xmlns:r="http://schemas.openxmlformats.org/officeDocument/2006/relationships" id="258" r:id="R87bb05ef19ba4077"/>
    <p:sldId xmlns:r="http://schemas.openxmlformats.org/officeDocument/2006/relationships" id="259" r:id="Rd08ec7a5ab554f79"/>
    <p:sldId xmlns:r="http://schemas.openxmlformats.org/officeDocument/2006/relationships" id="260" r:id="Ra7cd7cfc64954b77"/>
    <p:sldId xmlns:r="http://schemas.openxmlformats.org/officeDocument/2006/relationships" id="261" r:id="R1f2f9f9b5c7f47a2"/>
    <p:sldId xmlns:r="http://schemas.openxmlformats.org/officeDocument/2006/relationships" id="262" r:id="Ra68037ea5da54b0f"/>
    <p:sldId xmlns:r="http://schemas.openxmlformats.org/officeDocument/2006/relationships" id="263" r:id="R915538ec208a4cdc"/>
    <p:sldId xmlns:r="http://schemas.openxmlformats.org/officeDocument/2006/relationships" id="264" r:id="R404a2245e31a4d7f"/>
    <p:sldId xmlns:r="http://schemas.openxmlformats.org/officeDocument/2006/relationships" id="265" r:id="R0ffa95dede37423e"/>
    <p:sldId xmlns:r="http://schemas.openxmlformats.org/officeDocument/2006/relationships" id="266" r:id="R5a437ff98d924067"/>
    <p:sldId xmlns:r="http://schemas.openxmlformats.org/officeDocument/2006/relationships" id="267" r:id="Rada4e4ae860b44ec"/>
    <p:sldId xmlns:r="http://schemas.openxmlformats.org/officeDocument/2006/relationships" id="268" r:id="Rb7295647d13a441c"/>
    <p:sldId xmlns:r="http://schemas.openxmlformats.org/officeDocument/2006/relationships" id="269" r:id="R4843bb280b834d71"/>
    <p:sldId xmlns:r="http://schemas.openxmlformats.org/officeDocument/2006/relationships" id="270" r:id="Racdffc49f69a4b23"/>
    <p:sldId xmlns:r="http://schemas.openxmlformats.org/officeDocument/2006/relationships" id="271" r:id="R98a81e1714e84db8"/>
    <p:sldId xmlns:r="http://schemas.openxmlformats.org/officeDocument/2006/relationships" id="272" r:id="R4a1bf35ed06e41fb"/>
    <p:sldId xmlns:r="http://schemas.openxmlformats.org/officeDocument/2006/relationships" id="273" r:id="R7ffa1050b96e4196"/>
    <p:sldId xmlns:r="http://schemas.openxmlformats.org/officeDocument/2006/relationships" id="274" r:id="Ra58b90ce3fc748e4"/>
    <p:sldId xmlns:r="http://schemas.openxmlformats.org/officeDocument/2006/relationships" id="275" r:id="Rf61f90ef9b84419f"/>
    <p:sldId xmlns:r="http://schemas.openxmlformats.org/officeDocument/2006/relationships" id="276" r:id="R7592e65b15e64012"/>
    <p:sldId xmlns:r="http://schemas.openxmlformats.org/officeDocument/2006/relationships" id="277" r:id="Rb2cee51c76604996"/>
    <p:sldId xmlns:r="http://schemas.openxmlformats.org/officeDocument/2006/relationships" id="278" r:id="R82c30a9a445d4e22"/>
    <p:sldId xmlns:r="http://schemas.openxmlformats.org/officeDocument/2006/relationships" id="279" r:id="R20c05f85638544e3"/>
    <p:sldId xmlns:r="http://schemas.openxmlformats.org/officeDocument/2006/relationships" id="280" r:id="R5fd215fe981d431e"/>
    <p:sldId xmlns:r="http://schemas.openxmlformats.org/officeDocument/2006/relationships" id="281" r:id="R683c5467417d4471"/>
    <p:sldId xmlns:r="http://schemas.openxmlformats.org/officeDocument/2006/relationships" id="282" r:id="Ra358246a320340b3"/>
    <p:sldId xmlns:r="http://schemas.openxmlformats.org/officeDocument/2006/relationships" id="283" r:id="Rc2d8e553bba94155"/>
    <p:sldId xmlns:r="http://schemas.openxmlformats.org/officeDocument/2006/relationships" id="284" r:id="R3b618f6a6cd34f09"/>
    <p:sldId xmlns:r="http://schemas.openxmlformats.org/officeDocument/2006/relationships" id="285" r:id="Rce055079ba314840"/>
    <p:sldId xmlns:r="http://schemas.openxmlformats.org/officeDocument/2006/relationships" id="286" r:id="R6d96e90358e64f70"/>
    <p:sldId xmlns:r="http://schemas.openxmlformats.org/officeDocument/2006/relationships" id="287" r:id="R8c1c01608d5d4f54"/>
    <p:sldId xmlns:r="http://schemas.openxmlformats.org/officeDocument/2006/relationships" id="288" r:id="R3326e01580eb42f8"/>
    <p:sldId xmlns:r="http://schemas.openxmlformats.org/officeDocument/2006/relationships" id="289" r:id="R590f195310ed42fd"/>
    <p:sldId xmlns:r="http://schemas.openxmlformats.org/officeDocument/2006/relationships" id="290" r:id="Ra0b7ff87787149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f46223178b48ed" /><Relationship Type="http://schemas.openxmlformats.org/officeDocument/2006/relationships/slideMaster" Target="/ppt/slideMasters/slideMaster1.xml" Id="R8f79e084ebbe480b" /><Relationship Type="http://schemas.openxmlformats.org/officeDocument/2006/relationships/notesMaster" Target="/ppt/notesMasters/notesMaster1.xml" Id="R867a99bf74834e16" /><Relationship Type="http://schemas.openxmlformats.org/officeDocument/2006/relationships/presProps" Target="/ppt/presProps.xml" Id="R6283b91ebb8a44da" /><Relationship Type="http://schemas.openxmlformats.org/officeDocument/2006/relationships/viewProps" Target="/ppt/viewProps.xml" Id="R2794f88930e84ed7" /><Relationship Type="http://schemas.openxmlformats.org/officeDocument/2006/relationships/tableStyles" Target="/ppt/tableStyles.xml" Id="R40019bf0812d480a" /><Relationship Type="http://schemas.openxmlformats.org/officeDocument/2006/relationships/slide" Target="/ppt/slides/slide1.xml" Id="Ra57244206cd9479d" /><Relationship Type="http://schemas.openxmlformats.org/officeDocument/2006/relationships/slide" Target="/ppt/slides/slide2.xml" Id="R56143cca11934a4c" /><Relationship Type="http://schemas.openxmlformats.org/officeDocument/2006/relationships/slide" Target="/ppt/slides/slide3.xml" Id="R87bb05ef19ba4077" /><Relationship Type="http://schemas.openxmlformats.org/officeDocument/2006/relationships/slide" Target="/ppt/slides/slide4.xml" Id="Rd08ec7a5ab554f79" /><Relationship Type="http://schemas.openxmlformats.org/officeDocument/2006/relationships/slide" Target="/ppt/slides/slide5.xml" Id="Ra7cd7cfc64954b77" /><Relationship Type="http://schemas.openxmlformats.org/officeDocument/2006/relationships/slide" Target="/ppt/slides/slide6.xml" Id="R1f2f9f9b5c7f47a2" /><Relationship Type="http://schemas.openxmlformats.org/officeDocument/2006/relationships/slide" Target="/ppt/slides/slide7.xml" Id="Ra68037ea5da54b0f" /><Relationship Type="http://schemas.openxmlformats.org/officeDocument/2006/relationships/slide" Target="/ppt/slides/slide8.xml" Id="R915538ec208a4cdc" /><Relationship Type="http://schemas.openxmlformats.org/officeDocument/2006/relationships/slide" Target="/ppt/slides/slide9.xml" Id="R404a2245e31a4d7f" /><Relationship Type="http://schemas.openxmlformats.org/officeDocument/2006/relationships/slide" Target="/ppt/slides/slide10.xml" Id="R0ffa95dede37423e" /><Relationship Type="http://schemas.openxmlformats.org/officeDocument/2006/relationships/slide" Target="/ppt/slides/slide11.xml" Id="R5a437ff98d924067" /><Relationship Type="http://schemas.openxmlformats.org/officeDocument/2006/relationships/slide" Target="/ppt/slides/slide12.xml" Id="Rada4e4ae860b44ec" /><Relationship Type="http://schemas.openxmlformats.org/officeDocument/2006/relationships/slide" Target="/ppt/slides/slide13.xml" Id="Rb7295647d13a441c" /><Relationship Type="http://schemas.openxmlformats.org/officeDocument/2006/relationships/slide" Target="/ppt/slides/slide14.xml" Id="R4843bb280b834d71" /><Relationship Type="http://schemas.openxmlformats.org/officeDocument/2006/relationships/slide" Target="/ppt/slides/slide15.xml" Id="Racdffc49f69a4b23" /><Relationship Type="http://schemas.openxmlformats.org/officeDocument/2006/relationships/slide" Target="/ppt/slides/slide16.xml" Id="R98a81e1714e84db8" /><Relationship Type="http://schemas.openxmlformats.org/officeDocument/2006/relationships/slide" Target="/ppt/slides/slide17.xml" Id="R4a1bf35ed06e41fb" /><Relationship Type="http://schemas.openxmlformats.org/officeDocument/2006/relationships/slide" Target="/ppt/slides/slide18.xml" Id="R7ffa1050b96e4196" /><Relationship Type="http://schemas.openxmlformats.org/officeDocument/2006/relationships/slide" Target="/ppt/slides/slide19.xml" Id="Ra58b90ce3fc748e4" /><Relationship Type="http://schemas.openxmlformats.org/officeDocument/2006/relationships/slide" Target="/ppt/slides/slide20.xml" Id="Rf61f90ef9b84419f" /><Relationship Type="http://schemas.openxmlformats.org/officeDocument/2006/relationships/slide" Target="/ppt/slides/slide21.xml" Id="R7592e65b15e64012" /><Relationship Type="http://schemas.openxmlformats.org/officeDocument/2006/relationships/slide" Target="/ppt/slides/slide22.xml" Id="Rb2cee51c76604996" /><Relationship Type="http://schemas.openxmlformats.org/officeDocument/2006/relationships/slide" Target="/ppt/slides/slide23.xml" Id="R82c30a9a445d4e22" /><Relationship Type="http://schemas.openxmlformats.org/officeDocument/2006/relationships/slide" Target="/ppt/slides/slide24.xml" Id="R20c05f85638544e3" /><Relationship Type="http://schemas.openxmlformats.org/officeDocument/2006/relationships/slide" Target="/ppt/slides/slide25.xml" Id="R5fd215fe981d431e" /><Relationship Type="http://schemas.openxmlformats.org/officeDocument/2006/relationships/slide" Target="/ppt/slides/slide26.xml" Id="R683c5467417d4471" /><Relationship Type="http://schemas.openxmlformats.org/officeDocument/2006/relationships/slide" Target="/ppt/slides/slide27.xml" Id="Ra358246a320340b3" /><Relationship Type="http://schemas.openxmlformats.org/officeDocument/2006/relationships/slide" Target="/ppt/slides/slide28.xml" Id="Rc2d8e553bba94155" /><Relationship Type="http://schemas.openxmlformats.org/officeDocument/2006/relationships/slide" Target="/ppt/slides/slide29.xml" Id="R3b618f6a6cd34f09" /><Relationship Type="http://schemas.openxmlformats.org/officeDocument/2006/relationships/slide" Target="/ppt/slides/slide30.xml" Id="Rce055079ba314840" /><Relationship Type="http://schemas.openxmlformats.org/officeDocument/2006/relationships/slide" Target="/ppt/slides/slide31.xml" Id="R6d96e90358e64f70" /><Relationship Type="http://schemas.openxmlformats.org/officeDocument/2006/relationships/slide" Target="/ppt/slides/slide32.xml" Id="R8c1c01608d5d4f54" /><Relationship Type="http://schemas.openxmlformats.org/officeDocument/2006/relationships/slide" Target="/ppt/slides/slide33.xml" Id="R3326e01580eb42f8" /><Relationship Type="http://schemas.openxmlformats.org/officeDocument/2006/relationships/slide" Target="/ppt/slides/slide34.xml" Id="R590f195310ed42fd" /><Relationship Type="http://schemas.openxmlformats.org/officeDocument/2006/relationships/slide" Target="/ppt/slides/slide35.xml" Id="Ra0b7ff87787149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189364c60e46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2cb2f0854a42b0" /><Relationship Type="http://schemas.openxmlformats.org/officeDocument/2006/relationships/notesMaster" Target="/ppt/notesMasters/notesMaster1.xml" Id="R1bcf26cbf9de4e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c28217dfe8419d" /><Relationship Type="http://schemas.openxmlformats.org/officeDocument/2006/relationships/notesMaster" Target="/ppt/notesMasters/notesMaster1.xml" Id="R24a039c1324a49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46e95b95404132" /><Relationship Type="http://schemas.openxmlformats.org/officeDocument/2006/relationships/notesMaster" Target="/ppt/notesMasters/notesMaster1.xml" Id="Rc164f7382d6e49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6ddce1f5df4639" /><Relationship Type="http://schemas.openxmlformats.org/officeDocument/2006/relationships/notesMaster" Target="/ppt/notesMasters/notesMaster1.xml" Id="Re5dc80b789f64a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63879188a34a86" /><Relationship Type="http://schemas.openxmlformats.org/officeDocument/2006/relationships/notesMaster" Target="/ppt/notesMasters/notesMaster1.xml" Id="R95824b64948f4a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8b66cc986341a7" /><Relationship Type="http://schemas.openxmlformats.org/officeDocument/2006/relationships/notesMaster" Target="/ppt/notesMasters/notesMaster1.xml" Id="R706d813da89b49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18bb99a28d4221" /><Relationship Type="http://schemas.openxmlformats.org/officeDocument/2006/relationships/notesMaster" Target="/ppt/notesMasters/notesMaster1.xml" Id="R91ec26c0825349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3380ad37d546e8" /><Relationship Type="http://schemas.openxmlformats.org/officeDocument/2006/relationships/notesMaster" Target="/ppt/notesMasters/notesMaster1.xml" Id="R37f1216bbd3945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da50fac783407d" /><Relationship Type="http://schemas.openxmlformats.org/officeDocument/2006/relationships/notesMaster" Target="/ppt/notesMasters/notesMaster1.xml" Id="R27be0db31b4841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3d89ad9af540e9" /><Relationship Type="http://schemas.openxmlformats.org/officeDocument/2006/relationships/notesMaster" Target="/ppt/notesMasters/notesMaster1.xml" Id="R18bd1022c95040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9fe939ff654712" /><Relationship Type="http://schemas.openxmlformats.org/officeDocument/2006/relationships/notesMaster" Target="/ppt/notesMasters/notesMaster1.xml" Id="Ra6ad195c7fe74a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68e6844be94d8d" /><Relationship Type="http://schemas.openxmlformats.org/officeDocument/2006/relationships/notesMaster" Target="/ppt/notesMasters/notesMaster1.xml" Id="R36bb0d821ac54a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d27a78e6cb4f98" /><Relationship Type="http://schemas.openxmlformats.org/officeDocument/2006/relationships/notesMaster" Target="/ppt/notesMasters/notesMaster1.xml" Id="R8da8e6dea61147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4874dde0384c3e" /><Relationship Type="http://schemas.openxmlformats.org/officeDocument/2006/relationships/notesMaster" Target="/ppt/notesMasters/notesMaster1.xml" Id="Rb23f8b20d2334a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2fcc655a39458f" /><Relationship Type="http://schemas.openxmlformats.org/officeDocument/2006/relationships/notesMaster" Target="/ppt/notesMasters/notesMaster1.xml" Id="Ra5011798111b47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dbd8f031294c5e" /><Relationship Type="http://schemas.openxmlformats.org/officeDocument/2006/relationships/notesMaster" Target="/ppt/notesMasters/notesMaster1.xml" Id="R23e1ce4c00e849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2a94c2cfb1439d" /><Relationship Type="http://schemas.openxmlformats.org/officeDocument/2006/relationships/notesMaster" Target="/ppt/notesMasters/notesMaster1.xml" Id="R5d703089e36942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64986083e7447b8" /><Relationship Type="http://schemas.openxmlformats.org/officeDocument/2006/relationships/notesMaster" Target="/ppt/notesMasters/notesMaster1.xml" Id="Rf873201926a544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3bca7ce09b4590" /><Relationship Type="http://schemas.openxmlformats.org/officeDocument/2006/relationships/notesMaster" Target="/ppt/notesMasters/notesMaster1.xml" Id="R4345c886ed2c4e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8f84b676e94874" /><Relationship Type="http://schemas.openxmlformats.org/officeDocument/2006/relationships/notesMaster" Target="/ppt/notesMasters/notesMaster1.xml" Id="R32bc3c7a4775467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a3b7aab68294d41" /><Relationship Type="http://schemas.openxmlformats.org/officeDocument/2006/relationships/notesMaster" Target="/ppt/notesMasters/notesMaster1.xml" Id="Rb22cac860d0745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1a670b5631e4656" /><Relationship Type="http://schemas.openxmlformats.org/officeDocument/2006/relationships/notesMaster" Target="/ppt/notesMasters/notesMaster1.xml" Id="R347b6f1561284e5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0ff03284c8b4c0f" /><Relationship Type="http://schemas.openxmlformats.org/officeDocument/2006/relationships/notesMaster" Target="/ppt/notesMasters/notesMaster1.xml" Id="Rede8be9a8c054a7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efeaa19ae8546b3" /><Relationship Type="http://schemas.openxmlformats.org/officeDocument/2006/relationships/notesMaster" Target="/ppt/notesMasters/notesMaster1.xml" Id="Reb396419e64640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42ce714e8a44915" /><Relationship Type="http://schemas.openxmlformats.org/officeDocument/2006/relationships/notesMaster" Target="/ppt/notesMasters/notesMaster1.xml" Id="Rf3e433a64f5f4dd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80a16d94bc44a92" /><Relationship Type="http://schemas.openxmlformats.org/officeDocument/2006/relationships/notesMaster" Target="/ppt/notesMasters/notesMaster1.xml" Id="R16ce1a0efa7e451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be9c2b245b2402c" /><Relationship Type="http://schemas.openxmlformats.org/officeDocument/2006/relationships/notesMaster" Target="/ppt/notesMasters/notesMaster1.xml" Id="Raab20a7d206b449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220f154181d41b2" /><Relationship Type="http://schemas.openxmlformats.org/officeDocument/2006/relationships/notesMaster" Target="/ppt/notesMasters/notesMaster1.xml" Id="R3038310d3e5a4b5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ddb8d6a8b424884" /><Relationship Type="http://schemas.openxmlformats.org/officeDocument/2006/relationships/notesMaster" Target="/ppt/notesMasters/notesMaster1.xml" Id="Rdb5e73c97425484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a0a8497890a4820" /><Relationship Type="http://schemas.openxmlformats.org/officeDocument/2006/relationships/notesMaster" Target="/ppt/notesMasters/notesMaster1.xml" Id="R6f77b92babcd410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6df5487c4664add" /><Relationship Type="http://schemas.openxmlformats.org/officeDocument/2006/relationships/notesMaster" Target="/ppt/notesMasters/notesMaster1.xml" Id="R96e87c439770425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839cb9c98914b5e" /><Relationship Type="http://schemas.openxmlformats.org/officeDocument/2006/relationships/notesMaster" Target="/ppt/notesMasters/notesMaster1.xml" Id="Rccbe49499cad4a3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a3f25ea19894487" /><Relationship Type="http://schemas.openxmlformats.org/officeDocument/2006/relationships/notesMaster" Target="/ppt/notesMasters/notesMaster1.xml" Id="R23e701144a064b1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2da404e96714921" /><Relationship Type="http://schemas.openxmlformats.org/officeDocument/2006/relationships/notesMaster" Target="/ppt/notesMasters/notesMaster1.xml" Id="R3f6f738c39d7421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d825e7856624720" /><Relationship Type="http://schemas.openxmlformats.org/officeDocument/2006/relationships/notesMaster" Target="/ppt/notesMasters/notesMaster1.xml" Id="Rcb927bcdaa934a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08c14043a546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17164d445a433b" /><Relationship Type="http://schemas.openxmlformats.org/officeDocument/2006/relationships/slideLayout" Target="/ppt/slideLayouts/slideLayout1.xml" Id="R7c5918ce250941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5918ce250941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606a59d6e4000" /><Relationship Type="http://schemas.openxmlformats.org/officeDocument/2006/relationships/notesSlide" Target="/ppt/notesSlides/notesSlide1.xml" Id="R67a06fab2df149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2991e47f84677" /><Relationship Type="http://schemas.openxmlformats.org/officeDocument/2006/relationships/notesSlide" Target="/ppt/notesSlides/notesSlide2.xml" Id="R7f5be34662fc4c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5349d0fb048de" /><Relationship Type="http://schemas.openxmlformats.org/officeDocument/2006/relationships/notesSlide" Target="/ppt/notesSlides/notesSlide3.xml" Id="R765a43560a2944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663c968e3460e" /><Relationship Type="http://schemas.openxmlformats.org/officeDocument/2006/relationships/notesSlide" Target="/ppt/notesSlides/notesSlide4.xml" Id="R5d4ce5dd4a3f4c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d6253b0e44e09" /><Relationship Type="http://schemas.openxmlformats.org/officeDocument/2006/relationships/notesSlide" Target="/ppt/notesSlides/notesSlide5.xml" Id="R1ea1ffe203c548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9a0f5ec3c49ce" /><Relationship Type="http://schemas.openxmlformats.org/officeDocument/2006/relationships/notesSlide" Target="/ppt/notesSlides/notesSlide6.xml" Id="R8d660d57d51046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99ed26407470a" /><Relationship Type="http://schemas.openxmlformats.org/officeDocument/2006/relationships/notesSlide" Target="/ppt/notesSlides/notesSlide7.xml" Id="R129b81428cde40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9aead435f4793" /><Relationship Type="http://schemas.openxmlformats.org/officeDocument/2006/relationships/notesSlide" Target="/ppt/notesSlides/notesSlide8.xml" Id="R0a8dce51f84847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a5b6757e34c79" /><Relationship Type="http://schemas.openxmlformats.org/officeDocument/2006/relationships/notesSlide" Target="/ppt/notesSlides/notesSlide9.xml" Id="R84e6af02a3ef42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6f0cee79f4b4e" /><Relationship Type="http://schemas.openxmlformats.org/officeDocument/2006/relationships/notesSlide" Target="/ppt/notesSlides/notesSlide10.xml" Id="R27d17f7403f346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1a80065cc4068" /><Relationship Type="http://schemas.openxmlformats.org/officeDocument/2006/relationships/notesSlide" Target="/ppt/notesSlides/notesSlide11.xml" Id="R208cc0092e9344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4f85a33564127" /><Relationship Type="http://schemas.openxmlformats.org/officeDocument/2006/relationships/notesSlide" Target="/ppt/notesSlides/notesSlide12.xml" Id="R2ad3f10791944f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382a5e7984c2b" /><Relationship Type="http://schemas.openxmlformats.org/officeDocument/2006/relationships/notesSlide" Target="/ppt/notesSlides/notesSlide13.xml" Id="Reff39ade68814a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cc2c1f1dd4eff" /><Relationship Type="http://schemas.openxmlformats.org/officeDocument/2006/relationships/notesSlide" Target="/ppt/notesSlides/notesSlide14.xml" Id="Re239b4ea432f47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9f87b516e4256" /><Relationship Type="http://schemas.openxmlformats.org/officeDocument/2006/relationships/notesSlide" Target="/ppt/notesSlides/notesSlide15.xml" Id="R9174ba1f68c342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0a6796ead4e84" /><Relationship Type="http://schemas.openxmlformats.org/officeDocument/2006/relationships/notesSlide" Target="/ppt/notesSlides/notesSlide16.xml" Id="Rc4c2f2f6ecd449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9c9a360f94b0e" /><Relationship Type="http://schemas.openxmlformats.org/officeDocument/2006/relationships/notesSlide" Target="/ppt/notesSlides/notesSlide17.xml" Id="R81c3abc6093944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66ddc0f8d4341" /><Relationship Type="http://schemas.openxmlformats.org/officeDocument/2006/relationships/notesSlide" Target="/ppt/notesSlides/notesSlide18.xml" Id="R47e7fd2b0d5146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c7fb5dad04779" /><Relationship Type="http://schemas.openxmlformats.org/officeDocument/2006/relationships/notesSlide" Target="/ppt/notesSlides/notesSlide19.xml" Id="Re45be60b5712445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d0ec280ea4b25" /><Relationship Type="http://schemas.openxmlformats.org/officeDocument/2006/relationships/notesSlide" Target="/ppt/notesSlides/notesSlide20.xml" Id="Rd67e61c7aa594c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a11c6166f4db1" /><Relationship Type="http://schemas.openxmlformats.org/officeDocument/2006/relationships/notesSlide" Target="/ppt/notesSlides/notesSlide21.xml" Id="R6ef9012138094f9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feded451f4096" /><Relationship Type="http://schemas.openxmlformats.org/officeDocument/2006/relationships/notesSlide" Target="/ppt/notesSlides/notesSlide22.xml" Id="Ra5a76833119d4c5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7e34881df499e" /><Relationship Type="http://schemas.openxmlformats.org/officeDocument/2006/relationships/notesSlide" Target="/ppt/notesSlides/notesSlide23.xml" Id="R1ddc2af7d5ba43e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09fdaa9984b47" /><Relationship Type="http://schemas.openxmlformats.org/officeDocument/2006/relationships/notesSlide" Target="/ppt/notesSlides/notesSlide24.xml" Id="R674c5560dddc404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c858c01d043b5" /><Relationship Type="http://schemas.openxmlformats.org/officeDocument/2006/relationships/notesSlide" Target="/ppt/notesSlides/notesSlide25.xml" Id="Rec9a649dd4294b6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3088276544a07" /><Relationship Type="http://schemas.openxmlformats.org/officeDocument/2006/relationships/notesSlide" Target="/ppt/notesSlides/notesSlide26.xml" Id="R907f0f8ce17f430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df2bc89214b5a" /><Relationship Type="http://schemas.openxmlformats.org/officeDocument/2006/relationships/notesSlide" Target="/ppt/notesSlides/notesSlide27.xml" Id="R46ece657f4f841e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9d4d6654e44b1" /><Relationship Type="http://schemas.openxmlformats.org/officeDocument/2006/relationships/notesSlide" Target="/ppt/notesSlides/notesSlide28.xml" Id="R91e9fa036d45471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6436947824449" /><Relationship Type="http://schemas.openxmlformats.org/officeDocument/2006/relationships/notesSlide" Target="/ppt/notesSlides/notesSlide29.xml" Id="R5e50b1b90d964ce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fc11a4afa4a2d" /><Relationship Type="http://schemas.openxmlformats.org/officeDocument/2006/relationships/notesSlide" Target="/ppt/notesSlides/notesSlide30.xml" Id="R9ec0e76800e749f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603168f5a4c0e" /><Relationship Type="http://schemas.openxmlformats.org/officeDocument/2006/relationships/notesSlide" Target="/ppt/notesSlides/notesSlide31.xml" Id="R357b24f94184490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72fd07b3545bb" /><Relationship Type="http://schemas.openxmlformats.org/officeDocument/2006/relationships/notesSlide" Target="/ppt/notesSlides/notesSlide32.xml" Id="R20ac331cbdcd406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6b0bc38024357" /><Relationship Type="http://schemas.openxmlformats.org/officeDocument/2006/relationships/notesSlide" Target="/ppt/notesSlides/notesSlide33.xml" Id="Rd6bf4759cf9047b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15da19e5841ee" /><Relationship Type="http://schemas.openxmlformats.org/officeDocument/2006/relationships/notesSlide" Target="/ppt/notesSlides/notesSlide34.xml" Id="Rdf403fc7e373429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bbd2d87974237" /><Relationship Type="http://schemas.openxmlformats.org/officeDocument/2006/relationships/notesSlide" Target="/ppt/notesSlides/notesSlide35.xml" Id="R1f1cf235905f46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367B03A-B89E-420E-B143-DC495D2F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5811A1C-AFFC-4DC9-A178-B5A74A3B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064B146-9B90-42B6-BCFE-8A9FC236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/ COMPREHENSIVE EDITION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60E7F14-C196-4D8F-AFF4-98E28B9F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規制産業のAIを、私有・実行可能・監査可能にする。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1AB0D9-52C6-4A35-AC3F-24E610C7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936C569-F613-4C6A-87E7-C27FBBE9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Introduction and §0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AC81AF5-D6B3-4870-BAFC-C159779D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78BA3-F09A-4070-AFEF-589BF0F1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Private Operational AI Infrastructure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BA6FB-4F0C-4CC7-A4F5-805BE83B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業務アプリから入り、運用データとワークロード特性を蓄積し、</a:t>
            </a:r>
          </a:p>
          <a:p xmlns:a="http://schemas.openxmlformats.org/drawingml/2006/main">
            <a:pPr algn="l">
              <a:defRPr sz="127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最後に主権モデルと専用HWへ到達する垂直統合戦略。</a:t>
            </a:r>
          </a:p>
        </p:txBody>
      </p:sp>
      <p:sp>
        <p:nvSpPr>
          <p:cNvPr id="10" name="tag-COMPREHENSIVE STRATEGY DECK">
            <a:extLst xmlns:a="http://schemas.openxmlformats.org/drawingml/2006/main">
              <a:ext uri="{FF2B5EF4-FFF2-40B4-BE49-F238E27FC236}">
                <a16:creationId xmlns:a16="http://schemas.microsoft.com/office/drawing/2014/main" id="{1D674166-51B2-442E-A8D2-FE9F76E4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7BDDB-AC16-46F8-92A3-D5A2ED2C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2324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COMPREHENSIVE STRATEGY DECK</a:t>
            </a:r>
          </a:p>
        </p:txBody>
      </p:sp>
      <p:sp>
        <p:nvSpPr>
          <p:cNvPr id="12" name="cover-rail">
            <a:extLst xmlns:a="http://schemas.openxmlformats.org/drawingml/2006/main">
              <a:ext uri="{FF2B5EF4-FFF2-40B4-BE49-F238E27FC236}">
                <a16:creationId xmlns:a16="http://schemas.microsoft.com/office/drawing/2014/main" id="{3052F55D-D3B1-438A-AE41-A16EB4E8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04875"/>
            <a:ext cx="35242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AC604-41D0-49D9-8C1E-491C70A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382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C87E4-6ED6-46FC-802F-6E28734D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2192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業務需要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D1F11-AF28-4A61-9AF6-8CCB5FB8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6687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626DC-C787-42A6-87F8-C508527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574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D01DB-1051-4DB6-8B2E-72F2CBAF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383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標準スタック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2272A-DF9B-4089-9A8C-99CE7B14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860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B33E8-686D-4BEB-9ACE-56F3FF75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076EA-25E0-48C9-8856-E31D1EFD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Private Compute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504C6-42D3-4728-8B75-9D1FE1ED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0517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33847-3D2C-4C18-820C-390A1F47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957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5BBFD-E1A9-4B58-98D3-56578695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766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主権モデル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B53CCB-2FA8-42DD-92AA-2028C221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243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7BE519-FEDC-4C16-90C2-4D8BB218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099690-56FE-406C-B812-552AD292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958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専用 HW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50C3D1-5903-490F-9F3E-111A10F1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81625"/>
            <a:ext cx="285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順番そのものが、戦略である。</a:t>
            </a:r>
          </a:p>
        </p:txBody>
      </p:sp>
    </p:spTree>
    <p:extLst>
      <p:ext uri="{BB962C8B-B14F-4D97-AF65-F5344CB8AC3E}">
        <p14:creationId xmlns:p14="http://schemas.microsoft.com/office/powerpoint/2010/main" val="21464613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3843434-66F7-43AF-AC04-9243F621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A7D87D-94D7-48DC-8D10-C27625FD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27F2FA-680B-4B58-BDD0-F05EA27B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EXECUTIVE SUMMARY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4BE89FD-4813-419E-8016-80C57A22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短期は「モデル以外の全部」、長期は全層の主権を握る。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5BBC426-62DC-4E75-9FE4-85CB253A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F22C6D7-0E9E-47F6-A9C5-985CF9AD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Introduction, §0, §2, §13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5311BA5-6E37-471A-B111-5CAAD108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8" name="definition">
            <a:extLst xmlns:a="http://schemas.openxmlformats.org/drawingml/2006/main">
              <a:ext uri="{FF2B5EF4-FFF2-40B4-BE49-F238E27FC236}">
                <a16:creationId xmlns:a16="http://schemas.microsoft.com/office/drawing/2014/main" id="{0816F8A2-EDB3-44D4-85FF-79F9CC02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4767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E8C85-476F-4C91-9C26-F17CEDE3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ONE-LINE 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E993E-2939-4C94-8F4D-1608C466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3619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機密データを管理境界内に守りながら、AI業務自動化を本番・監査に耐える形で稼働させる基盤。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A2267-4A2D-45A0-8398-D3E21459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361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Private Operational</a:t>
            </a:r>
          </a:p>
          <a:p xmlns:a="http://schemas.openxmlformats.org/drawingml/2006/main">
            <a:pPr algn="l">
              <a:defRPr sz="20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AI Infrastructure</a:t>
            </a:r>
          </a:p>
        </p:txBody>
      </p:sp>
      <p:sp>
        <p:nvSpPr>
          <p:cNvPr id="12" name="box-Staging Graph">
            <a:extLst xmlns:a="http://schemas.openxmlformats.org/drawingml/2006/main">
              <a:ext uri="{FF2B5EF4-FFF2-40B4-BE49-F238E27FC236}">
                <a16:creationId xmlns:a16="http://schemas.microsoft.com/office/drawing/2014/main" id="{EA1EB133-0F65-484C-AED1-2688842F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581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Staging Graph-accent">
            <a:extLst xmlns:a="http://schemas.openxmlformats.org/drawingml/2006/main">
              <a:ext uri="{FF2B5EF4-FFF2-40B4-BE49-F238E27FC236}">
                <a16:creationId xmlns:a16="http://schemas.microsoft.com/office/drawing/2014/main" id="{E25EBB87-E52B-47F4-9F15-FC0E3AC3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124C9-6126-40BE-88BF-8256DFD9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38325"/>
            <a:ext cx="5505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安全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0FFA5-4949-4B35-AFA6-6461ECB3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47875"/>
            <a:ext cx="5505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Staging 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10BF6-F7FC-4A4F-9477-D661141E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14575"/>
            <a:ext cx="550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AIの推測と事実を分離</a:t>
            </a:r>
          </a:p>
        </p:txBody>
      </p:sp>
      <p:sp>
        <p:nvSpPr>
          <p:cNvPr id="17" name="box-Autonomy Tier">
            <a:extLst xmlns:a="http://schemas.openxmlformats.org/drawingml/2006/main">
              <a:ext uri="{FF2B5EF4-FFF2-40B4-BE49-F238E27FC236}">
                <a16:creationId xmlns:a16="http://schemas.microsoft.com/office/drawing/2014/main" id="{1538003E-5263-4721-AAA3-C3D8AC0B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33700"/>
            <a:ext cx="581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Autonomy Tier-accent">
            <a:extLst xmlns:a="http://schemas.openxmlformats.org/drawingml/2006/main">
              <a:ext uri="{FF2B5EF4-FFF2-40B4-BE49-F238E27FC236}">
                <a16:creationId xmlns:a16="http://schemas.microsoft.com/office/drawing/2014/main" id="{D169DF08-0552-491D-98E6-1904B98E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33700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426AF-0032-44F3-91C0-8078B397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57525"/>
            <a:ext cx="5505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統制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E651E-240E-4CEC-A5DE-5323FC04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67075"/>
            <a:ext cx="5505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Autonomy Tier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AE836-3827-42AA-8635-2AA76D2D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33775"/>
            <a:ext cx="550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自動化範囲を段階管理</a:t>
            </a:r>
          </a:p>
        </p:txBody>
      </p:sp>
      <p:sp>
        <p:nvSpPr>
          <p:cNvPr id="22" name="box-Domain Pack">
            <a:extLst xmlns:a="http://schemas.openxmlformats.org/drawingml/2006/main">
              <a:ext uri="{FF2B5EF4-FFF2-40B4-BE49-F238E27FC236}">
                <a16:creationId xmlns:a16="http://schemas.microsoft.com/office/drawing/2014/main" id="{604F6707-04F2-4CBF-9D41-05A20EEE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52900"/>
            <a:ext cx="581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Domain Pack-accent">
            <a:extLst xmlns:a="http://schemas.openxmlformats.org/drawingml/2006/main">
              <a:ext uri="{FF2B5EF4-FFF2-40B4-BE49-F238E27FC236}">
                <a16:creationId xmlns:a16="http://schemas.microsoft.com/office/drawing/2014/main" id="{6BB21640-84A1-4089-817D-A9B03ABD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52900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7B73E2-F8DB-4000-AA26-CC625E8C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76725"/>
            <a:ext cx="5505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反復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13263-6091-449C-8DD3-2DAE4AF4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86275"/>
            <a:ext cx="5505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Domain Pack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BDB396-C8F5-4982-9C97-05C0F3B5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52975"/>
            <a:ext cx="550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新領域を規約化して展開</a:t>
            </a:r>
          </a:p>
        </p:txBody>
      </p:sp>
      <p:sp>
        <p:nvSpPr>
          <p:cNvPr id="27" name="tag-DESTINATION">
            <a:extLst xmlns:a="http://schemas.openxmlformats.org/drawingml/2006/main">
              <a:ext uri="{FF2B5EF4-FFF2-40B4-BE49-F238E27FC236}">
                <a16:creationId xmlns:a16="http://schemas.microsoft.com/office/drawing/2014/main" id="{E4F7B86A-1850-4FAA-91E9-F9DED329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29250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A2D8EC-99AB-4811-829E-A75E3934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38775"/>
            <a:ext cx="990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DESTINATION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2A51E2-63A8-4420-8220-AAACA9CB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29250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アプリ → スタック → 計算インフラ → 主権モデル・専用HW</a:t>
            </a:r>
          </a:p>
        </p:txBody>
      </p:sp>
    </p:spTree>
    <p:extLst>
      <p:ext uri="{BB962C8B-B14F-4D97-AF65-F5344CB8AC3E}">
        <p14:creationId xmlns:p14="http://schemas.microsoft.com/office/powerpoint/2010/main" val="18369793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C0676DF-7BB8-4564-8C67-2B53B5D7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9363153-9A9D-49CA-AA88-ED231934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019BE48-BEA7-495A-9B70-EE0D2358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STRATEGIC ORDER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168C014-7DE4-46B0-9DE5-B571F197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正しいモデルとチップは、実装データなしには設計できない。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3B4C3B2-F3F7-439D-82D3-D39419CD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B80F7F0-F9B5-46CD-8378-9AABD044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Introduction and §13.1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1821E30-F854-42BC-96AF-F81CD9A4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8" name="box-アプリ">
            <a:extLst xmlns:a="http://schemas.openxmlformats.org/drawingml/2006/main">
              <a:ext uri="{FF2B5EF4-FFF2-40B4-BE49-F238E27FC236}">
                <a16:creationId xmlns:a16="http://schemas.microsoft.com/office/drawing/2014/main" id="{51F1D511-DB82-4D2C-B668-1D69FB25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9" name="アプリ-accent">
            <a:extLst xmlns:a="http://schemas.openxmlformats.org/drawingml/2006/main">
              <a:ext uri="{FF2B5EF4-FFF2-40B4-BE49-F238E27FC236}">
                <a16:creationId xmlns:a16="http://schemas.microsoft.com/office/drawing/2014/main" id="{5BF3365E-66B1-4CFC-A212-A07B6E8F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E69AB-12FF-41DB-BA37-321739A5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2076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0B8B1-F8D9-42F9-B1ED-B72BDCB9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業務需要とOutcomeを生む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F6A23-181F-4084-ADB5-57392902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95563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3" name="box-ソフトウェア">
            <a:extLst xmlns:a="http://schemas.openxmlformats.org/drawingml/2006/main">
              <a:ext uri="{FF2B5EF4-FFF2-40B4-BE49-F238E27FC236}">
                <a16:creationId xmlns:a16="http://schemas.microsoft.com/office/drawing/2014/main" id="{54908D59-08E2-4A33-8CFA-4641B16D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4" name="ソフトウェア-accent">
            <a:extLst xmlns:a="http://schemas.openxmlformats.org/drawingml/2006/main">
              <a:ext uri="{FF2B5EF4-FFF2-40B4-BE49-F238E27FC236}">
                <a16:creationId xmlns:a16="http://schemas.microsoft.com/office/drawing/2014/main" id="{A87ABA2C-08C3-41F3-A4B6-9244F962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E9CF7-C9C6-4011-BF51-D256342F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14575"/>
            <a:ext cx="2076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ソフトウェア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A46BD-7C7E-40AB-B39B-E4D63E15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推論・学習・評価を標準化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E9EDC-480B-4028-8EA8-DD1A8A0E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95563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8" name="box-計算インフラ">
            <a:extLst xmlns:a="http://schemas.openxmlformats.org/drawingml/2006/main">
              <a:ext uri="{FF2B5EF4-FFF2-40B4-BE49-F238E27FC236}">
                <a16:creationId xmlns:a16="http://schemas.microsoft.com/office/drawing/2014/main" id="{A9C4D56B-A1FA-405D-AC7A-80C3F1E5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19" name="計算インフラ-accent">
            <a:extLst xmlns:a="http://schemas.openxmlformats.org/drawingml/2006/main">
              <a:ext uri="{FF2B5EF4-FFF2-40B4-BE49-F238E27FC236}">
                <a16:creationId xmlns:a16="http://schemas.microsoft.com/office/drawing/2014/main" id="{E7B3C61C-F0DD-49D1-AF4A-D2C3AD29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B7D56-C1F6-4589-9A53-35828E01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14575"/>
            <a:ext cx="2076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計算インフラ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5CD14-5B46-4C7F-BB7A-48A5BFCC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ワークロード特性を蓄積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2ED0A-2EF7-4A39-83CD-393B46E2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95563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3" name="box-主権モデル・HW">
            <a:extLst xmlns:a="http://schemas.openxmlformats.org/drawingml/2006/main">
              <a:ext uri="{FF2B5EF4-FFF2-40B4-BE49-F238E27FC236}">
                <a16:creationId xmlns:a16="http://schemas.microsoft.com/office/drawing/2014/main" id="{DC61F312-8A34-4D47-91C3-B56E6A06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4" name="主権モデル・HW-accent">
            <a:extLst xmlns:a="http://schemas.openxmlformats.org/drawingml/2006/main">
              <a:ext uri="{FF2B5EF4-FFF2-40B4-BE49-F238E27FC236}">
                <a16:creationId xmlns:a16="http://schemas.microsoft.com/office/drawing/2014/main" id="{A65CA488-F463-409F-995F-261A2064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89C369-33A8-4C77-B29E-74C623EA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14575"/>
            <a:ext cx="2076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主権モデル・HW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332730-AC95-47E4-B0ED-752B16F6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146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データと要件を武器に立上げ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EE8CE3-ECD5-4117-8F8D-856EFC2B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需要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2D108A-3171-4310-87CF-69D0E40B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671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標準化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28A2F8-7B38-43AD-BF2F-65A17DB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671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実測要件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199377-3DB8-47F9-8382-D07778B2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671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垂直統合</a:t>
            </a:r>
          </a:p>
        </p:txBody>
      </p:sp>
      <p:sp>
        <p:nvSpPr>
          <p:cNvPr id="31" name="order-logic">
            <a:extLst xmlns:a="http://schemas.openxmlformats.org/drawingml/2006/main">
              <a:ext uri="{FF2B5EF4-FFF2-40B4-BE49-F238E27FC236}">
                <a16:creationId xmlns:a16="http://schemas.microsoft.com/office/drawing/2014/main" id="{49E6CB42-AF2A-4645-8E2C-40E802AF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883957-7D4A-4D9A-8AB5-14498F7B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91050"/>
            <a:ext cx="2571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モデルやチップから始める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4A8744-F626-4026-AABD-73CE940B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2952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需要も学習データも設計要件もない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88136B-CF32-40A7-84E2-6404EDC3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910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アプリから始める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46A2AE-5B0B-466B-8E5B-372944A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53000"/>
            <a:ext cx="2952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Outcomeとワークロードが蓄積する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3627A7-4367-4B4C-BBB9-7BC73568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9105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Phase 3 を正当化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758681-562C-48F8-A8DE-C0C2A49F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53000"/>
            <a:ext cx="2571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主権モデル・ASICの要件が決まる</a:t>
            </a:r>
          </a:p>
        </p:txBody>
      </p:sp>
    </p:spTree>
    <p:extLst>
      <p:ext uri="{BB962C8B-B14F-4D97-AF65-F5344CB8AC3E}">
        <p14:creationId xmlns:p14="http://schemas.microsoft.com/office/powerpoint/2010/main" val="1127493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253A872-583E-49B0-B70D-3E254D5F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14E8414-99C3-4033-9151-3BF14034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30267BC-D0A3-478F-8585-E0DC5906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PRODUCTION GAP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BF9DA72-560F-4692-B11D-FCC7C8F0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PoCを止めるのは、モデル能力ではなく運用基盤の欠如である。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ACB8663-B5FB-4652-B386-18DBBD8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EB3FA68-0DA5-4D21-B8A2-3854AA97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§1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CC659BA-51A2-491B-838F-22187748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8" name="box-データを外に出せない">
            <a:extLst xmlns:a="http://schemas.openxmlformats.org/drawingml/2006/main">
              <a:ext uri="{FF2B5EF4-FFF2-40B4-BE49-F238E27FC236}">
                <a16:creationId xmlns:a16="http://schemas.microsoft.com/office/drawing/2014/main" id="{DBFA93D8-A4DF-422B-966F-D04A50C9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095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データを外に出せない-accent">
            <a:extLst xmlns:a="http://schemas.openxmlformats.org/drawingml/2006/main">
              <a:ext uri="{FF2B5EF4-FFF2-40B4-BE49-F238E27FC236}">
                <a16:creationId xmlns:a16="http://schemas.microsoft.com/office/drawing/2014/main" id="{A3190987-26C5-4448-9F30-BC0876A2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82AFF-42D9-4EDF-8B5D-0CF6C0A1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データを外に出せない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2DC40-2931-4166-8E63-FF44A2E9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Private AI Factory</a:t>
            </a:r>
          </a:p>
        </p:txBody>
      </p:sp>
      <p:sp>
        <p:nvSpPr>
          <p:cNvPr id="12" name="box-根拠が追えない">
            <a:extLst xmlns:a="http://schemas.openxmlformats.org/drawingml/2006/main">
              <a:ext uri="{FF2B5EF4-FFF2-40B4-BE49-F238E27FC236}">
                <a16:creationId xmlns:a16="http://schemas.microsoft.com/office/drawing/2014/main" id="{AB49E3D2-911D-4230-BCF8-C2A004D5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66875"/>
            <a:ext cx="5095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根拠が追えない-accent">
            <a:extLst xmlns:a="http://schemas.openxmlformats.org/drawingml/2006/main">
              <a:ext uri="{FF2B5EF4-FFF2-40B4-BE49-F238E27FC236}">
                <a16:creationId xmlns:a16="http://schemas.microsoft.com/office/drawing/2014/main" id="{C1347D5E-16FB-4107-A9CB-5430925F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66875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F698E-7D83-4EB1-BF50-C22479AC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38325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根拠が追えない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79C1C-B8BC-42E7-A6C6-994DC828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95500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source span / evidence graph</a:t>
            </a:r>
          </a:p>
        </p:txBody>
      </p:sp>
      <p:sp>
        <p:nvSpPr>
          <p:cNvPr id="16" name="box-推測が危ない">
            <a:extLst xmlns:a="http://schemas.openxmlformats.org/drawingml/2006/main">
              <a:ext uri="{FF2B5EF4-FFF2-40B4-BE49-F238E27FC236}">
                <a16:creationId xmlns:a16="http://schemas.microsoft.com/office/drawing/2014/main" id="{95A394BF-A769-486F-9136-83C6C7A9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095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推測が危ない-accent">
            <a:extLst xmlns:a="http://schemas.openxmlformats.org/drawingml/2006/main">
              <a:ext uri="{FF2B5EF4-FFF2-40B4-BE49-F238E27FC236}">
                <a16:creationId xmlns:a16="http://schemas.microsoft.com/office/drawing/2014/main" id="{400D485D-3896-417B-BBA3-18611716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3CA77-0E9C-4519-BDCA-2143AF9B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推測が危ない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60573-F07A-43F4-B96F-2935DB8B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Staging Graph</a:t>
            </a:r>
          </a:p>
        </p:txBody>
      </p:sp>
      <p:sp>
        <p:nvSpPr>
          <p:cNvPr id="20" name="box-外部writeが危ない">
            <a:extLst xmlns:a="http://schemas.openxmlformats.org/drawingml/2006/main">
              <a:ext uri="{FF2B5EF4-FFF2-40B4-BE49-F238E27FC236}">
                <a16:creationId xmlns:a16="http://schemas.microsoft.com/office/drawing/2014/main" id="{83ED8E88-5506-47A0-B6B0-14AE302F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5095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外部writeが危ない-accent">
            <a:extLst xmlns:a="http://schemas.openxmlformats.org/drawingml/2006/main">
              <a:ext uri="{FF2B5EF4-FFF2-40B4-BE49-F238E27FC236}">
                <a16:creationId xmlns:a16="http://schemas.microsoft.com/office/drawing/2014/main" id="{64D37825-3879-4B00-9FBC-4A77817E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0D18B2-CC10-41B4-96C7-02826762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38450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外部writeが危ない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DD050C-3CA3-488D-9918-7D87DEAD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95625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Policy Gate / Workflow</a:t>
            </a:r>
          </a:p>
        </p:txBody>
      </p:sp>
      <p:sp>
        <p:nvSpPr>
          <p:cNvPr id="24" name="box-監査に説明できない">
            <a:extLst xmlns:a="http://schemas.openxmlformats.org/drawingml/2006/main">
              <a:ext uri="{FF2B5EF4-FFF2-40B4-BE49-F238E27FC236}">
                <a16:creationId xmlns:a16="http://schemas.microsoft.com/office/drawing/2014/main" id="{797550EF-D5E9-4FE4-AD16-D8F9B908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095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監査に説明できない-accent">
            <a:extLst xmlns:a="http://schemas.openxmlformats.org/drawingml/2006/main">
              <a:ext uri="{FF2B5EF4-FFF2-40B4-BE49-F238E27FC236}">
                <a16:creationId xmlns:a16="http://schemas.microsoft.com/office/drawing/2014/main" id="{43371C65-CB01-43B0-B803-FAC204A0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DE3523-0EB1-4596-88D6-499F862D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監査に説明できない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B453A9-11AA-41F6-A8EE-69B263A5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event / model / policy logs</a:t>
            </a:r>
          </a:p>
        </p:txBody>
      </p:sp>
      <p:sp>
        <p:nvSpPr>
          <p:cNvPr id="28" name="box-モデル更新が怖い">
            <a:extLst xmlns:a="http://schemas.openxmlformats.org/drawingml/2006/main">
              <a:ext uri="{FF2B5EF4-FFF2-40B4-BE49-F238E27FC236}">
                <a16:creationId xmlns:a16="http://schemas.microsoft.com/office/drawing/2014/main" id="{F1791F4C-F87D-4365-BCE7-85804EB3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67125"/>
            <a:ext cx="5095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モデル更新が怖い-accent">
            <a:extLst xmlns:a="http://schemas.openxmlformats.org/drawingml/2006/main">
              <a:ext uri="{FF2B5EF4-FFF2-40B4-BE49-F238E27FC236}">
                <a16:creationId xmlns:a16="http://schemas.microsoft.com/office/drawing/2014/main" id="{F1EC5914-6621-46DB-9356-2EB6731E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67125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515DCB-6F48-4550-8EBB-38D0B506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838575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モデル更新が怖い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96BB3B-D48A-4E66-80DE-6F81953A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95750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Eval / canary / rollback</a:t>
            </a:r>
          </a:p>
        </p:txBody>
      </p:sp>
      <p:sp>
        <p:nvSpPr>
          <p:cNvPr id="32" name="box-部門ごとに分断">
            <a:extLst xmlns:a="http://schemas.openxmlformats.org/drawingml/2006/main">
              <a:ext uri="{FF2B5EF4-FFF2-40B4-BE49-F238E27FC236}">
                <a16:creationId xmlns:a16="http://schemas.microsoft.com/office/drawing/2014/main" id="{AC4F0562-7AF3-4F21-95F4-A4762E43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5095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部門ごとに分断-accent">
            <a:extLst xmlns:a="http://schemas.openxmlformats.org/drawingml/2006/main">
              <a:ext uri="{FF2B5EF4-FFF2-40B4-BE49-F238E27FC236}">
                <a16:creationId xmlns:a16="http://schemas.microsoft.com/office/drawing/2014/main" id="{B0A9CC0C-5E9F-49D9-9A55-A09A054A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B00AB2-67A9-4308-9476-6AEF3CB2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部門ごとに分断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7D3D9F-FB28-4A41-97EE-EFC05C2E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Operational Ontology / Pack</a:t>
            </a:r>
          </a:p>
        </p:txBody>
      </p:sp>
      <p:sp>
        <p:nvSpPr>
          <p:cNvPr id="36" name="box-SI案件化しすぎる">
            <a:extLst xmlns:a="http://schemas.openxmlformats.org/drawingml/2006/main">
              <a:ext uri="{FF2B5EF4-FFF2-40B4-BE49-F238E27FC236}">
                <a16:creationId xmlns:a16="http://schemas.microsoft.com/office/drawing/2014/main" id="{FF755A8A-D5D8-4305-915B-5E1FE3A7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67250"/>
            <a:ext cx="5095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SI案件化しすぎる-accent">
            <a:extLst xmlns:a="http://schemas.openxmlformats.org/drawingml/2006/main">
              <a:ext uri="{FF2B5EF4-FFF2-40B4-BE49-F238E27FC236}">
                <a16:creationId xmlns:a16="http://schemas.microsoft.com/office/drawing/2014/main" id="{CAD5B8E9-1A78-4262-9731-80DAEE75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672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6F1F99-9564-490E-B4E1-F947E2E5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838700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SI案件化しすぎる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254236-91E2-4C9E-B42F-65ADEBB3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95875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reference stack / runbook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D4CB88-DB22-4E34-BB81-B8E93238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本番化の壁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7C951D-E8E8-42FE-B845-61C1F7BB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102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KairosAIの答え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7455DE-3201-41C5-A0D7-E9DAE688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24550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7621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1F93720-2244-4FA5-B60F-525112DB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7EA5DB7-B2AB-43D4-8F85-59F11F5A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EEDAE15-BD60-4864-BA76-9F7A36D4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PLATFORM MAP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5FB7052-3463-4C9D-9BED-088226D1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KairosAIは、業務イベントとPrivate Computeの間に実行責任を置く。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AFB03F6-BA03-4FB9-A36F-0BF712FC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4CD26B9-6BA2-442F-B9A0-156C5EAC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§2, §5.2, §8.0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B878C1A-0345-442C-B1E5-BC77CA5B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8" name="platform-layer-1">
            <a:extLst xmlns:a="http://schemas.openxmlformats.org/drawingml/2006/main">
              <a:ext uri="{FF2B5EF4-FFF2-40B4-BE49-F238E27FC236}">
                <a16:creationId xmlns:a16="http://schemas.microsoft.com/office/drawing/2014/main" id="{C578423C-B445-4D9C-8268-D7B133A4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9" name="platform-layer-1-accent">
            <a:extLst xmlns:a="http://schemas.openxmlformats.org/drawingml/2006/main">
              <a:ext uri="{FF2B5EF4-FFF2-40B4-BE49-F238E27FC236}">
                <a16:creationId xmlns:a16="http://schemas.microsoft.com/office/drawing/2014/main" id="{5FF0FBBB-DCD3-4608-A8B2-BA9EB70F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ED5CE-5D64-4AB7-8DD4-344001F1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716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BUSINESS OUTCOME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07794-4A59-4B2A-A60E-452447CD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71650"/>
            <a:ext cx="657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承認 / 例外解決 / 点検 / 意思決定</a:t>
            </a:r>
          </a:p>
        </p:txBody>
      </p:sp>
      <p:sp>
        <p:nvSpPr>
          <p:cNvPr id="12" name="platform-layer-2">
            <a:extLst xmlns:a="http://schemas.openxmlformats.org/drawingml/2006/main">
              <a:ext uri="{FF2B5EF4-FFF2-40B4-BE49-F238E27FC236}">
                <a16:creationId xmlns:a16="http://schemas.microsoft.com/office/drawing/2014/main" id="{D6A1DDF1-8B77-4DC4-A6B9-4E0A9D34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05075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3" name="platform-layer-2-accent">
            <a:extLst xmlns:a="http://schemas.openxmlformats.org/drawingml/2006/main">
              <a:ext uri="{FF2B5EF4-FFF2-40B4-BE49-F238E27FC236}">
                <a16:creationId xmlns:a16="http://schemas.microsoft.com/office/drawing/2014/main" id="{DD0914A3-7ABD-4F6B-879D-48FA6375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05075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85627-F295-48AD-AAEF-E2D95239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DOMAIN PACK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ECCA5-6D26-47D5-A142-14AF8F26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9850"/>
            <a:ext cx="6143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Graph schema / Workflow / Tool / Eval / Approval / Tier</a:t>
            </a:r>
          </a:p>
        </p:txBody>
      </p:sp>
      <p:sp>
        <p:nvSpPr>
          <p:cNvPr id="16" name="platform-layer-3">
            <a:extLst xmlns:a="http://schemas.openxmlformats.org/drawingml/2006/main">
              <a:ext uri="{FF2B5EF4-FFF2-40B4-BE49-F238E27FC236}">
                <a16:creationId xmlns:a16="http://schemas.microsoft.com/office/drawing/2014/main" id="{848C6703-37AF-48BC-8F69-52BD16DB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43275"/>
            <a:ext cx="923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7" name="platform-layer-3-accent">
            <a:extLst xmlns:a="http://schemas.openxmlformats.org/drawingml/2006/main">
              <a:ext uri="{FF2B5EF4-FFF2-40B4-BE49-F238E27FC236}">
                <a16:creationId xmlns:a16="http://schemas.microsoft.com/office/drawing/2014/main" id="{5FAA1E6D-00AC-472C-8285-07189662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43275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6E012-C86F-4120-B0A0-A7CC889F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48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OPERATIONAL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00630-DA61-4F92-87F7-276E58DF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48050"/>
            <a:ext cx="5715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Staging Graph / Policy Gate / Agent Orchestration</a:t>
            </a:r>
          </a:p>
        </p:txBody>
      </p:sp>
      <p:sp>
        <p:nvSpPr>
          <p:cNvPr id="20" name="platform-layer-4">
            <a:extLst xmlns:a="http://schemas.openxmlformats.org/drawingml/2006/main">
              <a:ext uri="{FF2B5EF4-FFF2-40B4-BE49-F238E27FC236}">
                <a16:creationId xmlns:a16="http://schemas.microsoft.com/office/drawing/2014/main" id="{0A155942-2B9C-4FA5-89C0-1EDDADC4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1" name="platform-layer-4-accent">
            <a:extLst xmlns:a="http://schemas.openxmlformats.org/drawingml/2006/main">
              <a:ext uri="{FF2B5EF4-FFF2-40B4-BE49-F238E27FC236}">
                <a16:creationId xmlns:a16="http://schemas.microsoft.com/office/drawing/2014/main" id="{D28DB2D6-070A-4EF5-8DF4-58B27E6B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8E1E2F-B662-4582-B2D3-9987108C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EVAL &amp; LEARNING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3F212-7CCC-4C18-A38B-E94DF62A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5286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Golden set / Outcome feedback / Promote / Rollback</a:t>
            </a:r>
          </a:p>
        </p:txBody>
      </p:sp>
      <p:sp>
        <p:nvSpPr>
          <p:cNvPr id="24" name="platform-layer-5">
            <a:extLst xmlns:a="http://schemas.openxmlformats.org/drawingml/2006/main">
              <a:ext uri="{FF2B5EF4-FFF2-40B4-BE49-F238E27FC236}">
                <a16:creationId xmlns:a16="http://schemas.microsoft.com/office/drawing/2014/main" id="{FF35BABD-E564-456C-B389-4A4EF89B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19675"/>
            <a:ext cx="828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5" name="platform-layer-5-accent">
            <a:extLst xmlns:a="http://schemas.openxmlformats.org/drawingml/2006/main">
              <a:ext uri="{FF2B5EF4-FFF2-40B4-BE49-F238E27FC236}">
                <a16:creationId xmlns:a16="http://schemas.microsoft.com/office/drawing/2014/main" id="{E92AFEAF-023E-4F5F-BEFB-5DF2AB96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19675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1ED3DA-D979-4440-9703-39F72EA1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24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PRIVATE AI FACTORY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0EF04F-E395-4288-9D54-2F23CC26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24450"/>
            <a:ext cx="485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Inference Plane / Training Plane / On-Prem / Customer VPC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84A5D2-800A-46DE-8A87-608263BA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055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顧客の管理境界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BF3B3D-72D6-49D0-8368-91095C63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17672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F9E791D-1B79-4568-84DA-C12CAC44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1FAFDC5-EAE4-41F1-B4B4-1FA5EBFB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4280E6-389F-415D-B0EC-4D78F055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CORE IP · STAGING GRAPH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5DEC135-6F9A-48CE-802B-7BCEB092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AIの推測は、検証されるまで事実にならない。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9B3229F-6628-45EB-BABF-40C38235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89BA71B-B4CD-4D9B-A36E-BC62273F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§2.1 and §7.1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3E262DF-C90D-4DD0-8278-D7B71775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8" name="box-AI proposal">
            <a:extLst xmlns:a="http://schemas.openxmlformats.org/drawingml/2006/main">
              <a:ext uri="{FF2B5EF4-FFF2-40B4-BE49-F238E27FC236}">
                <a16:creationId xmlns:a16="http://schemas.microsoft.com/office/drawing/2014/main" id="{CF0C34F3-497B-4E1B-B1F7-E8BE1580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524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AI proposal-accent">
            <a:extLst xmlns:a="http://schemas.openxmlformats.org/drawingml/2006/main">
              <a:ext uri="{FF2B5EF4-FFF2-40B4-BE49-F238E27FC236}">
                <a16:creationId xmlns:a16="http://schemas.microsoft.com/office/drawing/2014/main" id="{5967B50C-02CB-4D94-BE8C-35EA603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00E21-4ED8-4CA2-8036-68DA15F5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2193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PROPOSAL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3EE6E-EC33-472C-961F-F3A90120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2193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AI proposal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B923F-9F52-4C01-876D-249BFF45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219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EXTRACTED / INFERRED / AMBIGUOUS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6E1FF-9B66-4C45-8DEF-36530020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81313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4" name="box-Staging Graph">
            <a:extLst xmlns:a="http://schemas.openxmlformats.org/drawingml/2006/main">
              <a:ext uri="{FF2B5EF4-FFF2-40B4-BE49-F238E27FC236}">
                <a16:creationId xmlns:a16="http://schemas.microsoft.com/office/drawing/2014/main" id="{67BF6F9F-8EBC-4627-98BA-0ED8C5F2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33625"/>
            <a:ext cx="2524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15" name="Staging Graph-accent">
            <a:extLst xmlns:a="http://schemas.openxmlformats.org/drawingml/2006/main">
              <a:ext uri="{FF2B5EF4-FFF2-40B4-BE49-F238E27FC236}">
                <a16:creationId xmlns:a16="http://schemas.microsoft.com/office/drawing/2014/main" id="{A34604F5-78C8-4D2C-8A78-E264EF78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336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0E0E6-0518-4993-B1B1-65F61A32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57450"/>
            <a:ext cx="22193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SAFE ZONE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23117-43A8-4CF5-9230-C9120CFC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67000"/>
            <a:ext cx="22193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Staging Graph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0A487-F9E3-444E-8533-872CEECB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95650"/>
            <a:ext cx="2219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confidence / provenance / conflict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8F2EC5-6A3F-4278-B770-F1C110B4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81313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0" name="box-Validation + Policy">
            <a:extLst xmlns:a="http://schemas.openxmlformats.org/drawingml/2006/main">
              <a:ext uri="{FF2B5EF4-FFF2-40B4-BE49-F238E27FC236}">
                <a16:creationId xmlns:a16="http://schemas.microsoft.com/office/drawing/2014/main" id="{FBA6AFCE-54A7-4EFE-AB93-57BD2270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2524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Validation + Policy-accent">
            <a:extLst xmlns:a="http://schemas.openxmlformats.org/drawingml/2006/main">
              <a:ext uri="{FF2B5EF4-FFF2-40B4-BE49-F238E27FC236}">
                <a16:creationId xmlns:a16="http://schemas.microsoft.com/office/drawing/2014/main" id="{84A04E2E-2F02-46FB-B38F-FD2D7190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F3A5F-8D98-482A-A5A1-BB89F567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22193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BB869E-F328-4AB4-A526-0D018623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2193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Validation +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2CE0A-331E-4C08-AB85-DC6F9E43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2219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自動昇格 or Human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D2F99-7E51-40DE-8CA7-9623071D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81313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6" name="box-Committed Graph">
            <a:extLst xmlns:a="http://schemas.openxmlformats.org/drawingml/2006/main">
              <a:ext uri="{FF2B5EF4-FFF2-40B4-BE49-F238E27FC236}">
                <a16:creationId xmlns:a16="http://schemas.microsoft.com/office/drawing/2014/main" id="{9E3104A0-DDD9-4279-9E1F-7F7558F0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33625"/>
            <a:ext cx="2524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7" name="Committed Graph-accent">
            <a:extLst xmlns:a="http://schemas.openxmlformats.org/drawingml/2006/main">
              <a:ext uri="{FF2B5EF4-FFF2-40B4-BE49-F238E27FC236}">
                <a16:creationId xmlns:a16="http://schemas.microsoft.com/office/drawing/2014/main" id="{52EFFBFA-7798-49DA-8326-608B155B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336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B85895-523C-4258-8324-859974FB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57450"/>
            <a:ext cx="22193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FACT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B97508-FAB1-4C63-A284-F4087941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67000"/>
            <a:ext cx="22193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Committed Graph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9507EB-9138-4F81-93AD-A3D14BF7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295650"/>
            <a:ext cx="2219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時系列付きの確定事実</a:t>
            </a:r>
          </a:p>
        </p:txBody>
      </p:sp>
      <p:sp>
        <p:nvSpPr>
          <p:cNvPr id="31" name="staging-claim">
            <a:extLst xmlns:a="http://schemas.openxmlformats.org/drawingml/2006/main">
              <a:ext uri="{FF2B5EF4-FFF2-40B4-BE49-F238E27FC236}">
                <a16:creationId xmlns:a16="http://schemas.microsoft.com/office/drawing/2014/main" id="{1F5A347A-698D-4A2D-8C5E-D2929D20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E659F-29C9-4EF1-9F43-76C20EFA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構造的安全性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CD2D35-C97E-4C11-A90A-4F19D985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14850"/>
            <a:ext cx="7762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「気をつけて使う」ではなく、AI出力が事実層へ直行できない構造をつくる。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F495F9-F29A-4071-B32C-0D26C717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29200"/>
            <a:ext cx="2047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最大の安全設計 / 中核IP</a:t>
            </a:r>
          </a:p>
        </p:txBody>
      </p:sp>
    </p:spTree>
    <p:extLst>
      <p:ext uri="{BB962C8B-B14F-4D97-AF65-F5344CB8AC3E}">
        <p14:creationId xmlns:p14="http://schemas.microsoft.com/office/powerpoint/2010/main" val="9788693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135B341-A5B5-4AD8-9C80-B47207AE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E14B429-EA32-42D0-B304-6059E490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B4C59F7-86DB-4ADB-A426-1755FD46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AUTONOMY GOVERNANCE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0593074-4B0C-4E13-B252-30129B3F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自動化は一気に解放せず、証拠に基づきL0からL3へ上げる。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AFAF442-2F1D-446F-8A78-57F2D190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9DBECBF-6555-46EB-B308-FB71EE7A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§2.2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69F2CC0-E639-4BD8-A8C3-E3FA59C0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8" name="tier-L0">
            <a:extLst xmlns:a="http://schemas.openxmlformats.org/drawingml/2006/main">
              <a:ext uri="{FF2B5EF4-FFF2-40B4-BE49-F238E27FC236}">
                <a16:creationId xmlns:a16="http://schemas.microsoft.com/office/drawing/2014/main" id="{3FA7EAC7-9F70-4A55-9DEA-120C5109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CCCB1-C841-4609-9977-9ABB72E4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2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L0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88B37-6F70-4023-B7F2-7320AEE1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Advisory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CDD47-CE12-488A-B4FF-1FEFE200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提案のみ / 人間が全判断</a:t>
            </a:r>
          </a:p>
        </p:txBody>
      </p:sp>
      <p:sp>
        <p:nvSpPr>
          <p:cNvPr id="12" name="tier-L1">
            <a:extLst xmlns:a="http://schemas.openxmlformats.org/drawingml/2006/main">
              <a:ext uri="{FF2B5EF4-FFF2-40B4-BE49-F238E27FC236}">
                <a16:creationId xmlns:a16="http://schemas.microsoft.com/office/drawing/2014/main" id="{A1FA6681-9ABD-484F-9ADA-D6EC227B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09875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6F09F-5A65-45A2-812E-EEA83057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71800"/>
            <a:ext cx="52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L1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8F23B-EBAF-4C86-A102-20C9F696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480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Approved Autonomy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434CD-D13F-44F4-9E6B-1AFD22AB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4100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案件単位の承認</a:t>
            </a:r>
          </a:p>
        </p:txBody>
      </p:sp>
      <p:sp>
        <p:nvSpPr>
          <p:cNvPr id="16" name="tier-L2">
            <a:extLst xmlns:a="http://schemas.openxmlformats.org/drawingml/2006/main">
              <a:ext uri="{FF2B5EF4-FFF2-40B4-BE49-F238E27FC236}">
                <a16:creationId xmlns:a16="http://schemas.microsoft.com/office/drawing/2014/main" id="{149030A7-9824-4A87-A8E7-9F2F385F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381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F1F4D-8B06-4C0F-B923-1D384B99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52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L2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18086-4C96-4DDD-AAB4-6CD6F43C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Bounded Autonomy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76BDB-46DA-46B5-98F0-672BBB76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100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ポリシー内で自動実行</a:t>
            </a:r>
          </a:p>
        </p:txBody>
      </p:sp>
      <p:sp>
        <p:nvSpPr>
          <p:cNvPr id="20" name="tier-L3">
            <a:extLst xmlns:a="http://schemas.openxmlformats.org/drawingml/2006/main">
              <a:ext uri="{FF2B5EF4-FFF2-40B4-BE49-F238E27FC236}">
                <a16:creationId xmlns:a16="http://schemas.microsoft.com/office/drawing/2014/main" id="{519249B0-9C76-406A-B0D7-936B8768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66875"/>
            <a:ext cx="2381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EE16E-A88A-4B83-825E-17267CA9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28800"/>
            <a:ext cx="52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L3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57C67-0F57-40D4-8D38-0026B7C3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050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Continuous Autonomy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5E868B-D451-4663-8536-5C5909AB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100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常時自動 / Dashboard監視</a:t>
            </a:r>
          </a:p>
        </p:txBody>
      </p:sp>
      <p:sp>
        <p:nvSpPr>
          <p:cNvPr id="24" name="tier-gate">
            <a:extLst xmlns:a="http://schemas.openxmlformats.org/drawingml/2006/main">
              <a:ext uri="{FF2B5EF4-FFF2-40B4-BE49-F238E27FC236}">
                <a16:creationId xmlns:a16="http://schemas.microsoft.com/office/drawing/2014/main" id="{3914398C-5877-4CB2-B262-33FB575E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525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AFC65C-062F-4AAE-A8B3-4FCD72BC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TIER 引き上げ条件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66C176-0D39-42D7-AEF5-D7DFAFB4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245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ポリシー網羅率 95%+　/　例外率 5%未満　/　Audit違反ゼロ　/　経営review通過</a:t>
            </a:r>
          </a:p>
        </p:txBody>
      </p:sp>
    </p:spTree>
    <p:extLst>
      <p:ext uri="{BB962C8B-B14F-4D97-AF65-F5344CB8AC3E}">
        <p14:creationId xmlns:p14="http://schemas.microsoft.com/office/powerpoint/2010/main" val="7832444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98EE8DA-D96F-4753-9F48-AC943B59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873F1A3-DD7A-4387-B6FE-8A51B4E5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420788-06FA-4659-8736-4539EA23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DOMAIN PACK CONTRACT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8461271-9B28-4187-9A83-E9389249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新しい業務領域は、7要素の契約に落とすことで反復可能になる。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87426BB-2F84-44B0-9347-61B62A96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3F2CA02-B6F1-4B1C-9FC4-5E7A4295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§2.3 and §8.0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CB46622-7F01-45FF-8BCD-7A8C14C7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8" name="pack-core">
            <a:extLst xmlns:a="http://schemas.openxmlformats.org/drawingml/2006/main">
              <a:ext uri="{FF2B5EF4-FFF2-40B4-BE49-F238E27FC236}">
                <a16:creationId xmlns:a16="http://schemas.microsoft.com/office/drawing/2014/main" id="{0CC42C5D-8A19-428F-9F99-8D4F5FE1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36864-2A79-4E94-8649-496D6911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DOMAIN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72598-A77F-4E1E-AC47-F976730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業務固有差分だけを</a:t>
            </a:r>
          </a:p>
          <a:p xmlns:a="http://schemas.openxmlformats.org/drawingml/2006/main">
            <a:pPr algn="ctr">
              <a:defRPr sz="97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交換可能な単位にする</a:t>
            </a:r>
          </a:p>
        </p:txBody>
      </p:sp>
      <p:sp>
        <p:nvSpPr>
          <p:cNvPr id="11" name="box-a. Graph schema delta">
            <a:extLst xmlns:a="http://schemas.openxmlformats.org/drawingml/2006/main">
              <a:ext uri="{FF2B5EF4-FFF2-40B4-BE49-F238E27FC236}">
                <a16:creationId xmlns:a16="http://schemas.microsoft.com/office/drawing/2014/main" id="{B9211D89-4608-4148-9883-107B42D1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3524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a. Graph schema delta-accent">
            <a:extLst xmlns:a="http://schemas.openxmlformats.org/drawingml/2006/main">
              <a:ext uri="{FF2B5EF4-FFF2-40B4-BE49-F238E27FC236}">
                <a16:creationId xmlns:a16="http://schemas.microsoft.com/office/drawing/2014/main" id="{91F4FFD1-901B-4DE5-8757-E7D4FE79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6E2B9-8158-46F5-857A-A467F23E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3219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a. Graph schema delta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312DD-25EC-43D4-B627-1E2ABE3A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5265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固有ノード・エッジ</a:t>
            </a:r>
          </a:p>
        </p:txBody>
      </p:sp>
      <p:sp>
        <p:nvSpPr>
          <p:cNvPr id="15" name="box-b. Workflow template">
            <a:extLst xmlns:a="http://schemas.openxmlformats.org/drawingml/2006/main">
              <a:ext uri="{FF2B5EF4-FFF2-40B4-BE49-F238E27FC236}">
                <a16:creationId xmlns:a16="http://schemas.microsoft.com/office/drawing/2014/main" id="{0DF24B47-85CF-45AD-A5C2-1C641408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14500"/>
            <a:ext cx="3524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b. Workflow template-accent">
            <a:extLst xmlns:a="http://schemas.openxmlformats.org/drawingml/2006/main">
              <a:ext uri="{FF2B5EF4-FFF2-40B4-BE49-F238E27FC236}">
                <a16:creationId xmlns:a16="http://schemas.microsoft.com/office/drawing/2014/main" id="{C2A6E309-1EBB-4B5F-8E1C-BDB93132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145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CF978-862F-473C-A77C-590976F5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885950"/>
            <a:ext cx="3219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b. Workflow template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6ACD7-6794-4727-85EA-BA13A874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5265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決定論的プロセス</a:t>
            </a:r>
          </a:p>
        </p:txBody>
      </p:sp>
      <p:sp>
        <p:nvSpPr>
          <p:cNvPr id="19" name="box-c. Tool registry entry">
            <a:extLst xmlns:a="http://schemas.openxmlformats.org/drawingml/2006/main">
              <a:ext uri="{FF2B5EF4-FFF2-40B4-BE49-F238E27FC236}">
                <a16:creationId xmlns:a16="http://schemas.microsoft.com/office/drawing/2014/main" id="{8A418A1A-D4F1-4A3B-9F0D-46A7E3DB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3524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c. Tool registry entry-accent">
            <a:extLst xmlns:a="http://schemas.openxmlformats.org/drawingml/2006/main">
              <a:ext uri="{FF2B5EF4-FFF2-40B4-BE49-F238E27FC236}">
                <a16:creationId xmlns:a16="http://schemas.microsoft.com/office/drawing/2014/main" id="{A3CFAC7C-C396-4BF9-9022-99909C2A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D886AD-DEDE-451C-8A8E-83CE27CC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86075"/>
            <a:ext cx="3219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c. Tool registry entry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CE1D3-E556-48C3-A193-6EF8E29B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52775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固有API・ツール</a:t>
            </a:r>
          </a:p>
        </p:txBody>
      </p:sp>
      <p:sp>
        <p:nvSpPr>
          <p:cNvPr id="23" name="box-d. Evaluation metric set">
            <a:extLst xmlns:a="http://schemas.openxmlformats.org/drawingml/2006/main">
              <a:ext uri="{FF2B5EF4-FFF2-40B4-BE49-F238E27FC236}">
                <a16:creationId xmlns:a16="http://schemas.microsoft.com/office/drawing/2014/main" id="{BE55BC8B-129C-4C3C-BBD4-1CED8C7E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14625"/>
            <a:ext cx="3524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d. Evaluation metric set-accent">
            <a:extLst xmlns:a="http://schemas.openxmlformats.org/drawingml/2006/main">
              <a:ext uri="{FF2B5EF4-FFF2-40B4-BE49-F238E27FC236}">
                <a16:creationId xmlns:a16="http://schemas.microsoft.com/office/drawing/2014/main" id="{A32089F3-1D53-46F9-8E46-776091E8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14625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994FB2-1DF5-4E8E-8197-8126AAF7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86075"/>
            <a:ext cx="3219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d. Evaluation metric 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41794-C15A-4956-AEFF-6A622CA8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52775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固有KPI・品質指標</a:t>
            </a:r>
          </a:p>
        </p:txBody>
      </p:sp>
      <p:sp>
        <p:nvSpPr>
          <p:cNvPr id="27" name="box-e. Extraction prompt set">
            <a:extLst xmlns:a="http://schemas.openxmlformats.org/drawingml/2006/main">
              <a:ext uri="{FF2B5EF4-FFF2-40B4-BE49-F238E27FC236}">
                <a16:creationId xmlns:a16="http://schemas.microsoft.com/office/drawing/2014/main" id="{34A8FECB-FF70-4C68-B044-F15C32F3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524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e. Extraction prompt set-accent">
            <a:extLst xmlns:a="http://schemas.openxmlformats.org/drawingml/2006/main">
              <a:ext uri="{FF2B5EF4-FFF2-40B4-BE49-F238E27FC236}">
                <a16:creationId xmlns:a16="http://schemas.microsoft.com/office/drawing/2014/main" id="{0A8015D4-1050-410E-AD79-8A6EFB56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0F101-349D-4428-8654-CF36DD80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3219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e. Extraction prompt 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29F7BE-A454-4D83-9628-DEB825DD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2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固有LLM prompt</a:t>
            </a:r>
          </a:p>
        </p:txBody>
      </p:sp>
      <p:sp>
        <p:nvSpPr>
          <p:cNvPr id="31" name="box-f. Approval routing rule">
            <a:extLst xmlns:a="http://schemas.openxmlformats.org/drawingml/2006/main">
              <a:ext uri="{FF2B5EF4-FFF2-40B4-BE49-F238E27FC236}">
                <a16:creationId xmlns:a16="http://schemas.microsoft.com/office/drawing/2014/main" id="{5D083418-0D3F-456C-9309-94B05DC1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14750"/>
            <a:ext cx="3524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f. Approval routing rule-accent">
            <a:extLst xmlns:a="http://schemas.openxmlformats.org/drawingml/2006/main">
              <a:ext uri="{FF2B5EF4-FFF2-40B4-BE49-F238E27FC236}">
                <a16:creationId xmlns:a16="http://schemas.microsoft.com/office/drawing/2014/main" id="{68B0C761-0041-4781-8CC4-E19A6BEE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147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40A79B-A8BA-4B8C-AEA1-1997F489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886200"/>
            <a:ext cx="3219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f. Approval routing rule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EAEED8-6DD9-45B5-8221-44FBD059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152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承認・escalate</a:t>
            </a:r>
          </a:p>
        </p:txBody>
      </p:sp>
      <p:sp>
        <p:nvSpPr>
          <p:cNvPr id="35" name="box-g. Autonomy Tier policy">
            <a:extLst xmlns:a="http://schemas.openxmlformats.org/drawingml/2006/main">
              <a:ext uri="{FF2B5EF4-FFF2-40B4-BE49-F238E27FC236}">
                <a16:creationId xmlns:a16="http://schemas.microsoft.com/office/drawing/2014/main" id="{0029F30C-2EC8-4237-A1D0-6AE3CDD1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14875"/>
            <a:ext cx="3524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g. Autonomy Tier policy-accent">
            <a:extLst xmlns:a="http://schemas.openxmlformats.org/drawingml/2006/main">
              <a:ext uri="{FF2B5EF4-FFF2-40B4-BE49-F238E27FC236}">
                <a16:creationId xmlns:a16="http://schemas.microsoft.com/office/drawing/2014/main" id="{DAFB2B6D-05FF-4A9B-B7CE-518BB39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14875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9586F5-D324-4EC5-B01A-0CC96B8D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86325"/>
            <a:ext cx="3219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g. Autonomy Tier policy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F0F346-9A31-4B75-A6DB-9AEAF097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53025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現在 / 目標 / 条件</a:t>
            </a:r>
          </a:p>
        </p:txBody>
      </p:sp>
      <p:sp>
        <p:nvSpPr>
          <p:cNvPr id="39" name="pack-result">
            <a:extLst xmlns:a="http://schemas.openxmlformats.org/drawingml/2006/main">
              <a:ext uri="{FF2B5EF4-FFF2-40B4-BE49-F238E27FC236}">
                <a16:creationId xmlns:a16="http://schemas.microsoft.com/office/drawing/2014/main" id="{245CB158-EE4E-4833-B636-AA4373CE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14875"/>
            <a:ext cx="3524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A85EC0-99C3-4033-B50D-A39F4CF3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053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新業界 = Pack 1セット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F52DA2-AB4E-48B6-985B-06CF9C80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Core Platformは変えない</a:t>
            </a:r>
          </a:p>
        </p:txBody>
      </p:sp>
    </p:spTree>
    <p:extLst>
      <p:ext uri="{BB962C8B-B14F-4D97-AF65-F5344CB8AC3E}">
        <p14:creationId xmlns:p14="http://schemas.microsoft.com/office/powerpoint/2010/main" val="11138943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C444682-1FC8-4E51-AAD9-07FB62E3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725B8D6-E4D1-4657-A60F-55F955AF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BD4B3C6-4531-4D76-84BC-15682C63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BUSINESS VALUE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CF54C80-420C-4E44-8D68-9F7873EF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ROIは「AIが賢い」ではなく、業務サイクルの圧縮で測る。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743BBA2-875B-4651-BE11-41ECFA8E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AB669A6-A6B2-488E-A0EC-DEDFB3BB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§3.1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0274680-57AF-4FC9-9DCD-B285AD89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20EC6-29F6-4239-AC11-DB8CE87F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4h → 30分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B0423-25F1-4B66-B5FC-94989DE6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526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Operational Exception Graph</a:t>
            </a:r>
          </a:p>
        </p:txBody>
      </p:sp>
      <p:sp>
        <p:nvSpPr>
          <p:cNvPr id="10" name="roi-track-0">
            <a:extLst xmlns:a="http://schemas.openxmlformats.org/drawingml/2006/main">
              <a:ext uri="{FF2B5EF4-FFF2-40B4-BE49-F238E27FC236}">
                <a16:creationId xmlns:a16="http://schemas.microsoft.com/office/drawing/2014/main" id="{6874A877-035E-4F14-975C-6C004521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11" name="roi-bar-0">
            <a:extLst xmlns:a="http://schemas.openxmlformats.org/drawingml/2006/main">
              <a:ext uri="{FF2B5EF4-FFF2-40B4-BE49-F238E27FC236}">
                <a16:creationId xmlns:a16="http://schemas.microsoft.com/office/drawing/2014/main" id="{E1A9D7E6-2A53-419A-A81A-7703D812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8060B-F47F-4BAD-B5C7-B5E7DF1B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2日 → 2時間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7817E-41A5-47F6-A56C-5641610D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Document Evidence Extraction</a:t>
            </a:r>
          </a:p>
        </p:txBody>
      </p:sp>
      <p:sp>
        <p:nvSpPr>
          <p:cNvPr id="14" name="roi-track-1">
            <a:extLst xmlns:a="http://schemas.openxmlformats.org/drawingml/2006/main">
              <a:ext uri="{FF2B5EF4-FFF2-40B4-BE49-F238E27FC236}">
                <a16:creationId xmlns:a16="http://schemas.microsoft.com/office/drawing/2014/main" id="{527C8244-DD18-4890-A7E5-75FB09F0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15" name="roi-bar-1">
            <a:extLst xmlns:a="http://schemas.openxmlformats.org/drawingml/2006/main">
              <a:ext uri="{FF2B5EF4-FFF2-40B4-BE49-F238E27FC236}">
                <a16:creationId xmlns:a16="http://schemas.microsoft.com/office/drawing/2014/main" id="{4B07928A-F27A-4362-ADD1-AE3060E6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68D45-51E9-4F77-8112-86D3FDFE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障害率 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A5966-7111-46C0-9938-86C2CB70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38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Model / Prompt Evaluation</a:t>
            </a:r>
          </a:p>
        </p:txBody>
      </p:sp>
      <p:sp>
        <p:nvSpPr>
          <p:cNvPr id="18" name="roi-track-2">
            <a:extLst xmlns:a="http://schemas.openxmlformats.org/drawingml/2006/main">
              <a:ext uri="{FF2B5EF4-FFF2-40B4-BE49-F238E27FC236}">
                <a16:creationId xmlns:a16="http://schemas.microsoft.com/office/drawing/2014/main" id="{CAF661BA-439E-4804-89B8-DF9CE0A6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19" name="roi-bar-2">
            <a:extLst xmlns:a="http://schemas.openxmlformats.org/drawingml/2006/main">
              <a:ext uri="{FF2B5EF4-FFF2-40B4-BE49-F238E27FC236}">
                <a16:creationId xmlns:a16="http://schemas.microsoft.com/office/drawing/2014/main" id="{B52BD9EE-11CE-4817-A2CE-6531B1C3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1A661-1661-4A11-BF97-1F5534BF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6ヶ月 → 8週間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47F66-AF94-44AD-8F84-5C02846B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8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Sovereign AI Runtime</a:t>
            </a:r>
          </a:p>
        </p:txBody>
      </p:sp>
      <p:sp>
        <p:nvSpPr>
          <p:cNvPr id="22" name="roi-track-3">
            <a:extLst xmlns:a="http://schemas.openxmlformats.org/drawingml/2006/main">
              <a:ext uri="{FF2B5EF4-FFF2-40B4-BE49-F238E27FC236}">
                <a16:creationId xmlns:a16="http://schemas.microsoft.com/office/drawing/2014/main" id="{A6997F9F-3119-44F5-BD4D-AA178F4A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23" name="roi-bar-3">
            <a:extLst xmlns:a="http://schemas.openxmlformats.org/drawingml/2006/main">
              <a:ext uri="{FF2B5EF4-FFF2-40B4-BE49-F238E27FC236}">
                <a16:creationId xmlns:a16="http://schemas.microsoft.com/office/drawing/2014/main" id="{39B4C566-568E-4D68-B25A-5E0FE705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3190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47E9E-BC00-4676-B4D2-DCBF21F7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60% 工数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876E46-BA87-4E8E-B16B-D852F6C6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24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Domain Pack Launch / 2本目</a:t>
            </a:r>
          </a:p>
        </p:txBody>
      </p:sp>
      <p:sp>
        <p:nvSpPr>
          <p:cNvPr id="26" name="roi-track-4">
            <a:extLst xmlns:a="http://schemas.openxmlformats.org/drawingml/2006/main">
              <a:ext uri="{FF2B5EF4-FFF2-40B4-BE49-F238E27FC236}">
                <a16:creationId xmlns:a16="http://schemas.microsoft.com/office/drawing/2014/main" id="{AA5CDC42-87BE-4E26-99BF-353CDF2B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27" name="roi-bar-4">
            <a:extLst xmlns:a="http://schemas.openxmlformats.org/drawingml/2006/main">
              <a:ext uri="{FF2B5EF4-FFF2-40B4-BE49-F238E27FC236}">
                <a16:creationId xmlns:a16="http://schemas.microsoft.com/office/drawing/2014/main" id="{4DE7DA24-93AC-4164-B307-A039BDBC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8" name="roi-note">
            <a:extLst xmlns:a="http://schemas.openxmlformats.org/drawingml/2006/main">
              <a:ext uri="{FF2B5EF4-FFF2-40B4-BE49-F238E27FC236}">
                <a16:creationId xmlns:a16="http://schemas.microsoft.com/office/drawing/2014/main" id="{0B3D22E6-4736-4D64-828C-510B2D8E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2177F-B176-4D84-A95A-B9372899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67375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KPI仮説は顧客ごとに検証する。価値の単位は、時間・品質・統合工数・監査コスト。</a:t>
            </a:r>
          </a:p>
        </p:txBody>
      </p:sp>
      <p:sp>
        <p:nvSpPr>
          <p:cNvPr id="30" name="tag-ROI HYPOTHESES">
            <a:extLst xmlns:a="http://schemas.openxmlformats.org/drawingml/2006/main">
              <a:ext uri="{FF2B5EF4-FFF2-40B4-BE49-F238E27FC236}">
                <a16:creationId xmlns:a16="http://schemas.microsoft.com/office/drawing/2014/main" id="{F94456CF-13AA-4EDD-89CF-1B2240B7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476375"/>
            <a:ext cx="1571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0B69C9-DAEE-473F-8834-A4F17BB5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485900"/>
            <a:ext cx="1419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ROI HYPOTHESES</a:t>
            </a:r>
          </a:p>
        </p:txBody>
      </p:sp>
    </p:spTree>
    <p:extLst>
      <p:ext uri="{BB962C8B-B14F-4D97-AF65-F5344CB8AC3E}">
        <p14:creationId xmlns:p14="http://schemas.microsoft.com/office/powerpoint/2010/main" val="16041153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E0ADA6C-E807-466F-B594-FFAA4F4E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A84FCD6-F1E2-4586-BFF5-8C09AB6B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A75ECA-B309-4214-94C5-DD9E7276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EVAL / RL HARNESS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C206D03-D0B8-4980-8E2D-5C8A9F6E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評価ハーネスは、回帰テストから業務最適化へ段階的に深くなる。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211B42A-8861-4366-B37C-A1E1533A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655A7CC-D66F-46BB-BB5E-2B79B9A5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§3.2 and §6.3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409EE45-9398-4359-B48E-B5E2AFDF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8" name="eval-stage-1">
            <a:extLst xmlns:a="http://schemas.openxmlformats.org/drawingml/2006/main">
              <a:ext uri="{FF2B5EF4-FFF2-40B4-BE49-F238E27FC236}">
                <a16:creationId xmlns:a16="http://schemas.microsoft.com/office/drawing/2014/main" id="{DA7FF263-3725-4741-B6BC-5E79B202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9" name="eval-stage-1-accent">
            <a:extLst xmlns:a="http://schemas.openxmlformats.org/drawingml/2006/main">
              <a:ext uri="{FF2B5EF4-FFF2-40B4-BE49-F238E27FC236}">
                <a16:creationId xmlns:a16="http://schemas.microsoft.com/office/drawing/2014/main" id="{F127998F-544A-400C-A90B-66B4643E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49A5D-8C3E-499A-9081-47FD26E3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STAGE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69CD2-2411-4256-B14D-CB89B40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モデル評価ハーネス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CBEBC-995F-4D62-8043-A9E3BB7A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golden set / smoke / regression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3992D-5D4C-4CEE-A349-697DC2C8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初期商談で使う</a:t>
            </a:r>
          </a:p>
        </p:txBody>
      </p:sp>
      <p:sp>
        <p:nvSpPr>
          <p:cNvPr id="14" name="eval-stage-2">
            <a:extLst xmlns:a="http://schemas.openxmlformats.org/drawingml/2006/main">
              <a:ext uri="{FF2B5EF4-FFF2-40B4-BE49-F238E27FC236}">
                <a16:creationId xmlns:a16="http://schemas.microsoft.com/office/drawing/2014/main" id="{163C3ACF-E9EB-4428-9C85-D1274FC1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47875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eval-stage-2-accent">
            <a:extLst xmlns:a="http://schemas.openxmlformats.org/drawingml/2006/main">
              <a:ext uri="{FF2B5EF4-FFF2-40B4-BE49-F238E27FC236}">
                <a16:creationId xmlns:a16="http://schemas.microsoft.com/office/drawing/2014/main" id="{C9C32C4E-2FED-48B9-B954-2655CC99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47875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7A513-AA97-41D0-9AA8-2F25D0D2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STAGE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6989E-6A3E-4CDF-965E-53FC5F33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8130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継続改善ループ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C3753-9326-4D50-B773-38030AAE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67125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human review / preference /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957D7-815C-46F1-B5BC-B59348A4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767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初期商談で使う</a:t>
            </a:r>
          </a:p>
        </p:txBody>
      </p:sp>
      <p:sp>
        <p:nvSpPr>
          <p:cNvPr id="20" name="eval-stage-3">
            <a:extLst xmlns:a="http://schemas.openxmlformats.org/drawingml/2006/main">
              <a:ext uri="{FF2B5EF4-FFF2-40B4-BE49-F238E27FC236}">
                <a16:creationId xmlns:a16="http://schemas.microsoft.com/office/drawing/2014/main" id="{EB875745-2E32-4EC8-A2AE-85A79ED6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eval-stage-3-accent">
            <a:extLst xmlns:a="http://schemas.openxmlformats.org/drawingml/2006/main">
              <a:ext uri="{FF2B5EF4-FFF2-40B4-BE49-F238E27FC236}">
                <a16:creationId xmlns:a16="http://schemas.microsoft.com/office/drawing/2014/main" id="{FC031A47-158D-43F0-82B7-DEF67112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157CA-88BD-4FC9-A661-447BE392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STAGE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9D44B-0B2D-44F2-86AA-7BD94555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operational optimization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3CE015-DB6C-4C70-A796-04CF6391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reward model / DPO / PPO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1FFD4-44AF-4E98-A705-D5D49829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成熟後に使う</a:t>
            </a:r>
          </a:p>
        </p:txBody>
      </p:sp>
      <p:sp>
        <p:nvSpPr>
          <p:cNvPr id="26" name="eval-stage-4">
            <a:extLst xmlns:a="http://schemas.openxmlformats.org/drawingml/2006/main">
              <a:ext uri="{FF2B5EF4-FFF2-40B4-BE49-F238E27FC236}">
                <a16:creationId xmlns:a16="http://schemas.microsoft.com/office/drawing/2014/main" id="{FAE06C03-9E61-4F65-BDF4-D37FD9ED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47875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eval-stage-4-accent">
            <a:extLst xmlns:a="http://schemas.openxmlformats.org/drawingml/2006/main">
              <a:ext uri="{FF2B5EF4-FFF2-40B4-BE49-F238E27FC236}">
                <a16:creationId xmlns:a16="http://schemas.microsoft.com/office/drawing/2014/main" id="{EC256C15-B4B4-45B2-B6FA-19BF4A46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47875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733855-73BA-4F42-B54F-949264B1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STAGE 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96D71A-B439-4248-877D-F68AF5B0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8130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domain-specific RL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D468C8-0949-414C-AA36-378DEB1D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67125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simulator / safe closed-loop RL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74484-7B76-42D7-A4FA-6CC9AF9D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767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成熟後に使う</a:t>
            </a:r>
          </a:p>
        </p:txBody>
      </p:sp>
      <p:sp>
        <p:nvSpPr>
          <p:cNvPr id="32" name="eval-message">
            <a:extLst xmlns:a="http://schemas.openxmlformats.org/drawingml/2006/main">
              <a:ext uri="{FF2B5EF4-FFF2-40B4-BE49-F238E27FC236}">
                <a16:creationId xmlns:a16="http://schemas.microsoft.com/office/drawing/2014/main" id="{44260774-8DF2-4F04-8346-E974F4D5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525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D79093-72E0-4412-B891-D37E4833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05450"/>
            <a:ext cx="1004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最初から「強化学習」と言いすぎない。Stage 1から価値を出し、業務Outcomeが溜まるほど深くする。</a:t>
            </a:r>
          </a:p>
        </p:txBody>
      </p:sp>
    </p:spTree>
    <p:extLst>
      <p:ext uri="{BB962C8B-B14F-4D97-AF65-F5344CB8AC3E}">
        <p14:creationId xmlns:p14="http://schemas.microsoft.com/office/powerpoint/2010/main" val="6511617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1B8ACBA-82AD-44EE-92AD-C59C2B97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37FAAD2-ED67-4603-9482-4F2556CA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ECFDDE-6C0A-4B8D-B4DD-6004EB62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PRIVATE AI FACTORY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E01AA52-79FC-4AF1-B181-63547851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AIをクラウドに預けず、顧客の管理境界の中へ持ち込む。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6223993-4E2B-43F6-A377-C9B6F183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27F73F3-5062-4AF5-8B34-FE7CAB28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§3.3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7D53528-9ED2-44E6-8199-A0CA17E1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8" name="sovereignty-boundary">
            <a:extLst xmlns:a="http://schemas.openxmlformats.org/drawingml/2006/main">
              <a:ext uri="{FF2B5EF4-FFF2-40B4-BE49-F238E27FC236}">
                <a16:creationId xmlns:a16="http://schemas.microsoft.com/office/drawing/2014/main" id="{B9C0117D-5825-4BDF-AEB7-9B48DE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02A91-C5C3-48C1-9CA9-3594EBD2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CUSTOMER CONTROL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17AEF-C47E-47A4-8D2C-0C6B8338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03B77-8186-4C4B-B380-ACC102EE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146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Data residency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93912-4599-4661-9785-E2A9CD31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241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所在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46D10-4828-4BA6-943D-FB0CC18F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19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B82E8-EDCE-4707-B6E1-E8579B2C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99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Data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8B640-6AE8-4E43-A324-28087657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194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鍵・権限・ログ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6AEB8-82C0-4579-B9DA-01B226E9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49704A-30AC-4A84-9466-2DA691B8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052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Model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6E1E0-F463-411A-89C2-68E33D61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モデル選択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CDA95-C7C8-4D8D-953D-20C46EB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00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C9A48-EDBF-4E83-AFD4-49B8B423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Execution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15138-A2FE-4966-8B6E-347876C1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実行可能範囲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8FB699-0FFE-4C6E-8C6D-BD0D0E4A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053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1E60F-02DD-4F20-8871-6463AB27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958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Audit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80B5E-CE87-47FF-9453-9C2BD7C5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053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理由の証明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D51DCF-D41A-428D-A1AC-E616265D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SCALE PATH</a:t>
            </a:r>
          </a:p>
        </p:txBody>
      </p:sp>
      <p:sp>
        <p:nvSpPr>
          <p:cNvPr id="26" name="box-B · Pilot-in-a-Box">
            <a:extLst xmlns:a="http://schemas.openxmlformats.org/drawingml/2006/main">
              <a:ext uri="{FF2B5EF4-FFF2-40B4-BE49-F238E27FC236}">
                <a16:creationId xmlns:a16="http://schemas.microsoft.com/office/drawing/2014/main" id="{0A073278-673A-4818-8A7A-459DE7AE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33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7" name="B · Pilot-in-a-Box-accent">
            <a:extLst xmlns:a="http://schemas.openxmlformats.org/drawingml/2006/main">
              <a:ext uri="{FF2B5EF4-FFF2-40B4-BE49-F238E27FC236}">
                <a16:creationId xmlns:a16="http://schemas.microsoft.com/office/drawing/2014/main" id="{D42BB655-FBED-4C7A-812D-C8BD1699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16D838-9DFE-4CD6-B517-09DEB819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502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 · Pilot-in-a-Box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83C46C-D14F-4AC8-B9A3-2530C9D4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47925"/>
            <a:ext cx="502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1-2 GPU / 8-12 weeks</a:t>
            </a:r>
          </a:p>
        </p:txBody>
      </p:sp>
      <p:sp>
        <p:nvSpPr>
          <p:cNvPr id="30" name="box-C · Production Starter">
            <a:extLst xmlns:a="http://schemas.openxmlformats.org/drawingml/2006/main">
              <a:ext uri="{FF2B5EF4-FFF2-40B4-BE49-F238E27FC236}">
                <a16:creationId xmlns:a16="http://schemas.microsoft.com/office/drawing/2014/main" id="{FB88F0DD-6758-41CE-B489-5BCE332F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533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31" name="C · Production Starter-accent">
            <a:extLst xmlns:a="http://schemas.openxmlformats.org/drawingml/2006/main">
              <a:ext uri="{FF2B5EF4-FFF2-40B4-BE49-F238E27FC236}">
                <a16:creationId xmlns:a16="http://schemas.microsoft.com/office/drawing/2014/main" id="{29992D49-85F6-4D52-BB7E-50EB5A6C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B3D104-837E-4B3C-9683-67F7F1DF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76575"/>
            <a:ext cx="502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 · Production Starter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FA6617-B08D-41C4-83DC-2E1760F9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502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4-8 GPU / 1部門</a:t>
            </a:r>
          </a:p>
        </p:txBody>
      </p:sp>
      <p:sp>
        <p:nvSpPr>
          <p:cNvPr id="34" name="box-D · Regulated Starter">
            <a:extLst xmlns:a="http://schemas.openxmlformats.org/drawingml/2006/main">
              <a:ext uri="{FF2B5EF4-FFF2-40B4-BE49-F238E27FC236}">
                <a16:creationId xmlns:a16="http://schemas.microsoft.com/office/drawing/2014/main" id="{2E228F0E-3360-4301-B77B-57A875F4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33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35" name="D · Regulated Starter-accent">
            <a:extLst xmlns:a="http://schemas.openxmlformats.org/drawingml/2006/main">
              <a:ext uri="{FF2B5EF4-FFF2-40B4-BE49-F238E27FC236}">
                <a16:creationId xmlns:a16="http://schemas.microsoft.com/office/drawing/2014/main" id="{DB86E65E-BB00-4193-B990-C67428E9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B5F27E-597B-4440-99A7-47E000D9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502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 · Regulated Starter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2B56FC-6D7E-4CBF-89F4-B5391B19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67175"/>
            <a:ext cx="502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8-16 GPU / KMS / audit</a:t>
            </a:r>
          </a:p>
        </p:txBody>
      </p:sp>
      <p:sp>
        <p:nvSpPr>
          <p:cNvPr id="38" name="box-E · Enterprise Scale">
            <a:extLst xmlns:a="http://schemas.openxmlformats.org/drawingml/2006/main">
              <a:ext uri="{FF2B5EF4-FFF2-40B4-BE49-F238E27FC236}">
                <a16:creationId xmlns:a16="http://schemas.microsoft.com/office/drawing/2014/main" id="{413F6A27-126A-4B5F-8E54-64B15182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533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39" name="E · Enterprise Scale-accent">
            <a:extLst xmlns:a="http://schemas.openxmlformats.org/drawingml/2006/main">
              <a:ext uri="{FF2B5EF4-FFF2-40B4-BE49-F238E27FC236}">
                <a16:creationId xmlns:a16="http://schemas.microsoft.com/office/drawing/2014/main" id="{15577805-610D-4671-A097-37D545E6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2C2F86-633E-43A2-B295-3D23B7D8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95825"/>
            <a:ext cx="502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 · Enterprise Scale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9BA300-A160-4DFB-B816-7A4D77AE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76800"/>
            <a:ext cx="502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32+ GPU / multi-cluster</a:t>
            </a:r>
          </a:p>
        </p:txBody>
      </p:sp>
    </p:spTree>
    <p:extLst>
      <p:ext uri="{BB962C8B-B14F-4D97-AF65-F5344CB8AC3E}">
        <p14:creationId xmlns:p14="http://schemas.microsoft.com/office/powerpoint/2010/main" val="4553650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CC08321-AB39-4C51-AF32-C572D40F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EFE770-5EC6-4E87-8863-AA02B85D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91958B4-1296-430F-8C7C-8D57C74E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TWO-PLANE RUNTIME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605A66B-08D6-4672-95EA-EDB8AB0F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本番推論を止めずに、モデルを改善し続ける。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AFA44E4-84EF-4B1F-AB67-6477C1F3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5258D7F-8668-47AE-B9DD-A537A869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§3.4 and §5.2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6E45385-3626-45FA-9EB3-50D90E6B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8" name="inference-plane">
            <a:extLst xmlns:a="http://schemas.openxmlformats.org/drawingml/2006/main">
              <a:ext uri="{FF2B5EF4-FFF2-40B4-BE49-F238E27FC236}">
                <a16:creationId xmlns:a16="http://schemas.microsoft.com/office/drawing/2014/main" id="{40F28B7C-9423-4176-8256-F4F802B5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inference-accent">
            <a:extLst xmlns:a="http://schemas.openxmlformats.org/drawingml/2006/main">
              <a:ext uri="{FF2B5EF4-FFF2-40B4-BE49-F238E27FC236}">
                <a16:creationId xmlns:a16="http://schemas.microsoft.com/office/drawing/2014/main" id="{B34437C7-1783-45D8-8B94-3C47F3B4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193A8-7035-44E6-AF7D-49E36D9B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INFERENCE PLANE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6769E-A7BD-42DE-9555-E5611CE2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SLA: p95 latency &lt; 200ms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CAEA9-55CA-4C7C-8EDD-61F01F7F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LiteLLM Gateway</a:t>
            </a:r>
          </a:p>
          <a:p xmlns:a="http://schemas.openxmlformats.org/drawingml/2006/main">
            <a:pPr algn="l">
              <a:def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vLLM / SGLang</a:t>
            </a:r>
          </a:p>
          <a:p xmlns:a="http://schemas.openxmlformats.org/drawingml/2006/main">
            <a:pPr algn="l">
              <a:def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Kubernetes + GPU metrics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5E06C-E09C-4C04-A602-FBB13F3A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昇格済みモデルのみ受け入れる</a:t>
            </a:r>
          </a:p>
        </p:txBody>
      </p:sp>
      <p:sp>
        <p:nvSpPr>
          <p:cNvPr id="14" name="training-plane">
            <a:extLst xmlns:a="http://schemas.openxmlformats.org/drawingml/2006/main">
              <a:ext uri="{FF2B5EF4-FFF2-40B4-BE49-F238E27FC236}">
                <a16:creationId xmlns:a16="http://schemas.microsoft.com/office/drawing/2014/main" id="{6B40E4CD-CD37-42B3-81A6-758E4DA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762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15" name="training-accent">
            <a:extLst xmlns:a="http://schemas.openxmlformats.org/drawingml/2006/main">
              <a:ext uri="{FF2B5EF4-FFF2-40B4-BE49-F238E27FC236}">
                <a16:creationId xmlns:a16="http://schemas.microsoft.com/office/drawing/2014/main" id="{8A11EB7C-6D66-43CC-8F6B-723C1F06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43B93-0553-4915-BEF6-902EE5BE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4312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TRAINING / EVAL PLANE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E5C66-B285-4C94-9EC9-23C3476D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19375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SLA: スループット最大化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760C6-71DF-4CD7-8109-151A7995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Dataset Store + lineage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LoRA / QLoRA / FSDP / DeepSpeed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Golden set / regression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B441F-1D09-43B4-A630-3AD4D3F4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148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実験的モデル・データを自由に試す</a:t>
            </a:r>
          </a:p>
        </p:txBody>
      </p:sp>
      <p:sp>
        <p:nvSpPr>
          <p:cNvPr id="20" name="eval-gate">
            <a:extLst xmlns:a="http://schemas.openxmlformats.org/drawingml/2006/main">
              <a:ext uri="{FF2B5EF4-FFF2-40B4-BE49-F238E27FC236}">
                <a16:creationId xmlns:a16="http://schemas.microsoft.com/office/drawing/2014/main" id="{1F4AD73A-4E3A-4B8C-B375-73DB9765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F2D476-15E3-41AF-96D5-B6E82CEA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003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EVAL</a:t>
            </a:r>
          </a:p>
          <a:p xmlns:a="http://schemas.openxmlformats.org/drawingml/2006/main">
            <a:pPr algn="ctr">
              <a:defRPr sz="15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B3507-E9C2-4921-8E90-959F9316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14F80-4E27-4298-B080-B544B004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114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promote / rollback</a:t>
            </a:r>
          </a:p>
        </p:txBody>
      </p:sp>
    </p:spTree>
    <p:extLst>
      <p:ext uri="{BB962C8B-B14F-4D97-AF65-F5344CB8AC3E}">
        <p14:creationId xmlns:p14="http://schemas.microsoft.com/office/powerpoint/2010/main" val="5808238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0ED3652-4EFD-42E8-B0CF-BCDA3260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B424FE-E0F7-4858-826B-567240EA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E69439-6E92-40AB-9758-ABE1489E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MARKET HYPOTHESIS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0BA3AA7-248A-458F-B19B-BC09B84F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共通AI基盤が、領域AI企業の参入障壁を下げる。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A681966-AF3A-4A17-A274-7DA98F35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BC99282-A67B-4A76-B789-136A4D0D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§4.1-4.2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F8FC77C-74F7-4702-A033-B0DB1ED5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8" name="analogy-0">
            <a:extLst xmlns:a="http://schemas.openxmlformats.org/drawingml/2006/main">
              <a:ext uri="{FF2B5EF4-FFF2-40B4-BE49-F238E27FC236}">
                <a16:creationId xmlns:a16="http://schemas.microsoft.com/office/drawing/2014/main" id="{2693301B-196F-4554-9B4C-E65EAB77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43237-6DAA-4BE9-A0B5-CD705CCC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ゲーム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8ACD2-17E7-40C7-B8FD-C30D0924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Unity / Unreal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7F9E3-9110-48E8-8B43-8BA57E42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ゲーム体験に集中</a:t>
            </a:r>
          </a:p>
        </p:txBody>
      </p:sp>
      <p:sp>
        <p:nvSpPr>
          <p:cNvPr id="12" name="analogy-1">
            <a:extLst xmlns:a="http://schemas.openxmlformats.org/drawingml/2006/main">
              <a:ext uri="{FF2B5EF4-FFF2-40B4-BE49-F238E27FC236}">
                <a16:creationId xmlns:a16="http://schemas.microsoft.com/office/drawing/2014/main" id="{3BB73209-8A73-4519-A725-038991B6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62125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3F063-D9BA-40C6-87A3-2932CD20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81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EC / 決済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C492A-8033-4F7A-8725-0A0EE25B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812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Stripe / Shopify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7A70B-3D80-4C35-8F0D-4771CCE3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575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決済の再発明を回避</a:t>
            </a:r>
          </a:p>
        </p:txBody>
      </p:sp>
      <p:sp>
        <p:nvSpPr>
          <p:cNvPr id="16" name="analogy-2">
            <a:extLst xmlns:a="http://schemas.openxmlformats.org/drawingml/2006/main">
              <a:ext uri="{FF2B5EF4-FFF2-40B4-BE49-F238E27FC236}">
                <a16:creationId xmlns:a16="http://schemas.microsoft.com/office/drawing/2014/main" id="{25EF4875-EC72-4225-8C5F-D77420E6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ACBB3-9A92-4135-A1C8-8F8C7418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クラウド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D8E68-0F3F-4D59-A26C-6A8B508C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824BC-494B-4079-B934-70D4071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サーバー調達を回避</a:t>
            </a:r>
          </a:p>
        </p:txBody>
      </p:sp>
      <p:sp>
        <p:nvSpPr>
          <p:cNvPr id="20" name="analogy-3">
            <a:extLst xmlns:a="http://schemas.openxmlformats.org/drawingml/2006/main">
              <a:ext uri="{FF2B5EF4-FFF2-40B4-BE49-F238E27FC236}">
                <a16:creationId xmlns:a16="http://schemas.microsoft.com/office/drawing/2014/main" id="{90360218-BB06-4C17-91FB-53D4C336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62125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FE36D-21B3-4198-A673-DCB3974A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981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領域AI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67C290-47FC-4304-9EE6-02F14465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812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KairosAI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8540F-885A-4A83-A604-A550857F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575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評価・推論・監査を再発明しない</a:t>
            </a:r>
          </a:p>
        </p:txBody>
      </p:sp>
      <p:sp>
        <p:nvSpPr>
          <p:cNvPr id="24" name="band-自動運転での境界: 差別化モデルには触らず、周辺の重い共通基盤を引き受ける">
            <a:extLst xmlns:a="http://schemas.openxmlformats.org/drawingml/2006/main">
              <a:ext uri="{FF2B5EF4-FFF2-40B4-BE49-F238E27FC236}">
                <a16:creationId xmlns:a16="http://schemas.microsoft.com/office/drawing/2014/main" id="{0EAAC710-07B6-44FF-ABFA-7D3AEAAA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85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F3279D-D0F0-40E1-9B62-135F5C20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62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自動運転での境界: 差別化モデルには触らず、周辺の重い共通基盤を引き受ける</a:t>
            </a:r>
          </a:p>
        </p:txBody>
      </p:sp>
      <p:sp>
        <p:nvSpPr>
          <p:cNvPr id="26" name="box-触らない">
            <a:extLst xmlns:a="http://schemas.openxmlformats.org/drawingml/2006/main">
              <a:ext uri="{FF2B5EF4-FFF2-40B4-BE49-F238E27FC236}">
                <a16:creationId xmlns:a16="http://schemas.microsoft.com/office/drawing/2014/main" id="{907CE4EF-660C-46ED-BF85-4EFF2A62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5095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7" name="触らない-accent">
            <a:extLst xmlns:a="http://schemas.openxmlformats.org/drawingml/2006/main">
              <a:ext uri="{FF2B5EF4-FFF2-40B4-BE49-F238E27FC236}">
                <a16:creationId xmlns:a16="http://schemas.microsoft.com/office/drawing/2014/main" id="{67016891-EC06-4E05-9A29-163009F5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05DD06-7F11-4010-B108-45E8C0EE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触らない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33AE20-7D71-4254-9B4C-39950CC7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7910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perception / planning / prediction</a:t>
            </a:r>
          </a:p>
        </p:txBody>
      </p:sp>
      <p:sp>
        <p:nvSpPr>
          <p:cNvPr id="30" name="box-引き受ける">
            <a:extLst xmlns:a="http://schemas.openxmlformats.org/drawingml/2006/main">
              <a:ext uri="{FF2B5EF4-FFF2-40B4-BE49-F238E27FC236}">
                <a16:creationId xmlns:a16="http://schemas.microsoft.com/office/drawing/2014/main" id="{0160BC72-6F67-4DDF-A9D3-A9EE3C81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86250"/>
            <a:ext cx="5095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1" name="引き受ける-accent">
            <a:extLst xmlns:a="http://schemas.openxmlformats.org/drawingml/2006/main">
              <a:ext uri="{FF2B5EF4-FFF2-40B4-BE49-F238E27FC236}">
                <a16:creationId xmlns:a16="http://schemas.microsoft.com/office/drawing/2014/main" id="{96B7BF2D-E61D-4A9A-B124-F2B239C4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86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19FF78-2BE0-4B24-84AB-000AE1B8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457700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引き受ける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293628-B794-4ECB-895F-C839C3C2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914900"/>
            <a:ext cx="47910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データストア / scenario eval / Agent ops / 監査</a:t>
            </a:r>
          </a:p>
        </p:txBody>
      </p:sp>
    </p:spTree>
    <p:extLst>
      <p:ext uri="{BB962C8B-B14F-4D97-AF65-F5344CB8AC3E}">
        <p14:creationId xmlns:p14="http://schemas.microsoft.com/office/powerpoint/2010/main" val="164483346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56068F8-18A0-432D-BDD6-F85FC949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A63D28D-FCC0-4294-B77B-74D6571E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124D69F-348C-405F-A8ED-1081B50A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IDEAL CUSTOMER PROFILE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D25F75C-1FD4-4EEA-9F27-60674753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最初のWedgeは、日本の規制産業が内製する領域AIである。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BDFEC9-8602-4048-A1E2-E478CE4E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D61BA30-6C83-497D-AE2E-BE560072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§4.3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72B7F44-BF01-4F0B-9B79-25664B81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37F78-D9B3-4BEA-A755-59B79A60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Waymo / Aurora 規模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19F59-7285-4F4C-B643-372A6666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刺さらない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E63EE-9AD0-4C5A-A716-FDDF5601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社内インフラチームが数百人</a:t>
            </a:r>
          </a:p>
        </p:txBody>
      </p:sp>
      <p:sp>
        <p:nvSpPr>
          <p:cNvPr id="11" name="icp-track-0">
            <a:extLst xmlns:a="http://schemas.openxmlformats.org/drawingml/2006/main">
              <a:ext uri="{FF2B5EF4-FFF2-40B4-BE49-F238E27FC236}">
                <a16:creationId xmlns:a16="http://schemas.microsoft.com/office/drawing/2014/main" id="{2B1868E8-B4C8-41D6-8C33-3885DB29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12" name="icp-bar-0">
            <a:extLst xmlns:a="http://schemas.openxmlformats.org/drawingml/2006/main">
              <a:ext uri="{FF2B5EF4-FFF2-40B4-BE49-F238E27FC236}">
                <a16:creationId xmlns:a16="http://schemas.microsoft.com/office/drawing/2014/main" id="{9CD86373-BAED-42A7-A03A-56527D46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98488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034CF-47D1-4608-B640-7AC99563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71675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DEB56-2790-44BD-B4FC-2E9B1373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シリーズ A-C の領域AI新興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ACD59-BA8C-4F96-B56F-AD450506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可能性あり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04E2A-2CC5-455A-BA74-F23A3DEA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80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再発明コストが重い</a:t>
            </a:r>
          </a:p>
        </p:txBody>
      </p:sp>
      <p:sp>
        <p:nvSpPr>
          <p:cNvPr id="17" name="icp-track-1">
            <a:extLst xmlns:a="http://schemas.openxmlformats.org/drawingml/2006/main">
              <a:ext uri="{FF2B5EF4-FFF2-40B4-BE49-F238E27FC236}">
                <a16:creationId xmlns:a16="http://schemas.microsoft.com/office/drawing/2014/main" id="{6E93DB61-27C9-405F-9A50-8AB97D43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18" name="icp-bar-1">
            <a:extLst xmlns:a="http://schemas.openxmlformats.org/drawingml/2006/main">
              <a:ext uri="{FF2B5EF4-FFF2-40B4-BE49-F238E27FC236}">
                <a16:creationId xmlns:a16="http://schemas.microsoft.com/office/drawing/2014/main" id="{781AAAED-B9A5-467C-AE7C-D0AA4478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259651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7A4685-4652-42A0-8631-F07A322E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09925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58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DC280-781E-49DF-B02A-579E279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日本の規制産業 × 社内領域AI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998EE-0226-4893-BC0C-25D526BD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最も刺さる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ECA1A-06C6-41E9-A97D-23857B0E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主権 + 内製 + 評価 + 監査が必要</a:t>
            </a:r>
          </a:p>
        </p:txBody>
      </p:sp>
      <p:sp>
        <p:nvSpPr>
          <p:cNvPr id="23" name="icp-track-2">
            <a:extLst xmlns:a="http://schemas.openxmlformats.org/drawingml/2006/main">
              <a:ext uri="{FF2B5EF4-FFF2-40B4-BE49-F238E27FC236}">
                <a16:creationId xmlns:a16="http://schemas.microsoft.com/office/drawing/2014/main" id="{037FBF78-9C89-4524-8990-CAC698A8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24" name="icp-bar-2">
            <a:extLst xmlns:a="http://schemas.openxmlformats.org/drawingml/2006/main">
              <a:ext uri="{FF2B5EF4-FFF2-40B4-BE49-F238E27FC236}">
                <a16:creationId xmlns:a16="http://schemas.microsoft.com/office/drawing/2014/main" id="{93BF3338-0F9B-4E54-85B0-A87CAE4D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420814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555B2B-BC38-47FE-B25F-3A20B967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48175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94</a:t>
            </a:r>
          </a:p>
        </p:txBody>
      </p:sp>
      <p:sp>
        <p:nvSpPr>
          <p:cNvPr id="26" name="icp-claim">
            <a:extLst xmlns:a="http://schemas.openxmlformats.org/drawingml/2006/main">
              <a:ext uri="{FF2B5EF4-FFF2-40B4-BE49-F238E27FC236}">
                <a16:creationId xmlns:a16="http://schemas.microsoft.com/office/drawing/2014/main" id="{92796A94-E0BA-4E72-B911-7F16B3CC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4A8E0-F6B4-4700-8DC8-B005813D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28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規制産業には、単一機能ではなく「本番化の全部」が必要になる。</a:t>
            </a:r>
          </a:p>
        </p:txBody>
      </p:sp>
    </p:spTree>
    <p:extLst>
      <p:ext uri="{BB962C8B-B14F-4D97-AF65-F5344CB8AC3E}">
        <p14:creationId xmlns:p14="http://schemas.microsoft.com/office/powerpoint/2010/main" val="51293663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9F9F28C-75C6-469C-8ECB-2A69B804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D3525A-AE78-4C37-8E3D-E5F34B6E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D0EFA7-6C00-4F15-9CD9-69FBD1AF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OUTCOME LEARNING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0780FC5-EDFC-4421-9570-B7A28EA1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KairosAIは、回答の良さではなく業務Outcomeで学習する。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67844BB-3B94-49A4-96B9-0A198C03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C926A69-6F1E-4B4F-B73A-3D9E464C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§6.1-6.4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774D01-6E41-4A59-A78D-90070058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  <p:sp>
        <p:nvSpPr>
          <p:cNvPr id="8" name="reward-0">
            <a:extLst xmlns:a="http://schemas.openxmlformats.org/drawingml/2006/main">
              <a:ext uri="{FF2B5EF4-FFF2-40B4-BE49-F238E27FC236}">
                <a16:creationId xmlns:a16="http://schemas.microsoft.com/office/drawing/2014/main" id="{55A6C7EA-C039-4073-9599-8B8560AE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9" name="reward-0-accent">
            <a:extLst xmlns:a="http://schemas.openxmlformats.org/drawingml/2006/main">
              <a:ext uri="{FF2B5EF4-FFF2-40B4-BE49-F238E27FC236}">
                <a16:creationId xmlns:a16="http://schemas.microsoft.com/office/drawing/2014/main" id="{13C4EEB2-AF16-48B8-A2D8-A8A4D6EB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1E261-DDAA-492B-AACE-7C765E02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52575"/>
            <a:ext cx="17621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業務イベント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037D5-A450-458F-A2B5-160514EE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28800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発生</a:t>
            </a:r>
          </a:p>
        </p:txBody>
      </p:sp>
      <p:sp>
        <p:nvSpPr>
          <p:cNvPr id="12" name="reward-1">
            <a:extLst xmlns:a="http://schemas.openxmlformats.org/drawingml/2006/main">
              <a:ext uri="{FF2B5EF4-FFF2-40B4-BE49-F238E27FC236}">
                <a16:creationId xmlns:a16="http://schemas.microsoft.com/office/drawing/2014/main" id="{4014E4EF-E006-447A-953C-D7AE2934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318" y="2309813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3" name="reward-1-accent">
            <a:extLst xmlns:a="http://schemas.openxmlformats.org/drawingml/2006/main">
              <a:ext uri="{FF2B5EF4-FFF2-40B4-BE49-F238E27FC236}">
                <a16:creationId xmlns:a16="http://schemas.microsoft.com/office/drawing/2014/main" id="{A1D3656E-1D5C-4752-888D-8D8DA214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318" y="2309813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02FB8-B7D8-43D9-93E7-61FD55F6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768" y="2433638"/>
            <a:ext cx="17621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Agent提案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4AAF7-0EA9-4697-8E6E-81C1794F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768" y="2709863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生成</a:t>
            </a:r>
          </a:p>
        </p:txBody>
      </p:sp>
      <p:sp>
        <p:nvSpPr>
          <p:cNvPr id="16" name="reward-2">
            <a:extLst xmlns:a="http://schemas.openxmlformats.org/drawingml/2006/main">
              <a:ext uri="{FF2B5EF4-FFF2-40B4-BE49-F238E27FC236}">
                <a16:creationId xmlns:a16="http://schemas.microsoft.com/office/drawing/2014/main" id="{762F0593-9474-4AED-B697-6CD9041C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318" y="4071938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7" name="reward-2-accent">
            <a:extLst xmlns:a="http://schemas.openxmlformats.org/drawingml/2006/main">
              <a:ext uri="{FF2B5EF4-FFF2-40B4-BE49-F238E27FC236}">
                <a16:creationId xmlns:a16="http://schemas.microsoft.com/office/drawing/2014/main" id="{9E1092AA-83DD-4725-89FE-EBD5057E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318" y="4071938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4811C-F31A-42D8-8DF7-09578FB0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768" y="4195763"/>
            <a:ext cx="17621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7BCC0-C1B4-4840-BAC1-67D6C75B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768" y="4471988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実行</a:t>
            </a:r>
          </a:p>
        </p:txBody>
      </p:sp>
      <p:sp>
        <p:nvSpPr>
          <p:cNvPr id="20" name="reward-3">
            <a:extLst xmlns:a="http://schemas.openxmlformats.org/drawingml/2006/main">
              <a:ext uri="{FF2B5EF4-FFF2-40B4-BE49-F238E27FC236}">
                <a16:creationId xmlns:a16="http://schemas.microsoft.com/office/drawing/2014/main" id="{56937EBD-AB43-45B6-9D88-837E9019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1" name="reward-3-accent">
            <a:extLst xmlns:a="http://schemas.openxmlformats.org/drawingml/2006/main">
              <a:ext uri="{FF2B5EF4-FFF2-40B4-BE49-F238E27FC236}">
                <a16:creationId xmlns:a16="http://schemas.microsoft.com/office/drawing/2014/main" id="{20810BF4-E7B1-4DC1-B37A-557D0BD5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64547-ABF0-4602-9BA0-5F9E21C8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76825"/>
            <a:ext cx="17621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47998A-B3CB-4F62-A665-13D0DC89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53050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成功 / 失敗 / 例外</a:t>
            </a:r>
          </a:p>
        </p:txBody>
      </p:sp>
      <p:sp>
        <p:nvSpPr>
          <p:cNvPr id="24" name="reward-4">
            <a:extLst xmlns:a="http://schemas.openxmlformats.org/drawingml/2006/main">
              <a:ext uri="{FF2B5EF4-FFF2-40B4-BE49-F238E27FC236}">
                <a16:creationId xmlns:a16="http://schemas.microsoft.com/office/drawing/2014/main" id="{0265170D-90F8-4E6B-8801-0866A9CF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182" y="4071938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5" name="reward-4-accent">
            <a:extLst xmlns:a="http://schemas.openxmlformats.org/drawingml/2006/main">
              <a:ext uri="{FF2B5EF4-FFF2-40B4-BE49-F238E27FC236}">
                <a16:creationId xmlns:a16="http://schemas.microsoft.com/office/drawing/2014/main" id="{6EC72BD9-DFC1-4975-8115-40EF80EC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182" y="4071938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3416FB-489F-4D40-87F2-B4E9A880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632" y="4195763"/>
            <a:ext cx="17621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Reward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AABFA1-E8CD-4E7C-9774-80176131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632" y="4471988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業務指標へ変換</a:t>
            </a:r>
          </a:p>
        </p:txBody>
      </p:sp>
      <p:sp>
        <p:nvSpPr>
          <p:cNvPr id="28" name="reward-5">
            <a:extLst xmlns:a="http://schemas.openxmlformats.org/drawingml/2006/main">
              <a:ext uri="{FF2B5EF4-FFF2-40B4-BE49-F238E27FC236}">
                <a16:creationId xmlns:a16="http://schemas.microsoft.com/office/drawing/2014/main" id="{F7EDED6D-96EF-4710-9AEC-490CCEC4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182" y="2309813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9" name="reward-5-accent">
            <a:extLst xmlns:a="http://schemas.openxmlformats.org/drawingml/2006/main">
              <a:ext uri="{FF2B5EF4-FFF2-40B4-BE49-F238E27FC236}">
                <a16:creationId xmlns:a16="http://schemas.microsoft.com/office/drawing/2014/main" id="{D0C6487D-0C68-4738-BF04-C0A8B046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182" y="2309813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0E2889-A551-4560-8C0F-81DCB6E9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632" y="2433638"/>
            <a:ext cx="17621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モデル改善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74CF23-C8BB-46FA-B87E-178BAB3A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632" y="2709863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extraction / reasoning / retrieval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001B3-9397-498A-BE4F-C883569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57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C40190-ECDE-44F6-8A0E-F7C90DAB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73E4EF-686D-4C66-B51B-B5CC67C8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FBE71-62AD-4A97-85CB-A64AC018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53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AD350F-7FBA-4FBE-93A1-51314F9A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4237CE-5EAF-4C38-989D-05A897AF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857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↗</a:t>
            </a:r>
          </a:p>
        </p:txBody>
      </p:sp>
      <p:sp>
        <p:nvSpPr>
          <p:cNvPr id="38" name="reward-core">
            <a:extLst xmlns:a="http://schemas.openxmlformats.org/drawingml/2006/main">
              <a:ext uri="{FF2B5EF4-FFF2-40B4-BE49-F238E27FC236}">
                <a16:creationId xmlns:a16="http://schemas.microsoft.com/office/drawing/2014/main" id="{240CE6D3-0978-4223-B889-55B25088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F16DCE-601D-4105-8563-D79B001A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051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BUSINESS</a:t>
            </a:r>
          </a:p>
          <a:p xmlns:a="http://schemas.openxmlformats.org/drawingml/2006/main">
            <a:pPr algn="ctr">
              <a:defRPr sz="18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OUTCOME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3AB295-6AFF-443B-80AB-9BBBC3CD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使うほど改善する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9928EF-83F8-4CCD-B64A-0C136AB2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Reward例: 仕訳一致率 / 採用率 / false positive / 弁護士修正量 / scenario pass rate</a:t>
            </a:r>
          </a:p>
        </p:txBody>
      </p:sp>
    </p:spTree>
    <p:extLst>
      <p:ext uri="{BB962C8B-B14F-4D97-AF65-F5344CB8AC3E}">
        <p14:creationId xmlns:p14="http://schemas.microsoft.com/office/powerpoint/2010/main" val="47202732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5D88596-202B-4899-8D05-CAAAE9CB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6BA7C2A-6B54-4263-BC75-3335DA99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BF2083-480C-4182-ACC0-E3EE7718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LIVING KNOWLEDGE GRAPH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AC90F3C-8B67-4100-92C3-95B565B3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Graphは静的資産ではなく、イベントごとに品質が上がる運用系である。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9398EE2-B088-4EE5-BABE-4420EC44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D3A29F5-A600-4CE2-B501-0AB86800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§7.1-7.2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519B862-CBF4-4D6E-87BD-B8B04449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  <p:sp>
        <p:nvSpPr>
          <p:cNvPr id="8" name="box-Canonical Event">
            <a:extLst xmlns:a="http://schemas.openxmlformats.org/drawingml/2006/main">
              <a:ext uri="{FF2B5EF4-FFF2-40B4-BE49-F238E27FC236}">
                <a16:creationId xmlns:a16="http://schemas.microsoft.com/office/drawing/2014/main" id="{2D5C0FF1-C58F-4466-A5A1-55509705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Canonical Event-accent">
            <a:extLst xmlns:a="http://schemas.openxmlformats.org/drawingml/2006/main">
              <a:ext uri="{FF2B5EF4-FFF2-40B4-BE49-F238E27FC236}">
                <a16:creationId xmlns:a16="http://schemas.microsoft.com/office/drawing/2014/main" id="{5AF9771C-9ED3-4AA0-B7AF-919A6A41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D2729-3DED-4388-BFC5-ED2BF15B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2076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Canonical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6B2B8-F8BF-476A-A275-85C63397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全ソースを統一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08AB0-D457-4818-A030-B7E1FDF9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66938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3" name="box-Extraction Agent">
            <a:extLst xmlns:a="http://schemas.openxmlformats.org/drawingml/2006/main">
              <a:ext uri="{FF2B5EF4-FFF2-40B4-BE49-F238E27FC236}">
                <a16:creationId xmlns:a16="http://schemas.microsoft.com/office/drawing/2014/main" id="{7EF7C601-574A-40DF-A8B6-498DA0DB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Extraction Agent-accent">
            <a:extLst xmlns:a="http://schemas.openxmlformats.org/drawingml/2006/main">
              <a:ext uri="{FF2B5EF4-FFF2-40B4-BE49-F238E27FC236}">
                <a16:creationId xmlns:a16="http://schemas.microsoft.com/office/drawing/2014/main" id="{1CEFF04C-93DD-45C6-8157-26AD96CB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3EE0F-C255-4EB4-8D6E-73E0540B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81200"/>
            <a:ext cx="2076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Extraction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EDC88-A34C-43AE-9D40-20FC8CA8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9077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entity / relation抽出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16CE2-4305-46E8-8902-165FBD54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66938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8" name="box-Staging Graph">
            <a:extLst xmlns:a="http://schemas.openxmlformats.org/drawingml/2006/main">
              <a:ext uri="{FF2B5EF4-FFF2-40B4-BE49-F238E27FC236}">
                <a16:creationId xmlns:a16="http://schemas.microsoft.com/office/drawing/2014/main" id="{294D8113-09F1-4E88-ABAD-1B63B927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19" name="Staging Graph-accent">
            <a:extLst xmlns:a="http://schemas.openxmlformats.org/drawingml/2006/main">
              <a:ext uri="{FF2B5EF4-FFF2-40B4-BE49-F238E27FC236}">
                <a16:creationId xmlns:a16="http://schemas.microsoft.com/office/drawing/2014/main" id="{2A8FCA68-F775-4C8A-B63E-8D607731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B0A2F-E525-4B58-8F9E-02D94DD5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2076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Staging Graph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0B261-4A75-4F44-B92B-E2CB4546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9077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confidence / provenance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1E093-75E0-4802-9A24-A2A07DCA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66938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3" name="box-Committed Graph">
            <a:extLst xmlns:a="http://schemas.openxmlformats.org/drawingml/2006/main">
              <a:ext uri="{FF2B5EF4-FFF2-40B4-BE49-F238E27FC236}">
                <a16:creationId xmlns:a16="http://schemas.microsoft.com/office/drawing/2014/main" id="{3A034AC6-AD88-4A97-B6A8-E5B63C6B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4" name="Committed Graph-accent">
            <a:extLst xmlns:a="http://schemas.openxmlformats.org/drawingml/2006/main">
              <a:ext uri="{FF2B5EF4-FFF2-40B4-BE49-F238E27FC236}">
                <a16:creationId xmlns:a16="http://schemas.microsoft.com/office/drawing/2014/main" id="{1FF9E8B0-85A9-416A-A37D-3684D183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83CCE-DC7E-4CA8-B900-028CA945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81200"/>
            <a:ext cx="2076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Committed Graph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CF63A-B43F-4405-A6DF-48DC5385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9077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確定事実 + 時系列</a:t>
            </a:r>
          </a:p>
        </p:txBody>
      </p:sp>
      <p:sp>
        <p:nvSpPr>
          <p:cNvPr id="27" name="box-継続 ingestion">
            <a:extLst xmlns:a="http://schemas.openxmlformats.org/drawingml/2006/main">
              <a:ext uri="{FF2B5EF4-FFF2-40B4-BE49-F238E27FC236}">
                <a16:creationId xmlns:a16="http://schemas.microsoft.com/office/drawing/2014/main" id="{08CC485B-D62C-4D59-80B2-974F747B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23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継続 ingestion-accent">
            <a:extLst xmlns:a="http://schemas.openxmlformats.org/drawingml/2006/main">
              <a:ext uri="{FF2B5EF4-FFF2-40B4-BE49-F238E27FC236}">
                <a16:creationId xmlns:a16="http://schemas.microsoft.com/office/drawing/2014/main" id="{4B28B7AE-0C34-47CD-9B4F-32D04B07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16746F-BA20-4B92-B297-322C2D01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933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継続 ingestion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C87948-3A6A-4557-ACE8-D6C49F57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イベントごとにExtraction</a:t>
            </a:r>
          </a:p>
        </p:txBody>
      </p:sp>
      <p:sp>
        <p:nvSpPr>
          <p:cNvPr id="31" name="box-矛盾検出">
            <a:extLst xmlns:a="http://schemas.openxmlformats.org/drawingml/2006/main">
              <a:ext uri="{FF2B5EF4-FFF2-40B4-BE49-F238E27FC236}">
                <a16:creationId xmlns:a16="http://schemas.microsoft.com/office/drawing/2014/main" id="{54D226B4-CB24-482B-90E0-B56CE43F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323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矛盾検出-accent">
            <a:extLst xmlns:a="http://schemas.openxmlformats.org/drawingml/2006/main">
              <a:ext uri="{FF2B5EF4-FFF2-40B4-BE49-F238E27FC236}">
                <a16:creationId xmlns:a16="http://schemas.microsoft.com/office/drawing/2014/main" id="{CC99F4D1-0F91-4D50-816B-08710B16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2885F6-9F8D-4216-A794-C0695FFA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2933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矛盾検出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4B4809-E175-41AF-ACAF-06980CDA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Human Reviewへroute</a:t>
            </a:r>
          </a:p>
        </p:txBody>
      </p:sp>
      <p:sp>
        <p:nvSpPr>
          <p:cNvPr id="35" name="box-時系列管理">
            <a:extLst xmlns:a="http://schemas.openxmlformats.org/drawingml/2006/main">
              <a:ext uri="{FF2B5EF4-FFF2-40B4-BE49-F238E27FC236}">
                <a16:creationId xmlns:a16="http://schemas.microsoft.com/office/drawing/2014/main" id="{328BF609-C557-4810-A247-8B174DF6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323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時系列管理-accent">
            <a:extLst xmlns:a="http://schemas.openxmlformats.org/drawingml/2006/main">
              <a:ext uri="{FF2B5EF4-FFF2-40B4-BE49-F238E27FC236}">
                <a16:creationId xmlns:a16="http://schemas.microsoft.com/office/drawing/2014/main" id="{64CA38CC-35E0-413D-8FAB-30CF9061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6CAD1E-C2AB-4C89-A801-8CA102A2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00450"/>
            <a:ext cx="2933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時系列管理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A01DC2-A416-4D54-A6DF-753C32EF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4810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valid_from / valid_until</a:t>
            </a:r>
          </a:p>
        </p:txBody>
      </p:sp>
      <p:sp>
        <p:nvSpPr>
          <p:cNvPr id="39" name="box-再 extraction">
            <a:extLst xmlns:a="http://schemas.openxmlformats.org/drawingml/2006/main">
              <a:ext uri="{FF2B5EF4-FFF2-40B4-BE49-F238E27FC236}">
                <a16:creationId xmlns:a16="http://schemas.microsoft.com/office/drawing/2014/main" id="{202DCF70-3B8E-4058-AD94-26515186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509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再 extraction-accent">
            <a:extLst xmlns:a="http://schemas.openxmlformats.org/drawingml/2006/main">
              <a:ext uri="{FF2B5EF4-FFF2-40B4-BE49-F238E27FC236}">
                <a16:creationId xmlns:a16="http://schemas.microsoft.com/office/drawing/2014/main" id="{6981886D-50F1-4614-BB8C-F64FA08D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CBDD98-BDBF-4073-91C5-7E1497D2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再 extraction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765169-AA14-4452-B29F-88508069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479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改善Agentで過去を再走</a:t>
            </a:r>
          </a:p>
        </p:txBody>
      </p:sp>
      <p:sp>
        <p:nvSpPr>
          <p:cNvPr id="43" name="box-クロスドメイン">
            <a:extLst xmlns:a="http://schemas.openxmlformats.org/drawingml/2006/main">
              <a:ext uri="{FF2B5EF4-FFF2-40B4-BE49-F238E27FC236}">
                <a16:creationId xmlns:a16="http://schemas.microsoft.com/office/drawing/2014/main" id="{3E7548E5-2A12-4FE5-8378-28C9E7B0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29125"/>
            <a:ext cx="509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クロスドメイン-accent">
            <a:extLst xmlns:a="http://schemas.openxmlformats.org/drawingml/2006/main">
              <a:ext uri="{FF2B5EF4-FFF2-40B4-BE49-F238E27FC236}">
                <a16:creationId xmlns:a16="http://schemas.microsoft.com/office/drawing/2014/main" id="{A6358E3A-BC5F-400D-930A-45D89509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291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D1F8E0-99DB-481D-B161-7C719007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00575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クロスドメイン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88CC3B-8A5C-4577-96E3-1E1613CF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848225"/>
            <a:ext cx="479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Pack間リンクを生成</a:t>
            </a:r>
          </a:p>
        </p:txBody>
      </p:sp>
    </p:spTree>
    <p:extLst>
      <p:ext uri="{BB962C8B-B14F-4D97-AF65-F5344CB8AC3E}">
        <p14:creationId xmlns:p14="http://schemas.microsoft.com/office/powerpoint/2010/main" val="367122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5F70D04-9339-4738-8B71-087C72D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A763294-3406-47A3-876C-750F6257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4DF2E1A-BB75-459F-99B2-6AA92137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COMPOUNDING MOAT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46EDA35-E9F2-4226-8543-F926B8CE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より良いモデルと、より良いGraphが、互いを強化する。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B75E17-0323-4B06-9DB4-550CF140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FAB32AE-FCAC-4279-8E95-51B7CA46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§7.3-7.5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4E37EF9-46D7-4C89-B961-F9EF7C1F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17</a:t>
            </a:r>
          </a:p>
        </p:txBody>
      </p:sp>
      <p:sp>
        <p:nvSpPr>
          <p:cNvPr id="8" name="rl-loop">
            <a:extLst xmlns:a="http://schemas.openxmlformats.org/drawingml/2006/main">
              <a:ext uri="{FF2B5EF4-FFF2-40B4-BE49-F238E27FC236}">
                <a16:creationId xmlns:a16="http://schemas.microsoft.com/office/drawing/2014/main" id="{24A8C64B-9B40-48A3-8423-87EE3E0E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90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57800-0CE8-4768-92CB-154E9FB0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RL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5FA72-DD9F-4A4F-B627-5FA1EF23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Extraction Agentが改善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提案精度が上がる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Outcomeが改善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Rewardが強くなる</a:t>
            </a:r>
          </a:p>
        </p:txBody>
      </p:sp>
      <p:sp>
        <p:nvSpPr>
          <p:cNvPr id="11" name="graph-loop">
            <a:extLst xmlns:a="http://schemas.openxmlformats.org/drawingml/2006/main">
              <a:ext uri="{FF2B5EF4-FFF2-40B4-BE49-F238E27FC236}">
                <a16:creationId xmlns:a16="http://schemas.microsoft.com/office/drawing/2014/main" id="{46CB38AF-163D-4B55-B81D-6AEC5FD9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90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2FEE1-AD33-4103-9EC0-D18224EB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KNOWLEDGE 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4F1C0-2ED3-4570-8D43-BF3B928B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14625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抽出精度が上がる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Graph品質が上がる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良いContextを渡す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提案精度が上がる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A9A4E-34DA-4434-A00B-CD68505D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↔</a:t>
            </a:r>
          </a:p>
        </p:txBody>
      </p:sp>
      <p:sp>
        <p:nvSpPr>
          <p:cNvPr id="15" name="tag-precision / recall">
            <a:extLst xmlns:a="http://schemas.openxmlformats.org/drawingml/2006/main">
              <a:ext uri="{FF2B5EF4-FFF2-40B4-BE49-F238E27FC236}">
                <a16:creationId xmlns:a16="http://schemas.microsoft.com/office/drawing/2014/main" id="{E14DE4C1-E8C9-4763-8FCB-978C90CD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51649-F98A-4DB1-8219-6F927BF6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800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precision / recall</a:t>
            </a:r>
          </a:p>
        </p:txBody>
      </p:sp>
      <p:sp>
        <p:nvSpPr>
          <p:cNvPr id="17" name="tag-confidence calibration">
            <a:extLst xmlns:a="http://schemas.openxmlformats.org/drawingml/2006/main">
              <a:ext uri="{FF2B5EF4-FFF2-40B4-BE49-F238E27FC236}">
                <a16:creationId xmlns:a16="http://schemas.microsoft.com/office/drawing/2014/main" id="{099C2FB0-EE67-45D2-9258-7CC08AEE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33400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F1F1D-272E-4921-AA22-2860B082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343525"/>
            <a:ext cx="1800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confidence calibration</a:t>
            </a:r>
          </a:p>
        </p:txBody>
      </p:sp>
      <p:sp>
        <p:nvSpPr>
          <p:cNvPr id="19" name="tag-provenance coverage">
            <a:extLst xmlns:a="http://schemas.openxmlformats.org/drawingml/2006/main">
              <a:ext uri="{FF2B5EF4-FFF2-40B4-BE49-F238E27FC236}">
                <a16:creationId xmlns:a16="http://schemas.microsoft.com/office/drawing/2014/main" id="{BF20E1EB-B004-41C0-9005-70BAFDC0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5A79E-7FC5-4C8F-8D85-1D125447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43525"/>
            <a:ext cx="1800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provenance coverage</a:t>
            </a:r>
          </a:p>
        </p:txBody>
      </p:sp>
      <p:sp>
        <p:nvSpPr>
          <p:cNvPr id="21" name="tag-staleness rate">
            <a:extLst xmlns:a="http://schemas.openxmlformats.org/drawingml/2006/main">
              <a:ext uri="{FF2B5EF4-FFF2-40B4-BE49-F238E27FC236}">
                <a16:creationId xmlns:a16="http://schemas.microsoft.com/office/drawing/2014/main" id="{B074F95C-9D6C-4323-9CA5-5AD83521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3400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B1F73-85D2-4857-9EB0-658A8044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343525"/>
            <a:ext cx="1800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staleness rate</a:t>
            </a:r>
          </a:p>
        </p:txBody>
      </p:sp>
      <p:sp>
        <p:nvSpPr>
          <p:cNvPr id="23" name="tag-cross-domain density">
            <a:extLst xmlns:a="http://schemas.openxmlformats.org/drawingml/2006/main">
              <a:ext uri="{FF2B5EF4-FFF2-40B4-BE49-F238E27FC236}">
                <a16:creationId xmlns:a16="http://schemas.microsoft.com/office/drawing/2014/main" id="{4B8D8488-19A6-494F-A8B2-3B310039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3400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2DBE7-DE10-464B-812C-F9B9E3CC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43525"/>
            <a:ext cx="1800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cross-domain density</a:t>
            </a:r>
          </a:p>
        </p:txBody>
      </p:sp>
    </p:spTree>
    <p:extLst>
      <p:ext uri="{BB962C8B-B14F-4D97-AF65-F5344CB8AC3E}">
        <p14:creationId xmlns:p14="http://schemas.microsoft.com/office/powerpoint/2010/main" val="125415914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F815E31-8352-448B-897B-4651F45D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3347FB8-44B5-49CA-A95B-8F2B29F1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6D31B82-1FBB-4026-A247-E049E73E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INDUSTRY PACK PORTFOLIO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24899F7-CA22-4CB8-8E73-B2F22A70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一つのCore Platformが、6つの規制産業へ横展開する。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D288F29-492A-4016-922D-943CDB02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3754237-1A1B-46F0-A9B9-542141E3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§8.0 and §8.7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F0625B2-ADAB-4B1D-A5BC-57A41438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18</a:t>
            </a:r>
          </a:p>
        </p:txBody>
      </p:sp>
      <p:sp>
        <p:nvSpPr>
          <p:cNvPr id="8" name="portfolio-金融">
            <a:extLst xmlns:a="http://schemas.openxmlformats.org/drawingml/2006/main">
              <a:ext uri="{FF2B5EF4-FFF2-40B4-BE49-F238E27FC236}">
                <a16:creationId xmlns:a16="http://schemas.microsoft.com/office/drawing/2014/main" id="{1615F868-0EE5-4573-AC8D-70C4D7AD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38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portfolio-金融-accent">
            <a:extLst xmlns:a="http://schemas.openxmlformats.org/drawingml/2006/main">
              <a:ext uri="{FF2B5EF4-FFF2-40B4-BE49-F238E27FC236}">
                <a16:creationId xmlns:a16="http://schemas.microsoft.com/office/drawing/2014/main" id="{339CA2A9-7DD5-40A1-81C1-878D7BB3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15232-542A-47B8-9678-8A11972E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金融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8FFF0-C68F-416A-86C6-A6CAFD68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Wedge　AML調査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8066B-F72E-4503-B2F8-90AB6EAE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Infra　 VPC / On-Prem</a:t>
            </a:r>
          </a:p>
        </p:txBody>
      </p:sp>
      <p:sp>
        <p:nvSpPr>
          <p:cNvPr id="13" name="tag-L3: 取引監視">
            <a:extLst xmlns:a="http://schemas.openxmlformats.org/drawingml/2006/main">
              <a:ext uri="{FF2B5EF4-FFF2-40B4-BE49-F238E27FC236}">
                <a16:creationId xmlns:a16="http://schemas.microsoft.com/office/drawing/2014/main" id="{48B0CEF3-D459-4A0D-9045-100F8988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56DFD-66F1-4F58-934D-FFEADFD8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1752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L3: 取引監視</a:t>
            </a:r>
          </a:p>
        </p:txBody>
      </p:sp>
      <p:sp>
        <p:nvSpPr>
          <p:cNvPr id="15" name="portfolio-製造">
            <a:extLst xmlns:a="http://schemas.openxmlformats.org/drawingml/2006/main">
              <a:ext uri="{FF2B5EF4-FFF2-40B4-BE49-F238E27FC236}">
                <a16:creationId xmlns:a16="http://schemas.microsoft.com/office/drawing/2014/main" id="{51F8F814-5482-4C67-AEB6-994EA7FF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238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portfolio-製造-accent">
            <a:extLst xmlns:a="http://schemas.openxmlformats.org/drawingml/2006/main">
              <a:ext uri="{FF2B5EF4-FFF2-40B4-BE49-F238E27FC236}">
                <a16:creationId xmlns:a16="http://schemas.microsoft.com/office/drawing/2014/main" id="{A3787801-764C-4527-8F3E-89CB063A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9E6A6-89AC-4D7E-96A7-6B4DE028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05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製造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9C7EA-D9F9-4AB3-9AC4-E9035A1E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145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Wedge　異常検知→点検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7D048-BA6D-419B-8FFF-92AE825A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Infra　 Edge + On-Prem</a:t>
            </a:r>
          </a:p>
        </p:txBody>
      </p:sp>
      <p:sp>
        <p:nvSpPr>
          <p:cNvPr id="20" name="tag-L3: 品質チェック">
            <a:extLst xmlns:a="http://schemas.openxmlformats.org/drawingml/2006/main">
              <a:ext uri="{FF2B5EF4-FFF2-40B4-BE49-F238E27FC236}">
                <a16:creationId xmlns:a16="http://schemas.microsoft.com/office/drawing/2014/main" id="{0BA22AA4-3F06-4846-A800-27A33BA5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718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FB123-6E8A-4ACC-BF34-638BACDF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81325"/>
            <a:ext cx="1752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L3: 品質チェック</a:t>
            </a:r>
          </a:p>
        </p:txBody>
      </p:sp>
      <p:sp>
        <p:nvSpPr>
          <p:cNvPr id="22" name="portfolio-医療">
            <a:extLst xmlns:a="http://schemas.openxmlformats.org/drawingml/2006/main">
              <a:ext uri="{FF2B5EF4-FFF2-40B4-BE49-F238E27FC236}">
                <a16:creationId xmlns:a16="http://schemas.microsoft.com/office/drawing/2014/main" id="{720E80A5-1220-48E5-B2ED-718234D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238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portfolio-医療-accent">
            <a:extLst xmlns:a="http://schemas.openxmlformats.org/drawingml/2006/main">
              <a:ext uri="{FF2B5EF4-FFF2-40B4-BE49-F238E27FC236}">
                <a16:creationId xmlns:a16="http://schemas.microsoft.com/office/drawing/2014/main" id="{7DAF3D3D-349E-42E2-96A8-02D7FDF7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67694-9CE3-48CF-B066-3F20E5D2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05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医療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1EEDA-A473-4E92-98E5-B766F13E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145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Wedge　診療記録支援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783925-FF39-444C-A03A-9F7F6CBB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Infra　 On-Prem必須</a:t>
            </a:r>
          </a:p>
        </p:txBody>
      </p:sp>
      <p:sp>
        <p:nvSpPr>
          <p:cNvPr id="27" name="tag-L0: 診断判断">
            <a:extLst xmlns:a="http://schemas.openxmlformats.org/drawingml/2006/main">
              <a:ext uri="{FF2B5EF4-FFF2-40B4-BE49-F238E27FC236}">
                <a16:creationId xmlns:a16="http://schemas.microsoft.com/office/drawing/2014/main" id="{4EEA03DA-75AC-4241-9D51-C8C62F8A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718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CD75B-E765-433F-B825-106ABFCA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81325"/>
            <a:ext cx="1752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L0: 診断判断</a:t>
            </a:r>
          </a:p>
        </p:txBody>
      </p:sp>
      <p:sp>
        <p:nvSpPr>
          <p:cNvPr id="29" name="portfolio-自動運転">
            <a:extLst xmlns:a="http://schemas.openxmlformats.org/drawingml/2006/main">
              <a:ext uri="{FF2B5EF4-FFF2-40B4-BE49-F238E27FC236}">
                <a16:creationId xmlns:a16="http://schemas.microsoft.com/office/drawing/2014/main" id="{B182F8A1-63F8-4F0F-AF1B-BE23293C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238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portfolio-自動運転-accent">
            <a:extLst xmlns:a="http://schemas.openxmlformats.org/drawingml/2006/main">
              <a:ext uri="{FF2B5EF4-FFF2-40B4-BE49-F238E27FC236}">
                <a16:creationId xmlns:a16="http://schemas.microsoft.com/office/drawing/2014/main" id="{B5FD7F54-5188-45C6-9E8E-40D18FD7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F619AB-3D94-40DB-9D3A-93189D43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自動運転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44CBFC-7E40-4801-85DA-A7539831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Wedge　シナリオ評価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6CC0F2-B4DC-4713-A183-BD7E639D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Infra　 Training + Edge</a:t>
            </a:r>
          </a:p>
        </p:txBody>
      </p:sp>
      <p:sp>
        <p:nvSpPr>
          <p:cNvPr id="34" name="tag-L3: eval自動化">
            <a:extLst xmlns:a="http://schemas.openxmlformats.org/drawingml/2006/main">
              <a:ext uri="{FF2B5EF4-FFF2-40B4-BE49-F238E27FC236}">
                <a16:creationId xmlns:a16="http://schemas.microsoft.com/office/drawing/2014/main" id="{727537BE-8B76-4A3F-AF90-D9E6E2C5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9CBA2B-7179-4ADD-8A09-5BFBA770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1575"/>
            <a:ext cx="1752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L3: eval自動化</a:t>
            </a:r>
          </a:p>
        </p:txBody>
      </p:sp>
      <p:sp>
        <p:nvSpPr>
          <p:cNvPr id="36" name="portfolio-エネルギー">
            <a:extLst xmlns:a="http://schemas.openxmlformats.org/drawingml/2006/main">
              <a:ext uri="{FF2B5EF4-FFF2-40B4-BE49-F238E27FC236}">
                <a16:creationId xmlns:a16="http://schemas.microsoft.com/office/drawing/2014/main" id="{32A2E7A7-ABE3-43F8-84D0-62C3A762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3238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portfolio-エネルギー-accent">
            <a:extLst xmlns:a="http://schemas.openxmlformats.org/drawingml/2006/main">
              <a:ext uri="{FF2B5EF4-FFF2-40B4-BE49-F238E27FC236}">
                <a16:creationId xmlns:a16="http://schemas.microsoft.com/office/drawing/2014/main" id="{1A61246E-CC41-4552-948A-62D133EB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496FC0-D3CF-40D2-9D21-CF02AB3D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エネルギー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C3C149-A131-49E8-8A07-0F01B00A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148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Wedge　設備異常検知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64786C-65D2-4529-B032-2B080650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29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Infra　 Air-gapped / Edge</a:t>
            </a:r>
          </a:p>
        </p:txBody>
      </p:sp>
      <p:sp>
        <p:nvSpPr>
          <p:cNvPr id="41" name="tag-L3: 定常監視">
            <a:extLst xmlns:a="http://schemas.openxmlformats.org/drawingml/2006/main">
              <a:ext uri="{FF2B5EF4-FFF2-40B4-BE49-F238E27FC236}">
                <a16:creationId xmlns:a16="http://schemas.microsoft.com/office/drawing/2014/main" id="{AF4890EA-B580-43B4-94C7-E8CAE1AC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9D8626-6166-4DD0-B1F1-7A73FE4F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81575"/>
            <a:ext cx="1752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L3: 定常監視</a:t>
            </a:r>
          </a:p>
        </p:txBody>
      </p:sp>
      <p:sp>
        <p:nvSpPr>
          <p:cNvPr id="43" name="portfolio-公共 / 防衛">
            <a:extLst xmlns:a="http://schemas.openxmlformats.org/drawingml/2006/main">
              <a:ext uri="{FF2B5EF4-FFF2-40B4-BE49-F238E27FC236}">
                <a16:creationId xmlns:a16="http://schemas.microsoft.com/office/drawing/2014/main" id="{4A24EC4F-4B9B-46C8-A7CF-71EF591A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3238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portfolio-公共 / 防衛-accent">
            <a:extLst xmlns:a="http://schemas.openxmlformats.org/drawingml/2006/main">
              <a:ext uri="{FF2B5EF4-FFF2-40B4-BE49-F238E27FC236}">
                <a16:creationId xmlns:a16="http://schemas.microsoft.com/office/drawing/2014/main" id="{A20B9F4D-8463-4853-95EB-693EE3D4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9E5892-5F38-47B2-A1A8-C809574B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05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公共 / 防衛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BF2DE5-00B3-432A-8E42-11FDBDF4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148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Wedge　文書分類・処理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0B64CB-6BC7-4CDA-ABC4-A921B199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29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Infra　 Air-gapped必須</a:t>
            </a:r>
          </a:p>
        </p:txBody>
      </p:sp>
      <p:sp>
        <p:nvSpPr>
          <p:cNvPr id="48" name="tag-L0: 最終命令">
            <a:extLst xmlns:a="http://schemas.openxmlformats.org/drawingml/2006/main">
              <a:ext uri="{FF2B5EF4-FFF2-40B4-BE49-F238E27FC236}">
                <a16:creationId xmlns:a16="http://schemas.microsoft.com/office/drawing/2014/main" id="{FAC2DD9E-B494-4ECB-8C43-8A893FF1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72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C4E473-F185-470B-A965-2B9DFE40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81575"/>
            <a:ext cx="1752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L0: 最終命令</a:t>
            </a:r>
          </a:p>
        </p:txBody>
      </p:sp>
    </p:spTree>
    <p:extLst>
      <p:ext uri="{BB962C8B-B14F-4D97-AF65-F5344CB8AC3E}">
        <p14:creationId xmlns:p14="http://schemas.microsoft.com/office/powerpoint/2010/main" val="7217346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47DDB2D-B4A5-4CF7-8D10-67CCEE44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6DE9A4C-1EAC-4675-9768-B626B359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FE7DE7-99A5-451F-9A83-C54A3404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INDUSTRY DETAILS · FINANCE &amp; MANUFACTURING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E2CF064-892F-4180-8E7C-C6B2074F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最初の自動化領域と、人間が残す判断を明確に分ける。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4B240DF-8ED5-4D74-AB90-DC6E4045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A2511F7-12A1-4FD0-A82F-D8C4487D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§8.1-8.2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EBB27CD-8828-46D1-9816-D05A5D16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19</a:t>
            </a:r>
          </a:p>
        </p:txBody>
      </p:sp>
      <p:sp>
        <p:nvSpPr>
          <p:cNvPr id="8" name="industry-金融 / FinTech">
            <a:extLst xmlns:a="http://schemas.openxmlformats.org/drawingml/2006/main">
              <a:ext uri="{FF2B5EF4-FFF2-40B4-BE49-F238E27FC236}">
                <a16:creationId xmlns:a16="http://schemas.microsoft.com/office/drawing/2014/main" id="{E376C026-0B4D-46C4-8B27-A02E5AC1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095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industry-金融 / FinTech-accent">
            <a:extLst xmlns:a="http://schemas.openxmlformats.org/drawingml/2006/main">
              <a:ext uri="{FF2B5EF4-FFF2-40B4-BE49-F238E27FC236}">
                <a16:creationId xmlns:a16="http://schemas.microsoft.com/office/drawing/2014/main" id="{38C80D13-1BF8-4C13-A04B-61FD1AC8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09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E4A39-91C6-4738-A99D-D8F9C09F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4752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金融 / FinTech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152F4-F55C-4471-A22D-60FEE00D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最初の Wedge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36E05-E57F-4CAF-8ACA-B2047055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AML調査自動化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8C910-BE14-4BF4-8C42-16119B46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Infrastructure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EB451-D90A-4AFF-80DA-1E1DB796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4752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Customer VPC / On-Prem + KMS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00255-0D91-4760-9250-7C0131E0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47529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規制: FATF / Basel / J-SOX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Schema: Transaction / Account / Alert / Report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Flow: AML調査 → STR作成 → 承認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Eval: precision / recall / false positive / audit</a:t>
            </a:r>
          </a:p>
        </p:txBody>
      </p:sp>
      <p:sp>
        <p:nvSpPr>
          <p:cNvPr id="16" name="tag-定型監視 L3">
            <a:extLst xmlns:a="http://schemas.openxmlformats.org/drawingml/2006/main">
              <a:ext uri="{FF2B5EF4-FFF2-40B4-BE49-F238E27FC236}">
                <a16:creationId xmlns:a16="http://schemas.microsoft.com/office/drawing/2014/main" id="{3A752574-8BE0-43EB-A93B-BB689A05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1190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D1E99-1982-4E48-9618-F871D215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38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定型監視 L3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F80A29-BB77-4456-BCBF-BD2F934D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72075"/>
            <a:ext cx="4752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ROI仮説: 40h/月 → 8h/月</a:t>
            </a:r>
          </a:p>
        </p:txBody>
      </p:sp>
      <p:sp>
        <p:nvSpPr>
          <p:cNvPr id="19" name="industry-製造">
            <a:extLst xmlns:a="http://schemas.openxmlformats.org/drawingml/2006/main">
              <a:ext uri="{FF2B5EF4-FFF2-40B4-BE49-F238E27FC236}">
                <a16:creationId xmlns:a16="http://schemas.microsoft.com/office/drawing/2014/main" id="{B53D2B95-6AF3-42B5-806C-19C51B77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62125"/>
            <a:ext cx="5095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industry-製造-accent">
            <a:extLst xmlns:a="http://schemas.openxmlformats.org/drawingml/2006/main">
              <a:ext uri="{FF2B5EF4-FFF2-40B4-BE49-F238E27FC236}">
                <a16:creationId xmlns:a16="http://schemas.microsoft.com/office/drawing/2014/main" id="{5EB52E9C-E47A-4794-9D6E-DCC1ABCC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62125"/>
            <a:ext cx="509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D7B96-32CC-476F-A4C5-EB9E4DD8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33575"/>
            <a:ext cx="4752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製造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5B007-16E4-443B-955E-DEC4D02B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336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最初の Wedge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A05084-A64B-4D6D-B4BC-CE72514D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146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異常検知 → 点検起票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708F18-5623-43CB-9114-09D390F6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527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Infrastructure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C7760-457B-4455-9AAA-98B11972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33725"/>
            <a:ext cx="4752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Edge + On-Prem / Air-gap対応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7AB637-993F-4D40-B78C-51037E1A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90925"/>
            <a:ext cx="47529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規制: ISO 9001 / IATF / traceability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Schema: Equipment / Defect / WorkOrder / Incident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Flow: 異常 → 点検 → 修理 → 再稼働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Eval: 欠陥検出 / 停止率 / MTTR / 保全的中率</a:t>
            </a:r>
          </a:p>
        </p:txBody>
      </p:sp>
      <p:sp>
        <p:nvSpPr>
          <p:cNvPr id="27" name="tag-品質チェック L3">
            <a:extLst xmlns:a="http://schemas.openxmlformats.org/drawingml/2006/main">
              <a:ext uri="{FF2B5EF4-FFF2-40B4-BE49-F238E27FC236}">
                <a16:creationId xmlns:a16="http://schemas.microsoft.com/office/drawing/2014/main" id="{16BF9F80-63CB-4445-9135-3F778EC3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848225"/>
            <a:ext cx="1190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710BAB-9546-4283-AE08-49ED0BF4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57750"/>
            <a:ext cx="1038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品質チェック L3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F033A-5A52-497C-883D-D45E2C1D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172075"/>
            <a:ext cx="4752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ROI仮説: 検査工数60%減 / 停止30%減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2A13E3-0D32-4D0D-85DF-A1E5E8E7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67375"/>
            <a:ext cx="4619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主要評価: AML precision/recall・誤検知・監査証跡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8D9254-7102-4063-948D-624B8584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67375"/>
            <a:ext cx="4619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主要評価: 欠陥検出・停止率・MTTR・予知保全</a:t>
            </a:r>
          </a:p>
        </p:txBody>
      </p:sp>
    </p:spTree>
    <p:extLst>
      <p:ext uri="{BB962C8B-B14F-4D97-AF65-F5344CB8AC3E}">
        <p14:creationId xmlns:p14="http://schemas.microsoft.com/office/powerpoint/2010/main" val="111994959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E7098CD-7A26-4233-A4CD-AEC219E0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16DA226-E3F4-4552-80EA-9B2EBC0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E44C0E8-F293-4102-8CC0-88F70172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INDUSTRY DETAILS · HEALTHCARE &amp; AUTONOMOUS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0BB15EC-6D9B-4284-B0E3-48A93C2E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安全クリティカルな最終判断には入らず、周辺の重い共通基盤を握る。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8FC6768-88AF-4A67-A155-E84C0235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E54CE3F-755F-4C6C-A914-DEC2AAD7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§8.3-8.4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4AC756B-85AA-4414-9E22-0B4F9CD3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20</a:t>
            </a:r>
          </a:p>
        </p:txBody>
      </p:sp>
      <p:sp>
        <p:nvSpPr>
          <p:cNvPr id="8" name="industry-医療 / ヘルスケア">
            <a:extLst xmlns:a="http://schemas.openxmlformats.org/drawingml/2006/main">
              <a:ext uri="{FF2B5EF4-FFF2-40B4-BE49-F238E27FC236}">
                <a16:creationId xmlns:a16="http://schemas.microsoft.com/office/drawing/2014/main" id="{F97A4F82-F4E7-4D2F-A40E-5DF9D1A9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095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industry-医療 / ヘルスケア-accent">
            <a:extLst xmlns:a="http://schemas.openxmlformats.org/drawingml/2006/main">
              <a:ext uri="{FF2B5EF4-FFF2-40B4-BE49-F238E27FC236}">
                <a16:creationId xmlns:a16="http://schemas.microsoft.com/office/drawing/2014/main" id="{385E46CE-EB84-4D12-8CFE-44617AD7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09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C6B3A-C992-42FD-847F-7B1ACEAE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4752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医療 / ヘルスケア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EE7C3-3F99-4EE7-A215-6F9CE2B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最初の Wedge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39FEA-1DC6-41FE-8683-EA5FDA78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診療記録作成支援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5BD1A-C077-4BDE-9C2F-B0A836D0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Infrastructure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1E894-1D42-44FF-B9C9-DFB693F3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4752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On-Prem必須 / 監査ログ10年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B4E77-CC40-4493-A52E-3C6971B5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47529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規制: HIPAA / 個人情報 / 医師法 / 同意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Schema: Patient / Encounter / Diagnosis / Consent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Flow: 入退院 / 投薬確認 / triage / 診断support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Eval: 医師採用率 / 投薬error防止 / 文書時間</a:t>
            </a:r>
          </a:p>
        </p:txBody>
      </p:sp>
      <p:sp>
        <p:nvSpPr>
          <p:cNvPr id="16" name="tag-診断・投薬 L0">
            <a:extLst xmlns:a="http://schemas.openxmlformats.org/drawingml/2006/main">
              <a:ext uri="{FF2B5EF4-FFF2-40B4-BE49-F238E27FC236}">
                <a16:creationId xmlns:a16="http://schemas.microsoft.com/office/drawing/2014/main" id="{C7D15810-A180-412B-8FC6-6B4249CB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1190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EE694-E4A4-4CEB-A7E9-053F6004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38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診断・投薬 L0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1ABAE-4012-41D0-A664-B950211A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72075"/>
            <a:ext cx="4752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ROI仮説: 記録作成時間50%減</a:t>
            </a:r>
          </a:p>
        </p:txBody>
      </p:sp>
      <p:sp>
        <p:nvSpPr>
          <p:cNvPr id="19" name="industry-自動運転 / ロボティクス">
            <a:extLst xmlns:a="http://schemas.openxmlformats.org/drawingml/2006/main">
              <a:ext uri="{FF2B5EF4-FFF2-40B4-BE49-F238E27FC236}">
                <a16:creationId xmlns:a16="http://schemas.microsoft.com/office/drawing/2014/main" id="{29BA341E-170D-4FA6-A314-AC6FC5ED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62125"/>
            <a:ext cx="5095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industry-自動運転 / ロボティクス-accent">
            <a:extLst xmlns:a="http://schemas.openxmlformats.org/drawingml/2006/main">
              <a:ext uri="{FF2B5EF4-FFF2-40B4-BE49-F238E27FC236}">
                <a16:creationId xmlns:a16="http://schemas.microsoft.com/office/drawing/2014/main" id="{2ED02E85-9981-4F5B-9E06-05D379C0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62125"/>
            <a:ext cx="509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300D2B-2F3B-4424-AFDF-922F57E4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33575"/>
            <a:ext cx="4752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自動運転 / ロボティクス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71A07-21D3-4083-B82F-C4ADCE3C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336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最初の Wedge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0A68F-034B-41D1-A38A-A20D037C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146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シナリオ評価・データ管理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ED9A65-7DEA-41F6-B81C-50BAA434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527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Infrastructure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1E1F19-8B0E-477F-962F-12ECC369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33725"/>
            <a:ext cx="4752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Training Plane + Edge分離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86EF53-0F0F-4D37-8F8B-AFA17643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90925"/>
            <a:ext cx="47529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規制: ISO 26262 / SOTIF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Schema: Scenario / Dataset / TestRun / Release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Flow: 収集 → Label QA → Eval → リリース承認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Eval: pass rate / coverage / safety metric</a:t>
            </a:r>
          </a:p>
        </p:txBody>
      </p:sp>
      <p:sp>
        <p:nvSpPr>
          <p:cNvPr id="27" name="tag-eval自動化 L3">
            <a:extLst xmlns:a="http://schemas.openxmlformats.org/drawingml/2006/main">
              <a:ext uri="{FF2B5EF4-FFF2-40B4-BE49-F238E27FC236}">
                <a16:creationId xmlns:a16="http://schemas.microsoft.com/office/drawing/2014/main" id="{D03F9B5E-3F1B-4132-8B50-00238CC3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848225"/>
            <a:ext cx="1190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4037C-E2EE-4828-8233-A94546E1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57750"/>
            <a:ext cx="1038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eval自動化 L3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885F3-42A1-4779-9934-DE828E60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172075"/>
            <a:ext cx="4752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ROI仮説: 評価サイクル70%短縮</a:t>
            </a:r>
          </a:p>
        </p:txBody>
      </p:sp>
      <p:sp>
        <p:nvSpPr>
          <p:cNvPr id="30" name="scope-warning">
            <a:extLst xmlns:a="http://schemas.openxmlformats.org/drawingml/2006/main">
              <a:ext uri="{FF2B5EF4-FFF2-40B4-BE49-F238E27FC236}">
                <a16:creationId xmlns:a16="http://schemas.microsoft.com/office/drawing/2014/main" id="{13F65885-37B6-4421-B2FA-44F5466E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57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6EF00D-3C03-426E-8991-45D568C6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34050"/>
            <a:ext cx="1009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対象外: 医師の最終診断・投薬判断 / 車両のreal-time制御・安全判断</a:t>
            </a:r>
          </a:p>
        </p:txBody>
      </p:sp>
    </p:spTree>
    <p:extLst>
      <p:ext uri="{BB962C8B-B14F-4D97-AF65-F5344CB8AC3E}">
        <p14:creationId xmlns:p14="http://schemas.microsoft.com/office/powerpoint/2010/main" val="92353046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5894C16-ACD4-4AFA-BD38-A8E51C4A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CE97D8-F561-4757-967A-C73E5CF7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B2A4CA4-101F-43A6-9DC8-EAADE5F1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INDUSTRY DETAILS · ENERGY &amp; PUBLIC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178A437-4455-4FDE-BFB6-743AD161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隔離環境でも運用できることが、重要インフラと公共の参入条件になる。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C21EA39-26DD-427E-9D96-639AAA49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383BA4D-7A8D-4A47-9DDE-5C528500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§8.5-8.6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E573EEA-CFDC-4BEE-9B61-B422C4A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21</a:t>
            </a:r>
          </a:p>
        </p:txBody>
      </p:sp>
      <p:sp>
        <p:nvSpPr>
          <p:cNvPr id="8" name="industry-エネルギー / インフラ">
            <a:extLst xmlns:a="http://schemas.openxmlformats.org/drawingml/2006/main">
              <a:ext uri="{FF2B5EF4-FFF2-40B4-BE49-F238E27FC236}">
                <a16:creationId xmlns:a16="http://schemas.microsoft.com/office/drawing/2014/main" id="{360A4885-2722-4D74-9E4B-A770715C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095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industry-エネルギー / インフラ-accent">
            <a:extLst xmlns:a="http://schemas.openxmlformats.org/drawingml/2006/main">
              <a:ext uri="{FF2B5EF4-FFF2-40B4-BE49-F238E27FC236}">
                <a16:creationId xmlns:a16="http://schemas.microsoft.com/office/drawing/2014/main" id="{18D8731A-6862-497D-94B4-C921F636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09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69F7D-0D67-4AEF-A2D5-77E1A786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4752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エネルギー / インフラ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FB931-F01C-4D99-8893-9CF48161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最初の Wedge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3EFC7-A390-4B3F-ADE7-EFEA1B2F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設備異常検知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FB874-84A7-4360-B5C0-371FA0EF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Infrastructure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DB71D-FD3E-4DB4-9F2A-87B83310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4752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Air-gapped / On-Prem / 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E3F2B-9BB2-4564-AEA1-629B4B0C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47529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規制: 電気事業法 / NISC / 保安規制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Schema: Asset / Grid / Sensor / Incident / Forecast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Flow: 異常 → 保安確認 → 停止判断 → 復旧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Eval: 検知率 / 誤報 / 事前検知 / 報告精度</a:t>
            </a:r>
          </a:p>
        </p:txBody>
      </p:sp>
      <p:sp>
        <p:nvSpPr>
          <p:cNvPr id="16" name="tag-定常監視 L3">
            <a:extLst xmlns:a="http://schemas.openxmlformats.org/drawingml/2006/main">
              <a:ext uri="{FF2B5EF4-FFF2-40B4-BE49-F238E27FC236}">
                <a16:creationId xmlns:a16="http://schemas.microsoft.com/office/drawing/2014/main" id="{AE1A2A31-DAD5-47CB-8405-3C5080A8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1190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A82CE-6CDE-4DF2-9255-5A510E14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38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定常監視 L3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B5ED4-400F-4C6D-B43D-4E82AD46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72075"/>
            <a:ext cx="4752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ROI仮説: 点検40%減 / 停止25%減</a:t>
            </a:r>
          </a:p>
        </p:txBody>
      </p:sp>
      <p:sp>
        <p:nvSpPr>
          <p:cNvPr id="19" name="industry-公共 / 防衛">
            <a:extLst xmlns:a="http://schemas.openxmlformats.org/drawingml/2006/main">
              <a:ext uri="{FF2B5EF4-FFF2-40B4-BE49-F238E27FC236}">
                <a16:creationId xmlns:a16="http://schemas.microsoft.com/office/drawing/2014/main" id="{83BFABC6-C9D8-49DB-AA83-6A1C69AA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62125"/>
            <a:ext cx="5095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industry-公共 / 防衛-accent">
            <a:extLst xmlns:a="http://schemas.openxmlformats.org/drawingml/2006/main">
              <a:ext uri="{FF2B5EF4-FFF2-40B4-BE49-F238E27FC236}">
                <a16:creationId xmlns:a16="http://schemas.microsoft.com/office/drawing/2014/main" id="{B7D077F3-8072-4D5E-97FF-69B03377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62125"/>
            <a:ext cx="509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CFE4C-B77C-4AE8-8B4C-ED9293CE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33575"/>
            <a:ext cx="4752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公共 / 防衛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362136-3443-4E7E-B8EC-5EA0382B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336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最初の Wedge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E4F2E-C04E-4010-85C5-DCC590BF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146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行政文書分類・処理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266C8-193C-4F8C-91CA-A2A36228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527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Infrastructure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649CE0-635F-4AAF-814E-1EA7502D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33725"/>
            <a:ext cx="4752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Air-gapped / 物理分離 / disconnected update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C72D2B-9B1A-4C09-9B50-9B6BF422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90925"/>
            <a:ext cx="47529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規制: 特定秘密 / 行政情報 / command authority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Schema: Entity / Event / MissionTask / Authority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Flow: 文書処理 / 調達承認 / mission計画補助</a:t>
            </a:r>
          </a:p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Eval: 分類精度 / 漏洩risk / 処理時間 / audit</a:t>
            </a:r>
          </a:p>
        </p:txBody>
      </p:sp>
      <p:sp>
        <p:nvSpPr>
          <p:cNvPr id="27" name="tag-最終判断・命令 L0">
            <a:extLst xmlns:a="http://schemas.openxmlformats.org/drawingml/2006/main">
              <a:ext uri="{FF2B5EF4-FFF2-40B4-BE49-F238E27FC236}">
                <a16:creationId xmlns:a16="http://schemas.microsoft.com/office/drawing/2014/main" id="{3699498E-0B9F-44A4-94C9-80A67710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848225"/>
            <a:ext cx="1190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29BE38-7B2C-46E3-9F83-F4A70447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57750"/>
            <a:ext cx="1038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最終判断・命令 L0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14141-530C-4079-8A2E-8831ECE9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172075"/>
            <a:ext cx="4752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ROI仮説: 文書処理50%減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5E045A-7FF5-432A-BA61-A389BE85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共通要求: 厳格な権限・長期ログ・human command authority</a:t>
            </a:r>
          </a:p>
        </p:txBody>
      </p:sp>
    </p:spTree>
    <p:extLst>
      <p:ext uri="{BB962C8B-B14F-4D97-AF65-F5344CB8AC3E}">
        <p14:creationId xmlns:p14="http://schemas.microsoft.com/office/powerpoint/2010/main" val="93994306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54CA830-5C55-4E00-A34F-97E0A3BC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B860CB-B760-49E3-AC09-595CDDD4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B80F228-AE4E-4C7B-ABB5-0B9193C6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REPEAT ECONOMICS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F53B27E-EDD0-49D1-89A5-2C205275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Packカタログが育つほど、2本目以降の参入コストは急速に下がる。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9752D43-7147-43BD-BFB6-AC8C5707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12CE645-1FAD-484F-9833-CBDC7D47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§8.8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3833054-344A-43E7-A18A-B97A1358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69F4F-22AD-4ACC-AFA8-F6B863AA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1本目</a:t>
            </a:r>
          </a:p>
        </p:txBody>
      </p:sp>
      <p:sp>
        <p:nvSpPr>
          <p:cNvPr id="9" name="cost-track-0">
            <a:extLst xmlns:a="http://schemas.openxmlformats.org/drawingml/2006/main">
              <a:ext uri="{FF2B5EF4-FFF2-40B4-BE49-F238E27FC236}">
                <a16:creationId xmlns:a16="http://schemas.microsoft.com/office/drawing/2014/main" id="{7C1C2555-BAA9-48A0-9C22-EDE8960E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57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10" name="cost-bar-0">
            <a:extLst xmlns:a="http://schemas.openxmlformats.org/drawingml/2006/main">
              <a:ext uri="{FF2B5EF4-FFF2-40B4-BE49-F238E27FC236}">
                <a16:creationId xmlns:a16="http://schemas.microsoft.com/office/drawing/2014/main" id="{AFC54060-635E-4528-A88B-6C041A23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57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B391F-BDBA-4FC8-87E3-50C94B50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764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345CA-B6BE-46BC-92AD-F73D12EB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2本目</a:t>
            </a:r>
          </a:p>
        </p:txBody>
      </p:sp>
      <p:sp>
        <p:nvSpPr>
          <p:cNvPr id="13" name="cost-track-1">
            <a:extLst xmlns:a="http://schemas.openxmlformats.org/drawingml/2006/main">
              <a:ext uri="{FF2B5EF4-FFF2-40B4-BE49-F238E27FC236}">
                <a16:creationId xmlns:a16="http://schemas.microsoft.com/office/drawing/2014/main" id="{BCBAB316-A2D6-4B49-82A6-7F050F45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622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14" name="cost-bar-1">
            <a:extLst xmlns:a="http://schemas.openxmlformats.org/drawingml/2006/main">
              <a:ext uri="{FF2B5EF4-FFF2-40B4-BE49-F238E27FC236}">
                <a16:creationId xmlns:a16="http://schemas.microsoft.com/office/drawing/2014/main" id="{32DAC46B-19B1-4E68-9BEF-56350BD4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62250"/>
            <a:ext cx="2971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1A16C-3C39-4C58-AC1D-F3D3BEFB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8130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40%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26E4E-318E-4F43-B224-2599D21C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3本目以降</a:t>
            </a:r>
          </a:p>
        </p:txBody>
      </p:sp>
      <p:sp>
        <p:nvSpPr>
          <p:cNvPr id="17" name="cost-track-2">
            <a:extLst xmlns:a="http://schemas.openxmlformats.org/drawingml/2006/main">
              <a:ext uri="{FF2B5EF4-FFF2-40B4-BE49-F238E27FC236}">
                <a16:creationId xmlns:a16="http://schemas.microsoft.com/office/drawing/2014/main" id="{7F6E82D9-7F18-4F35-9D41-DC035FCD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6712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18" name="cost-bar-2">
            <a:extLst xmlns:a="http://schemas.openxmlformats.org/drawingml/2006/main">
              <a:ext uri="{FF2B5EF4-FFF2-40B4-BE49-F238E27FC236}">
                <a16:creationId xmlns:a16="http://schemas.microsoft.com/office/drawing/2014/main" id="{255B5C79-FFB4-4DB0-B98E-6BDA3236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67125"/>
            <a:ext cx="167163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6D0BE-2206-4298-BE2D-FA93DC75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8617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20-25%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EC936-D4EB-452A-A005-5688D93B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SIer 3本目</a:t>
            </a:r>
          </a:p>
        </p:txBody>
      </p:sp>
      <p:sp>
        <p:nvSpPr>
          <p:cNvPr id="21" name="cost-track-3">
            <a:extLst xmlns:a="http://schemas.openxmlformats.org/drawingml/2006/main">
              <a:ext uri="{FF2B5EF4-FFF2-40B4-BE49-F238E27FC236}">
                <a16:creationId xmlns:a16="http://schemas.microsoft.com/office/drawing/2014/main" id="{BEAC9A65-1868-4FEF-84FF-5D540684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7200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22" name="cost-bar-3">
            <a:extLst xmlns:a="http://schemas.openxmlformats.org/drawingml/2006/main">
              <a:ext uri="{FF2B5EF4-FFF2-40B4-BE49-F238E27FC236}">
                <a16:creationId xmlns:a16="http://schemas.microsoft.com/office/drawing/2014/main" id="{24A7206A-8941-4E1E-B4C2-EBCDD7B6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72000"/>
            <a:ext cx="668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170454-78F0-4813-AFB9-B2ADE7F0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910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80-100%</a:t>
            </a:r>
          </a:p>
        </p:txBody>
      </p:sp>
      <p:sp>
        <p:nvSpPr>
          <p:cNvPr id="24" name="economics-claim">
            <a:extLst xmlns:a="http://schemas.openxmlformats.org/drawingml/2006/main">
              <a:ext uri="{FF2B5EF4-FFF2-40B4-BE49-F238E27FC236}">
                <a16:creationId xmlns:a16="http://schemas.microsoft.com/office/drawing/2014/main" id="{C312818C-ACDE-466A-B53C-A7715B13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278AD7-7F92-41C9-BDA0-C5C6368A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76900"/>
            <a:ext cx="1038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Coreは流用し、Packだけを作る。スケーラビリティの本体は、製品ではなく反復学習にある。</a:t>
            </a:r>
          </a:p>
        </p:txBody>
      </p:sp>
    </p:spTree>
    <p:extLst>
      <p:ext uri="{BB962C8B-B14F-4D97-AF65-F5344CB8AC3E}">
        <p14:creationId xmlns:p14="http://schemas.microsoft.com/office/powerpoint/2010/main" val="176910279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80E9B1D-826B-45E4-952F-86789103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50CC7FB-AB0D-40C9-BBAF-C773DF3D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7D03B59-988E-4786-BC7A-0EE6C89A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COMPETITIVE POSITION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4FA6E62-7701-45E5-92F2-9A5D1C1A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KairosAIは、PrivateなDomain AI Factory Layerを埋める。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315BF40-3941-4244-82E3-57CBBD38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A62EEDD-92F6-4792-AA16-8F0F2E80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§10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8309B2A-47FB-4BFB-A7F2-341615D1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23</a:t>
            </a:r>
          </a:p>
        </p:txBody>
      </p:sp>
      <p:sp>
        <p:nvSpPr>
          <p:cNvPr id="8" name="x-axis">
            <a:extLst xmlns:a="http://schemas.openxmlformats.org/drawingml/2006/main">
              <a:ext uri="{FF2B5EF4-FFF2-40B4-BE49-F238E27FC236}">
                <a16:creationId xmlns:a16="http://schemas.microsoft.com/office/drawing/2014/main" id="{48CFAE3A-15DD-4781-ADD4-DB86FF34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9" name="y-axis">
            <a:extLst xmlns:a="http://schemas.openxmlformats.org/drawingml/2006/main">
              <a:ext uri="{FF2B5EF4-FFF2-40B4-BE49-F238E27FC236}">
                <a16:creationId xmlns:a16="http://schemas.microsoft.com/office/drawing/2014/main" id="{47F06EEF-C1CD-464E-9FE3-03BA1F7A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013CB-8433-4970-B397-34B740AD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67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Cloud / shared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5CA07-717A-4C64-87F6-F5EF037B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6673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Private / customer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BDDAA-D5AC-41EA-A62F-1D240BC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387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Analysis / 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F24D2-209D-4E01-BDC6-47599F8A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Action / workflow</a:t>
            </a:r>
          </a:p>
        </p:txBody>
      </p:sp>
      <p:sp>
        <p:nvSpPr>
          <p:cNvPr id="14" name="player-0">
            <a:extLst xmlns:a="http://schemas.openxmlformats.org/drawingml/2006/main">
              <a:ext uri="{FF2B5EF4-FFF2-40B4-BE49-F238E27FC236}">
                <a16:creationId xmlns:a16="http://schemas.microsoft.com/office/drawing/2014/main" id="{2E8BB242-CBB6-4165-9328-9394DCC1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82A6-C0AE-42D5-9CF1-D830C0A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72000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Microsoft / AWS / Google</a:t>
            </a:r>
          </a:p>
        </p:txBody>
      </p:sp>
      <p:sp>
        <p:nvSpPr>
          <p:cNvPr id="16" name="player-1">
            <a:extLst xmlns:a="http://schemas.openxmlformats.org/drawingml/2006/main">
              <a:ext uri="{FF2B5EF4-FFF2-40B4-BE49-F238E27FC236}">
                <a16:creationId xmlns:a16="http://schemas.microsoft.com/office/drawing/2014/main" id="{EADDE3AA-2230-4DCC-9761-464AA02B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0375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68ACD-20DB-46DA-A4A3-57CF2871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95625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Snowflake / Databricks</a:t>
            </a:r>
          </a:p>
        </p:txBody>
      </p:sp>
      <p:sp>
        <p:nvSpPr>
          <p:cNvPr id="18" name="player-2">
            <a:extLst xmlns:a="http://schemas.openxmlformats.org/drawingml/2006/main">
              <a:ext uri="{FF2B5EF4-FFF2-40B4-BE49-F238E27FC236}">
                <a16:creationId xmlns:a16="http://schemas.microsoft.com/office/drawing/2014/main" id="{52518AE8-F1A3-44D4-938F-1945FC87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5750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5A888-121B-4EF7-A61B-790A2C2A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52750"/>
            <a:ext cx="1390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ServiceNow</a:t>
            </a:r>
          </a:p>
        </p:txBody>
      </p:sp>
      <p:sp>
        <p:nvSpPr>
          <p:cNvPr id="20" name="player-3">
            <a:extLst xmlns:a="http://schemas.openxmlformats.org/drawingml/2006/main">
              <a:ext uri="{FF2B5EF4-FFF2-40B4-BE49-F238E27FC236}">
                <a16:creationId xmlns:a16="http://schemas.microsoft.com/office/drawing/2014/main" id="{56C09700-68B8-436A-B9DB-96BB2F15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20709-B892-45FE-8E6F-48CE6CD4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Palantir</a:t>
            </a:r>
          </a:p>
        </p:txBody>
      </p:sp>
      <p:sp>
        <p:nvSpPr>
          <p:cNvPr id="22" name="player-4">
            <a:extLst xmlns:a="http://schemas.openxmlformats.org/drawingml/2006/main">
              <a:ext uri="{FF2B5EF4-FFF2-40B4-BE49-F238E27FC236}">
                <a16:creationId xmlns:a16="http://schemas.microsoft.com/office/drawing/2014/main" id="{1925C267-5E2F-4712-B556-B6954859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52875"/>
            <a:ext cx="2667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D0867-78B7-474F-BDBE-00C422F3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48125"/>
            <a:ext cx="2438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KairosAI</a:t>
            </a:r>
          </a:p>
          <a:p xmlns:a="http://schemas.openxmlformats.org/drawingml/2006/main">
            <a:pPr algn="ctr">
              <a:def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Domain AI Factory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343BF-7899-43F0-87EA-CD008956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NVIDIA / Dell / HPE = partners</a:t>
            </a:r>
          </a:p>
        </p:txBody>
      </p:sp>
    </p:spTree>
    <p:extLst>
      <p:ext uri="{BB962C8B-B14F-4D97-AF65-F5344CB8AC3E}">
        <p14:creationId xmlns:p14="http://schemas.microsoft.com/office/powerpoint/2010/main" val="124908856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6831FF6-EB9D-4144-9B63-6376E917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0ADCC8-C901-4183-B04C-E6328A06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589F530-9F31-4721-98ED-5BA55D64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PALANTIR BATTLECARD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422DC98-2C9E-4904-91BF-E1473F9E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差は機能数ではなく、軽い入口と安全な拡張言語にある。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789CB6D-9A02-46FF-A79A-5882FE5B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47A2780-BEA0-4A21-B465-A47AAA02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§10 Palantir Battlecard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21CBFFD-1B4B-4C83-B4E9-C2E61DCA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24</a:t>
            </a:r>
          </a:p>
        </p:txBody>
      </p:sp>
      <p:sp>
        <p:nvSpPr>
          <p:cNvPr id="8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1FAEC5C2-84CC-4AA0-B5A6-36A97530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114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F8D84-DE69-445D-9DBC-C22C0AA5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4782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比較軸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00515-771D-497F-A755-8560CE2D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647825"/>
            <a:ext cx="394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Palantir Foundry / AIP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97AF6-05CA-49F7-9CA0-44B02E36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647825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KairosAI</a:t>
            </a:r>
          </a:p>
        </p:txBody>
      </p:sp>
      <p:sp>
        <p:nvSpPr>
          <p:cNvPr id="12" name="table-row-1">
            <a:extLst xmlns:a="http://schemas.openxmlformats.org/drawingml/2006/main">
              <a:ext uri="{FF2B5EF4-FFF2-40B4-BE49-F238E27FC236}">
                <a16:creationId xmlns:a16="http://schemas.microsoft.com/office/drawing/2014/main" id="{72DFFE57-4CC4-4496-888C-810F0F02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43100"/>
            <a:ext cx="11144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15DED-1609-4AFA-993A-25062511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95500"/>
            <a:ext cx="1943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導入速度・コスト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A815D-6299-4E06-9EA5-2EC0294A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95500"/>
            <a:ext cx="3943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全社ontology先行 / 6-18ヶ月 / $5-50M規模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B1597-D893-4DE1-8547-B4024EB5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95500"/>
            <a:ext cx="480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Domain Pack 1つ / 8-12週 / ROI後に拡大</a:t>
            </a:r>
          </a:p>
        </p:txBody>
      </p:sp>
      <p:sp>
        <p:nvSpPr>
          <p:cNvPr id="16" name="table-row-2">
            <a:extLst xmlns:a="http://schemas.openxmlformats.org/drawingml/2006/main">
              <a:ext uri="{FF2B5EF4-FFF2-40B4-BE49-F238E27FC236}">
                <a16:creationId xmlns:a16="http://schemas.microsoft.com/office/drawing/2014/main" id="{FB9485C0-798A-47A9-B5B8-A4AA0087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81275"/>
            <a:ext cx="11144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solidFill>
              <a:srgbClr val="EEE9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AC61C-239A-4B24-968E-F8BC4B1A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33675"/>
            <a:ext cx="1943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AI推測の管理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5F8EE-37D7-46F3-8B15-ACB0D8BE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33675"/>
            <a:ext cx="3943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AI出力の事実混入防止Staging層なし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BF86F-9551-4183-AEF1-C89C3716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33675"/>
            <a:ext cx="480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Staging Graphで推測と事実を分離</a:t>
            </a:r>
          </a:p>
        </p:txBody>
      </p:sp>
      <p:sp>
        <p:nvSpPr>
          <p:cNvPr id="20" name="table-row-3">
            <a:extLst xmlns:a="http://schemas.openxmlformats.org/drawingml/2006/main">
              <a:ext uri="{FF2B5EF4-FFF2-40B4-BE49-F238E27FC236}">
                <a16:creationId xmlns:a16="http://schemas.microsoft.com/office/drawing/2014/main" id="{51110AC0-6E25-4821-90BC-F26FEE65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19450"/>
            <a:ext cx="11144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20B6F-BE8E-4247-98A5-6EE8DDF4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71850"/>
            <a:ext cx="1943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自動化ガバナンス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8461F-1042-4975-9F4A-06780F5D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371850"/>
            <a:ext cx="3943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段階的自動化の共通言語なし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61397-2A63-4B8F-ADE6-AB3DB0A9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71850"/>
            <a:ext cx="480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Autonomy Tier L0-L3 + 定量条件</a:t>
            </a:r>
          </a:p>
        </p:txBody>
      </p:sp>
      <p:sp>
        <p:nvSpPr>
          <p:cNvPr id="24" name="table-row-4">
            <a:extLst xmlns:a="http://schemas.openxmlformats.org/drawingml/2006/main">
              <a:ext uri="{FF2B5EF4-FFF2-40B4-BE49-F238E27FC236}">
                <a16:creationId xmlns:a16="http://schemas.microsoft.com/office/drawing/2014/main" id="{5D7A6BAA-3864-4212-BEC6-D8C5BFFD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11144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solidFill>
              <a:srgbClr val="EEE9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43119-A191-4D0B-96E1-92583F9A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10025"/>
            <a:ext cx="1943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改善ループ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98953-2C18-4356-B9B3-F612819C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10025"/>
            <a:ext cx="3943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静的ontology前提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731E88-DC7B-4EC5-80B1-3F02C5E2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10025"/>
            <a:ext cx="480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Outcome → RL → Graph自己強化</a:t>
            </a:r>
          </a:p>
        </p:txBody>
      </p:sp>
      <p:sp>
        <p:nvSpPr>
          <p:cNvPr id="28" name="table-row-5">
            <a:extLst xmlns:a="http://schemas.openxmlformats.org/drawingml/2006/main">
              <a:ext uri="{FF2B5EF4-FFF2-40B4-BE49-F238E27FC236}">
                <a16:creationId xmlns:a16="http://schemas.microsoft.com/office/drawing/2014/main" id="{EA6BC022-03F4-42A8-800B-800F1A22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95800"/>
            <a:ext cx="11144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203E03-AAF1-4306-9E92-565018A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48200"/>
            <a:ext cx="1943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2本目以降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0C71A4-3D9F-459D-A740-E1DC5216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648200"/>
            <a:ext cx="3943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顧客ごとのカスタム構築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476FCB-CC5F-4CF5-915D-9B6DFEAF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48200"/>
            <a:ext cx="480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2本目40% / 3本目以降20-25%</a:t>
            </a:r>
          </a:p>
        </p:txBody>
      </p:sp>
      <p:sp>
        <p:nvSpPr>
          <p:cNvPr id="32" name="table-row-6">
            <a:extLst xmlns:a="http://schemas.openxmlformats.org/drawingml/2006/main">
              <a:ext uri="{FF2B5EF4-FFF2-40B4-BE49-F238E27FC236}">
                <a16:creationId xmlns:a16="http://schemas.microsoft.com/office/drawing/2014/main" id="{2374A531-667F-4656-B691-DECD09FC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33975"/>
            <a:ext cx="11144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solidFill>
              <a:srgbClr val="EEE9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D4F6A6-E9C3-4B64-B5AC-86D506A1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86375"/>
            <a:ext cx="1943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Japan / Private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6F01F9-2CFE-4739-B97A-C25DCE15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286375"/>
            <a:ext cx="3943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大型案件中心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B5EDA0-BFBB-4AF3-9A39-5B803452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86375"/>
            <a:ext cx="480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35" b="0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軽量入口 + 規制対応Factory</a:t>
            </a:r>
          </a:p>
        </p:txBody>
      </p:sp>
    </p:spTree>
    <p:extLst>
      <p:ext uri="{BB962C8B-B14F-4D97-AF65-F5344CB8AC3E}">
        <p14:creationId xmlns:p14="http://schemas.microsoft.com/office/powerpoint/2010/main" val="98827448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5D45F38-12DC-4A18-94E7-FB30ECAD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5166314-DB85-4F64-B710-A85B2DE1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8CEB08-8025-4289-A7ED-FF9530CC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WORKLOAD LEARNING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028E30A-60C6-4F39-98E1-3DB70E5F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将来のシリコン要件は、KairosAI固有の演算ボトルネックから決める。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67ED74F-59B8-4DAA-A665-7DD629F9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2AB0218-6435-4E1C-8385-02AEC40B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§5.3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7381FA4-135B-4F17-B8DA-9057A68F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25</a:t>
            </a:r>
          </a:p>
        </p:txBody>
      </p:sp>
      <p:sp>
        <p:nvSpPr>
          <p:cNvPr id="8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9BDA2268-3F36-4125-92D1-E022F747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CB269-572A-4159-82D4-7889343E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最適化対象演算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8E6EC-8319-4980-BA11-DF0E413A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38325"/>
            <a:ext cx="346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実ワークロードの特性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85D56-CA1C-4AA7-9CD9-5C779CF2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38325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将来の最適化方向</a:t>
            </a:r>
          </a:p>
        </p:txBody>
      </p:sp>
      <p:sp>
        <p:nvSpPr>
          <p:cNvPr id="12" name="table-row-1">
            <a:extLst xmlns:a="http://schemas.openxmlformats.org/drawingml/2006/main">
              <a:ext uri="{FF2B5EF4-FFF2-40B4-BE49-F238E27FC236}">
                <a16:creationId xmlns:a16="http://schemas.microsoft.com/office/drawing/2014/main" id="{62209101-73B8-4979-BFFF-672449BD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047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8F484-CB95-452E-8F1E-3C514D34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Knowledge Graph traversal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A0B30-2671-42C5-8A60-842AB9F7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8600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メモリ帯域律速 / 不規則アクセス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C482E-BAC9-45EB-935A-8E4E8256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86000"/>
            <a:ext cx="384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near-memory compute / HBM3+</a:t>
            </a:r>
          </a:p>
        </p:txBody>
      </p:sp>
      <p:sp>
        <p:nvSpPr>
          <p:cNvPr id="16" name="table-row-2">
            <a:extLst xmlns:a="http://schemas.openxmlformats.org/drawingml/2006/main">
              <a:ext uri="{FF2B5EF4-FFF2-40B4-BE49-F238E27FC236}">
                <a16:creationId xmlns:a16="http://schemas.microsoft.com/office/drawing/2014/main" id="{6E1B8C66-D1CF-4846-B62E-A34A35FB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47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6BAAC-770F-4136-8E15-201D02F9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Vector similarity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2CC0C-44FA-4A1C-AF87-1EAF53FD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6705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大量の内積演算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6C897-25E6-4D74-BB86-C5D866BE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384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専用SIMD / PIM</a:t>
            </a:r>
          </a:p>
        </p:txBody>
      </p:sp>
      <p:sp>
        <p:nvSpPr>
          <p:cNvPr id="20" name="table-row-3">
            <a:extLst xmlns:a="http://schemas.openxmlformats.org/drawingml/2006/main">
              <a:ext uri="{FF2B5EF4-FFF2-40B4-BE49-F238E27FC236}">
                <a16:creationId xmlns:a16="http://schemas.microsoft.com/office/drawing/2014/main" id="{F8D2F965-6FA9-46C3-A782-433CD63C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047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32980B-6A4B-48AE-88BF-E01C85CE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Policy 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C6844-AB41-497F-B337-7EB8720E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ルールベース / 低レイテンシ必須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380E2-6851-4E48-A45A-71A41DBB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48100"/>
            <a:ext cx="384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決定論的logic accelerator</a:t>
            </a:r>
          </a:p>
        </p:txBody>
      </p:sp>
      <p:sp>
        <p:nvSpPr>
          <p:cNvPr id="24" name="table-row-4">
            <a:extLst xmlns:a="http://schemas.openxmlformats.org/drawingml/2006/main">
              <a:ext uri="{FF2B5EF4-FFF2-40B4-BE49-F238E27FC236}">
                <a16:creationId xmlns:a16="http://schemas.microsoft.com/office/drawing/2014/main" id="{AED9E6A0-63D1-4023-97EE-6BAED36B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47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B5BBA0-F516-4DCE-A8DF-84ED6FA3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LoRA adapter switching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09B786-DB2D-4393-833E-F6382FF1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2915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多数の小さな重みを頻繁に切替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C27B3-2384-4FB5-8E6D-5298CC29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29150"/>
            <a:ext cx="384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on-chip adapter cache</a:t>
            </a:r>
          </a:p>
        </p:txBody>
      </p:sp>
      <p:sp>
        <p:nvSpPr>
          <p:cNvPr id="28" name="silicon-principle">
            <a:extLst xmlns:a="http://schemas.openxmlformats.org/drawingml/2006/main">
              <a:ext uri="{FF2B5EF4-FFF2-40B4-BE49-F238E27FC236}">
                <a16:creationId xmlns:a16="http://schemas.microsoft.com/office/drawing/2014/main" id="{D264E521-FD36-43AE-9AF5-BD3B5204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6F4B96-3DCE-4991-905E-AA1AAB3A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ASICの前に、実データで「何を速くするべきか」を学ぶ。</a:t>
            </a:r>
          </a:p>
        </p:txBody>
      </p:sp>
    </p:spTree>
    <p:extLst>
      <p:ext uri="{BB962C8B-B14F-4D97-AF65-F5344CB8AC3E}">
        <p14:creationId xmlns:p14="http://schemas.microsoft.com/office/powerpoint/2010/main" val="118041662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4F0E753-BB9E-49B7-BF66-E0C15629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E999F0-C78E-4AC3-9E22-99B0EFD4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D83B9B-180E-461C-B4DC-44D03D6B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HARDWARE LANE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5F5A95B-1C95-4F0A-A463-463DFB0F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NVIDIAで学び、選択肢を広げ、FPGAで検証してからASICへ進む。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820705A-7EFA-4C50-A8A6-99EB7586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6F048DE-CA19-4EFC-ADE7-189A4285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§9.1-9.3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2B8C6BF-A28C-4C9C-B1D8-B9B8B2F8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26</a:t>
            </a:r>
          </a:p>
        </p:txBody>
      </p:sp>
      <p:sp>
        <p:nvSpPr>
          <p:cNvPr id="8" name="hw-gen-0">
            <a:extLst xmlns:a="http://schemas.openxmlformats.org/drawingml/2006/main">
              <a:ext uri="{FF2B5EF4-FFF2-40B4-BE49-F238E27FC236}">
                <a16:creationId xmlns:a16="http://schemas.microsoft.com/office/drawing/2014/main" id="{6517C985-D22E-471A-B6CB-EDD98E95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81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0852D-AE24-4CBA-917A-22F3C2E2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世代 1-2</a:t>
            </a:r>
          </a:p>
        </p:txBody>
      </p:sp>
      <p:sp>
        <p:nvSpPr>
          <p:cNvPr id="10" name="tag-Phase 1">
            <a:extLst xmlns:a="http://schemas.openxmlformats.org/drawingml/2006/main">
              <a:ext uri="{FF2B5EF4-FFF2-40B4-BE49-F238E27FC236}">
                <a16:creationId xmlns:a16="http://schemas.microsoft.com/office/drawing/2014/main" id="{EDC51B3F-2310-4839-9845-397D2651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04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3FE1F-1926-4BD0-8A2F-B3C28D74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7524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Phase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CEEE1-202F-414B-9737-86D1E4B8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NVIDIA + OSS推論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9AC0A-E89A-4AD4-985E-F2CE5688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ボトルネックを実測</a:t>
            </a:r>
          </a:p>
        </p:txBody>
      </p:sp>
      <p:sp>
        <p:nvSpPr>
          <p:cNvPr id="14" name="hw-gen-1">
            <a:extLst xmlns:a="http://schemas.openxmlformats.org/drawingml/2006/main">
              <a:ext uri="{FF2B5EF4-FFF2-40B4-BE49-F238E27FC236}">
                <a16:creationId xmlns:a16="http://schemas.microsoft.com/office/drawing/2014/main" id="{1C273282-49FB-44B2-947E-AFAEF093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19325"/>
            <a:ext cx="2381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9E975-7838-42E0-9FC3-93B865EC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98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世代 3</a:t>
            </a:r>
          </a:p>
        </p:txBody>
      </p:sp>
      <p:sp>
        <p:nvSpPr>
          <p:cNvPr id="16" name="tag-Phase 2">
            <a:extLst xmlns:a="http://schemas.openxmlformats.org/drawingml/2006/main">
              <a:ext uri="{FF2B5EF4-FFF2-40B4-BE49-F238E27FC236}">
                <a16:creationId xmlns:a16="http://schemas.microsoft.com/office/drawing/2014/main" id="{D5A97E94-B991-4A99-AB2A-01A742DC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38450"/>
            <a:ext cx="904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FB2C0-B31D-4370-874F-806FC288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47975"/>
            <a:ext cx="7524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Phase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EA2AE-3FB3-42E1-BD72-DB18F442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1470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Groq / Tenstorrent / Cerebras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E5CDB7-8346-4488-8F9B-331FE4D7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31482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代替アーキテクチャを比較</a:t>
            </a:r>
          </a:p>
        </p:txBody>
      </p:sp>
      <p:sp>
        <p:nvSpPr>
          <p:cNvPr id="20" name="hw-gen-2">
            <a:extLst xmlns:a="http://schemas.openxmlformats.org/drawingml/2006/main">
              <a:ext uri="{FF2B5EF4-FFF2-40B4-BE49-F238E27FC236}">
                <a16:creationId xmlns:a16="http://schemas.microsoft.com/office/drawing/2014/main" id="{345FB66A-8E67-4683-A049-47C84279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6025"/>
            <a:ext cx="23812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140C7-1FAC-4D7F-9A1D-100090EA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765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世代 4</a:t>
            </a:r>
          </a:p>
        </p:txBody>
      </p:sp>
      <p:sp>
        <p:nvSpPr>
          <p:cNvPr id="22" name="tag-Phase 2">
            <a:extLst xmlns:a="http://schemas.openxmlformats.org/drawingml/2006/main">
              <a:ext uri="{FF2B5EF4-FFF2-40B4-BE49-F238E27FC236}">
                <a16:creationId xmlns:a16="http://schemas.microsoft.com/office/drawing/2014/main" id="{E816A01C-FF5E-4571-932A-977130B6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904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FFF556-3330-44DD-88FF-9AE79B4D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14675"/>
            <a:ext cx="7524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Phase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68DE74-0148-4F66-A866-BA4B2D65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140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Custom kernel / FPGA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DBF94-9EB7-4D37-A1EF-0F9B2FBF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1482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Graph / Policy専用実装を検証</a:t>
            </a:r>
          </a:p>
        </p:txBody>
      </p:sp>
      <p:sp>
        <p:nvSpPr>
          <p:cNvPr id="26" name="hw-gen-3">
            <a:extLst xmlns:a="http://schemas.openxmlformats.org/drawingml/2006/main">
              <a:ext uri="{FF2B5EF4-FFF2-40B4-BE49-F238E27FC236}">
                <a16:creationId xmlns:a16="http://schemas.microsoft.com/office/drawing/2014/main" id="{B04ECD4C-1DF5-4A0F-871B-1CF352C6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52725"/>
            <a:ext cx="238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C18296-D212-47A1-8739-657EFD10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432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世代 5</a:t>
            </a:r>
          </a:p>
        </p:txBody>
      </p:sp>
      <p:sp>
        <p:nvSpPr>
          <p:cNvPr id="28" name="tag-Phase 3">
            <a:extLst xmlns:a="http://schemas.openxmlformats.org/drawingml/2006/main">
              <a:ext uri="{FF2B5EF4-FFF2-40B4-BE49-F238E27FC236}">
                <a16:creationId xmlns:a16="http://schemas.microsoft.com/office/drawing/2014/main" id="{BC8C0ECE-B3B8-464A-9246-92DCDDD7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71850"/>
            <a:ext cx="904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4137E6-E929-4D94-90E0-E21D62FB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81375"/>
            <a:ext cx="7524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Phase 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292298-AA10-4B7B-9CED-8AF628EA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4810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KairosAI ASIC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92B68E-CC93-4F84-B4A4-507F0716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31482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Private AI Factoryへバンドル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7D8F0B-9B98-43A7-A1F5-71FA46D5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KairosAIのチップで、KairosAIのソフトを動かす。</a:t>
            </a:r>
          </a:p>
        </p:txBody>
      </p:sp>
    </p:spTree>
    <p:extLst>
      <p:ext uri="{BB962C8B-B14F-4D97-AF65-F5344CB8AC3E}">
        <p14:creationId xmlns:p14="http://schemas.microsoft.com/office/powerpoint/2010/main" val="141392443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17DB615-DF3E-4CA2-B0B4-F87E4A89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88FD759-1387-4E4C-9174-E2CF5C05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5ABB67D-70A9-49BC-9459-5E28B555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VERTICAL INTEGRATION TIMELINE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02D619D-587B-4A11-8C35-8AB9C9FA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アプリ需要が、2035年の主権モデルと専用HWを設計可能にする。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26A5E8-3A81-4D81-9953-E32A44CD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68C3190-0226-43CF-AFFD-C404CA65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§13.1-13.2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5F5E0BE-A69C-41D4-B259-ACC7CD57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27</a:t>
            </a:r>
          </a:p>
        </p:txBody>
      </p:sp>
      <p:sp>
        <p:nvSpPr>
          <p:cNvPr id="8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A58B1640-B39F-4382-8EA9-9AE8A43B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147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8FC5F-EDE0-4D26-8F23-2C5E92B1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47825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69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レーン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C1B4E-8BC3-4005-ADE0-055C1545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47825"/>
            <a:ext cx="2847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69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Phase 1 · 2026-2028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11BE1-7C1E-4166-B660-DBE3F313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47825"/>
            <a:ext cx="2847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69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Phase 2 · 2027-2030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F8FCA-EFCE-4244-9602-6DBC25F2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647825"/>
            <a:ext cx="2847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69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Phase 3 · 2030-2035</a:t>
            </a:r>
          </a:p>
        </p:txBody>
      </p:sp>
      <p:sp>
        <p:nvSpPr>
          <p:cNvPr id="13" name="table-row-1">
            <a:extLst xmlns:a="http://schemas.openxmlformats.org/drawingml/2006/main">
              <a:ext uri="{FF2B5EF4-FFF2-40B4-BE49-F238E27FC236}">
                <a16:creationId xmlns:a16="http://schemas.microsoft.com/office/drawing/2014/main" id="{6B2EFCEB-D06B-4EB3-9CCF-B86943A5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43100"/>
            <a:ext cx="1147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2610E-10B7-4FD1-8E7B-5EE2CD1E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95500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アプリ / 業務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48667-2615-4747-B549-F6054389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09550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規制産業へ実装</a:t>
            </a:r>
          </a:p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Industry Pack展開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6A8F8-1996-4501-8A80-2F5E3042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Pack横展開</a:t>
            </a:r>
          </a:p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運用データ蓄積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26676-44C6-496E-8139-A24E5CD5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9550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Outcomeが主権モデルの学習資産へ</a:t>
            </a:r>
          </a:p>
        </p:txBody>
      </p:sp>
      <p:sp>
        <p:nvSpPr>
          <p:cNvPr id="18" name="table-row-2">
            <a:extLst xmlns:a="http://schemas.openxmlformats.org/drawingml/2006/main">
              <a:ext uri="{FF2B5EF4-FFF2-40B4-BE49-F238E27FC236}">
                <a16:creationId xmlns:a16="http://schemas.microsoft.com/office/drawing/2014/main" id="{B3CA916D-50BA-495B-ACEA-4DD17687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24150"/>
            <a:ext cx="1147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14BBE8-4637-45F4-A8F2-53D1F0CD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76550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モデル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D62E5-B8DA-4F70-96B7-03648D19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87655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OSS組合せ</a:t>
            </a:r>
          </a:p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基盤モデルは作らない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EF3966-1526-415C-80A5-F84F3469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7655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fine-tune / 蒸留</a:t>
            </a:r>
          </a:p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ドメインSLM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386E7-327F-4521-AEDF-BA6C87B3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7655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国産大規模モデル</a:t>
            </a:r>
          </a:p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国家プログラム主導</a:t>
            </a:r>
          </a:p>
        </p:txBody>
      </p:sp>
      <p:sp>
        <p:nvSpPr>
          <p:cNvPr id="23" name="table-row-3">
            <a:extLst xmlns:a="http://schemas.openxmlformats.org/drawingml/2006/main">
              <a:ext uri="{FF2B5EF4-FFF2-40B4-BE49-F238E27FC236}">
                <a16:creationId xmlns:a16="http://schemas.microsoft.com/office/drawing/2014/main" id="{56FD846F-A717-46FD-81D7-8EFBBD78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05200"/>
            <a:ext cx="1147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05413B-86D8-47EC-A2C0-703261CC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57600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HW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E5A535-1158-44F5-9210-1C2EB934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5760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世代1-2</a:t>
            </a:r>
          </a:p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NVIDIA + OSS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DCD9A-B402-449A-8ADB-79281654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5760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世代3-4</a:t>
            </a:r>
          </a:p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代替Accel / FPGA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80FB9-AC86-412C-B72E-DB6DD34B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5760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世代5</a:t>
            </a:r>
          </a:p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自社ASIC</a:t>
            </a:r>
          </a:p>
        </p:txBody>
      </p:sp>
      <p:sp>
        <p:nvSpPr>
          <p:cNvPr id="28" name="table-row-4">
            <a:extLst xmlns:a="http://schemas.openxmlformats.org/drawingml/2006/main">
              <a:ext uri="{FF2B5EF4-FFF2-40B4-BE49-F238E27FC236}">
                <a16:creationId xmlns:a16="http://schemas.microsoft.com/office/drawing/2014/main" id="{74AE2567-A6B5-4050-BE90-541DCB43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1147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553DF-6891-436B-BEE7-D58E8640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38650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計算インフラ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6A35CC-D22B-4BBD-9B3A-5584A79A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43865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推論中心</a:t>
            </a:r>
          </a:p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1-8 GPU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A18F0D-0EC9-462E-A459-D1FEAC5F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3865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学習Plane分離</a:t>
            </a:r>
          </a:p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8-32 GPU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27E58B-6F9B-4474-80BC-2FB7D581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43865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大規模学習</a:t>
            </a:r>
          </a:p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数千GPU級</a:t>
            </a:r>
          </a:p>
        </p:txBody>
      </p:sp>
      <p:sp>
        <p:nvSpPr>
          <p:cNvPr id="33" name="table-row-5">
            <a:extLst xmlns:a="http://schemas.openxmlformats.org/drawingml/2006/main">
              <a:ext uri="{FF2B5EF4-FFF2-40B4-BE49-F238E27FC236}">
                <a16:creationId xmlns:a16="http://schemas.microsoft.com/office/drawing/2014/main" id="{6C25FE5E-EB80-40FC-9403-E84D649D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67300"/>
            <a:ext cx="1147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39CD79-A5F8-4C3F-B7A5-7E819046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19700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国家政策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F23E6A-0BEC-4D2A-9CBC-8CD69304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1970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効率指標標準化</a:t>
            </a:r>
          </a:p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導入促進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921084-737E-4BDD-B6C5-F3F78E99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1970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国産推論Engine</a:t>
            </a:r>
          </a:p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SLM育成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C63CFC-D5E1-46C8-BCA4-0BB90AC8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21970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ASIC + 国産モデル + 専用Infra</a:t>
            </a:r>
          </a:p>
        </p:txBody>
      </p:sp>
    </p:spTree>
    <p:extLst>
      <p:ext uri="{BB962C8B-B14F-4D97-AF65-F5344CB8AC3E}">
        <p14:creationId xmlns:p14="http://schemas.microsoft.com/office/powerpoint/2010/main" val="71638641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1AAE30F-A57C-4F7B-B83E-55AA7B81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D2FE1FC-47D2-4DED-8A83-0B569A0E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C3CC4DC-6BD1-4C74-BFE6-4899466D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TRANSITION LOGIC &amp; ACTORS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2FE0142-6FE3-4EBF-B648-0548E5A8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「作らない」から「作る」への切替は、3つの条件が揃った時に起きる。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3EA8454-723F-4A80-BD4E-257A61DD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8FA2C64-9A3F-4AEA-AA58-5A0CD734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§13.3-13.5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286ED6C-FD07-44C2-AB65-651321E4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28</a:t>
            </a:r>
          </a:p>
        </p:txBody>
      </p:sp>
      <p:sp>
        <p:nvSpPr>
          <p:cNvPr id="8" name="short-term">
            <a:extLst xmlns:a="http://schemas.openxmlformats.org/drawingml/2006/main">
              <a:ext uri="{FF2B5EF4-FFF2-40B4-BE49-F238E27FC236}">
                <a16:creationId xmlns:a16="http://schemas.microsoft.com/office/drawing/2014/main" id="{18C60802-A33B-4B1A-9400-1F325897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76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B370C-C03F-48EC-9644-197A5E56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PHASE 1-2 · 短期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00F28-C524-4F17-B184-3A3A851B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OSSを組み合わせる。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自社では基盤モデルを作らない。</a:t>
            </a:r>
          </a:p>
        </p:txBody>
      </p:sp>
      <p:sp>
        <p:nvSpPr>
          <p:cNvPr id="11" name="long-term">
            <a:extLst xmlns:a="http://schemas.openxmlformats.org/drawingml/2006/main">
              <a:ext uri="{FF2B5EF4-FFF2-40B4-BE49-F238E27FC236}">
                <a16:creationId xmlns:a16="http://schemas.microsoft.com/office/drawing/2014/main" id="{55B3B20A-0E6D-4E2B-A737-531DCB36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476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86318-F2E7-4268-92F3-82BE8F56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478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PHASE 3 · 長期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7B069-0BC4-44BE-8562-0886B7D1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24125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蓄積データとインフラを武器に、</a:t>
            </a:r>
          </a:p>
          <a:p xmlns:a="http://schemas.openxmlformats.org/drawingml/2006/main">
            <a:pPr algn="l">
              <a:defRPr sz="16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主権モデルを立ち上げる。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2F4A2-973F-45D9-B883-454C9BFF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38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5" name="box-複数Industry Packで運用データ蓄積">
            <a:extLst xmlns:a="http://schemas.openxmlformats.org/drawingml/2006/main">
              <a:ext uri="{FF2B5EF4-FFF2-40B4-BE49-F238E27FC236}">
                <a16:creationId xmlns:a16="http://schemas.microsoft.com/office/drawing/2014/main" id="{AA4D422E-BBFD-435F-B029-DB5BC515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複数Industry Packで運用データ蓄積-accent">
            <a:extLst xmlns:a="http://schemas.openxmlformats.org/drawingml/2006/main">
              <a:ext uri="{FF2B5EF4-FFF2-40B4-BE49-F238E27FC236}">
                <a16:creationId xmlns:a16="http://schemas.microsoft.com/office/drawing/2014/main" id="{FBDDD30C-247D-46DE-BEE8-A4E17880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5F404-21C0-40F5-8C9F-F787019C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2933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C8B8C-F77B-40B4-A04C-C6A16C7F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2933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複数Industry Packで運用データ蓄積</a:t>
            </a:r>
          </a:p>
        </p:txBody>
      </p:sp>
      <p:sp>
        <p:nvSpPr>
          <p:cNvPr id="19" name="box-ワークロード特性を定量化">
            <a:extLst xmlns:a="http://schemas.openxmlformats.org/drawingml/2006/main">
              <a:ext uri="{FF2B5EF4-FFF2-40B4-BE49-F238E27FC236}">
                <a16:creationId xmlns:a16="http://schemas.microsoft.com/office/drawing/2014/main" id="{4E94C768-A910-4FE3-97B8-FC885645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ワークロード特性を定量化-accent">
            <a:extLst xmlns:a="http://schemas.openxmlformats.org/drawingml/2006/main">
              <a:ext uri="{FF2B5EF4-FFF2-40B4-BE49-F238E27FC236}">
                <a16:creationId xmlns:a16="http://schemas.microsoft.com/office/drawing/2014/main" id="{AE68F7C0-0617-4C76-9C71-3B5504E5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46EEDD-E61D-49FC-A5EE-01CD3871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14825"/>
            <a:ext cx="2933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472F8-2D13-4E66-A5A6-FA46DF5B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24375"/>
            <a:ext cx="2933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ワークロード特性を定量化</a:t>
            </a:r>
          </a:p>
        </p:txBody>
      </p:sp>
      <p:sp>
        <p:nvSpPr>
          <p:cNvPr id="23" name="box-学習インフラがPhase 3規模へ">
            <a:extLst xmlns:a="http://schemas.openxmlformats.org/drawingml/2006/main">
              <a:ext uri="{FF2B5EF4-FFF2-40B4-BE49-F238E27FC236}">
                <a16:creationId xmlns:a16="http://schemas.microsoft.com/office/drawing/2014/main" id="{C74E5117-5E5D-4314-A4A2-3AFFDBFE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学習インフラがPhase 3規模へ-accent">
            <a:extLst xmlns:a="http://schemas.openxmlformats.org/drawingml/2006/main">
              <a:ext uri="{FF2B5EF4-FFF2-40B4-BE49-F238E27FC236}">
                <a16:creationId xmlns:a16="http://schemas.microsoft.com/office/drawing/2014/main" id="{4E2EB7D2-2C9A-4A17-BF51-D4B254BB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A00AED-ABC6-49B4-A70B-DDEDC11D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14825"/>
            <a:ext cx="2933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7B14F9-C546-47E4-87D3-5B6A4EC9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4375"/>
            <a:ext cx="2933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学習インフラがPhase 3規模へ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0BE1AF-FDB5-47D3-A098-F8549374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476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KairosAI民間: 需要・運用データ・標準化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BD14AB-3407-49CF-BAE1-ABE74D67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72125"/>
            <a:ext cx="476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国家プログラム: 資金・国産モデル・ASIC製造基盤</a:t>
            </a:r>
          </a:p>
        </p:txBody>
      </p:sp>
    </p:spTree>
    <p:extLst>
      <p:ext uri="{BB962C8B-B14F-4D97-AF65-F5344CB8AC3E}">
        <p14:creationId xmlns:p14="http://schemas.microsoft.com/office/powerpoint/2010/main" val="118974142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B6F4AA9-5843-47D5-928F-91BF0752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FBC072F-AC2E-4EFB-89DE-A810FC0B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EF3FCEE-CAEE-4C8A-98BE-99C168A4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STRATEGIC PRIORITIES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0BFA263-5CFB-4BFA-8AE0-923390C4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今は、広げる前に最初のICPとPilot-in-a-Boxを固定する。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FA97478-E2CA-4577-BFD4-D6B16C61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51210BA-97EA-43E4-8B02-F70B47A1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§11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3C94A2B-7B61-4C41-B533-ECB6F961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29</a:t>
            </a:r>
          </a:p>
        </p:txBody>
      </p:sp>
      <p:sp>
        <p:nvSpPr>
          <p:cNvPr id="8" name="tag-最高">
            <a:extLst xmlns:a="http://schemas.openxmlformats.org/drawingml/2006/main">
              <a:ext uri="{FF2B5EF4-FFF2-40B4-BE49-F238E27FC236}">
                <a16:creationId xmlns:a16="http://schemas.microsoft.com/office/drawing/2014/main" id="{C6A81657-55C4-4261-91AF-94B02AEB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714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67C2D-900A-4E29-871B-B4C06844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619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最高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DF0F7-B9A2-4642-8D83-6CF98325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最初のICPを1つ決める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BDACA-93D3-4B42-8B99-0A20055D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85925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日本の規制産業 × 社内領域AI内製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FE5C5-0515-4268-91E3-40E50663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24075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13" name="tag-最高">
            <a:extLst xmlns:a="http://schemas.openxmlformats.org/drawingml/2006/main">
              <a:ext uri="{FF2B5EF4-FFF2-40B4-BE49-F238E27FC236}">
                <a16:creationId xmlns:a16="http://schemas.microsoft.com/office/drawing/2014/main" id="{41A219F6-F847-4617-BFE2-EB8672DB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714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BF58D-61B1-47EE-847D-67A2A182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619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最高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27D9B-FEB4-4798-9265-615024B6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526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Pilot-in-a-Boxを具体化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4FB65-4971-4531-8AB2-3DD3A355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71725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Deliverable / 8-12週 / ROI仮説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A35F1-D5F3-4160-93F8-B984DDE4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09875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18" name="tag-高">
            <a:extLst xmlns:a="http://schemas.openxmlformats.org/drawingml/2006/main">
              <a:ext uri="{FF2B5EF4-FFF2-40B4-BE49-F238E27FC236}">
                <a16:creationId xmlns:a16="http://schemas.microsoft.com/office/drawing/2014/main" id="{99781095-5011-4EA7-8479-F8361FC3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714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554CB-D311-4E99-957F-256558B5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5619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9ADD0-EE62-4419-ADB9-07DC0CB6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384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経営層one-pager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3022A-69A0-4673-A400-BBD7C728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57525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Before → After + ROI + next step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04576-1A6B-4F31-8947-369AB7E4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95675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23" name="tag-高">
            <a:extLst xmlns:a="http://schemas.openxmlformats.org/drawingml/2006/main">
              <a:ext uri="{FF2B5EF4-FFF2-40B4-BE49-F238E27FC236}">
                <a16:creationId xmlns:a16="http://schemas.microsoft.com/office/drawing/2014/main" id="{1B43B3A9-4A85-4882-AE61-81993274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714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74DD4-9CCC-49C2-80BB-FA3175CE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5619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C9483-0FEF-492B-8316-6DD2D5AB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242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Staging Graphを先に見せる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BF976D-18B5-4FC1-B0DF-56681EDE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43325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中核IPを単独で理解させる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92459A-7DCF-4515-8341-23A92D28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81475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28" name="tag-中">
            <a:extLst xmlns:a="http://schemas.openxmlformats.org/drawingml/2006/main">
              <a:ext uri="{FF2B5EF4-FFF2-40B4-BE49-F238E27FC236}">
                <a16:creationId xmlns:a16="http://schemas.microsoft.com/office/drawing/2014/main" id="{C6E622A1-FA66-4F63-AE2E-112ABDED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714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4647AB-1640-41D1-80B9-33EECF8D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619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B378C1-AB4A-4242-9FE3-0BFF3F3E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100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Battlecard / Industry Pack概要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275986-F384-45EF-AB76-8C031065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29125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ServiceNow版 / 自動運転・製造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28936D-C0B7-4536-872E-258F5A57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67275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33" name="tag-将来">
            <a:extLst xmlns:a="http://schemas.openxmlformats.org/drawingml/2006/main">
              <a:ext uri="{FF2B5EF4-FFF2-40B4-BE49-F238E27FC236}">
                <a16:creationId xmlns:a16="http://schemas.microsoft.com/office/drawing/2014/main" id="{EC5DE403-F3C1-4864-B9B2-1223FD2A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714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4224D4-B69B-4AD5-BDC6-53015FA8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5619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将来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D42285-D322-4219-BF46-355374A2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958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HW世代3へ備える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22E4E2-8D3C-4AB4-85AF-F8A62193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14925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実ワークロード特性を定量化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FD592F-1FF9-41C2-B002-0D02E99E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53075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652369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7818972-CBA9-44BC-8220-653ABE0F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9248AB4-AA69-4F0A-B153-AA20CE76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2E03357-EB73-4883-ABB2-000644AB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CORE PROPOSITION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19CD3E6-6C3A-464E-B35D-DFC60636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5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モデルは最初の製品ではない。運用主権が最初の製品である。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912CE0F-F51D-4779-9621-A8357A65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63C1D2D-30D7-459F-B906-B15AC5B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§12 and §13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6A1EC1D-6F16-40AC-BCCD-9D176BC6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30</a:t>
            </a:r>
          </a:p>
        </p:txBody>
      </p:sp>
      <p:sp>
        <p:nvSpPr>
          <p:cNvPr id="8" name="closing">
            <a:extLst xmlns:a="http://schemas.openxmlformats.org/drawingml/2006/main">
              <a:ext uri="{FF2B5EF4-FFF2-40B4-BE49-F238E27FC236}">
                <a16:creationId xmlns:a16="http://schemas.microsoft.com/office/drawing/2014/main" id="{148FA16F-8EC5-4A3F-9C57-DFCF24E9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BBBFE-FBCE-45BA-A189-2905695D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000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「モデル以外の全部を引き受ける。だから、本来の差別化だけを作ればいい。」</a:t>
            </a:r>
          </a:p>
        </p:txBody>
      </p:sp>
      <p:sp>
        <p:nvSpPr>
          <p:cNvPr id="10" name="closing-0">
            <a:extLst xmlns:a="http://schemas.openxmlformats.org/drawingml/2006/main">
              <a:ext uri="{FF2B5EF4-FFF2-40B4-BE49-F238E27FC236}">
                <a16:creationId xmlns:a16="http://schemas.microsoft.com/office/drawing/2014/main" id="{2997461E-CFF8-4231-8986-933AC912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closing-0-accent">
            <a:extLst xmlns:a="http://schemas.openxmlformats.org/drawingml/2006/main">
              <a:ext uri="{FF2B5EF4-FFF2-40B4-BE49-F238E27FC236}">
                <a16:creationId xmlns:a16="http://schemas.microsoft.com/office/drawing/2014/main" id="{AA7E8480-9D8A-43C7-9D3F-977A5B2A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E4A80-6B53-487D-B590-A303C476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PRIVATE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E4190-EB9E-4FF6-8D11-1E7DE59B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AIを顧客の管理境界内へ</a:t>
            </a:r>
          </a:p>
        </p:txBody>
      </p:sp>
      <p:sp>
        <p:nvSpPr>
          <p:cNvPr id="14" name="closing-1">
            <a:extLst xmlns:a="http://schemas.openxmlformats.org/drawingml/2006/main">
              <a:ext uri="{FF2B5EF4-FFF2-40B4-BE49-F238E27FC236}">
                <a16:creationId xmlns:a16="http://schemas.microsoft.com/office/drawing/2014/main" id="{883F0A89-CAD0-45C8-AB2C-12C9CD45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0050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closing-1-accent">
            <a:extLst xmlns:a="http://schemas.openxmlformats.org/drawingml/2006/main">
              <a:ext uri="{FF2B5EF4-FFF2-40B4-BE49-F238E27FC236}">
                <a16:creationId xmlns:a16="http://schemas.microsoft.com/office/drawing/2014/main" id="{3F51E909-82BF-463F-AC10-CA5CF49B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005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E5DCE-0757-4CD6-AC1A-CB7D35B3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862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OPERATIONAL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1413F-3CA7-4464-B5B4-4AFB2809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66725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業務の実行基盤にAIを組み込む</a:t>
            </a:r>
          </a:p>
        </p:txBody>
      </p:sp>
      <p:sp>
        <p:nvSpPr>
          <p:cNvPr id="18" name="closing-2">
            <a:extLst xmlns:a="http://schemas.openxmlformats.org/drawingml/2006/main">
              <a:ext uri="{FF2B5EF4-FFF2-40B4-BE49-F238E27FC236}">
                <a16:creationId xmlns:a16="http://schemas.microsoft.com/office/drawing/2014/main" id="{16E784F0-453A-4BF7-AED8-F74BFD46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closing-2-accent">
            <a:extLst xmlns:a="http://schemas.openxmlformats.org/drawingml/2006/main">
              <a:ext uri="{FF2B5EF4-FFF2-40B4-BE49-F238E27FC236}">
                <a16:creationId xmlns:a16="http://schemas.microsoft.com/office/drawing/2014/main" id="{C6B7F410-1099-4CC0-A616-EB64836D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A1B7E-EC54-42AF-85CB-F8A32A57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AUDITABLE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EE0F0-59AB-4F1A-86A2-1DA2461A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6725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PoCで終わらず、本番・監査・運用まで</a:t>
            </a:r>
          </a:p>
        </p:txBody>
      </p:sp>
      <p:sp>
        <p:nvSpPr>
          <p:cNvPr id="22" name="closing-3">
            <a:extLst xmlns:a="http://schemas.openxmlformats.org/drawingml/2006/main">
              <a:ext uri="{FF2B5EF4-FFF2-40B4-BE49-F238E27FC236}">
                <a16:creationId xmlns:a16="http://schemas.microsoft.com/office/drawing/2014/main" id="{CAFAA117-D3CF-4F8D-80C9-29EC0CAC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closing-3-accent">
            <a:extLst xmlns:a="http://schemas.openxmlformats.org/drawingml/2006/main">
              <a:ext uri="{FF2B5EF4-FFF2-40B4-BE49-F238E27FC236}">
                <a16:creationId xmlns:a16="http://schemas.microsoft.com/office/drawing/2014/main" id="{25464D6E-76A6-4652-93C7-EA2B6E2E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54220-4698-449D-AE06-51572F4F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862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SOVEREIGN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A9E59-1B9F-42E6-94EC-6E7183E8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66725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最後に主権モデル・専用HWへ</a:t>
            </a:r>
          </a:p>
        </p:txBody>
      </p:sp>
    </p:spTree>
    <p:extLst>
      <p:ext uri="{BB962C8B-B14F-4D97-AF65-F5344CB8AC3E}">
        <p14:creationId xmlns:p14="http://schemas.microsoft.com/office/powerpoint/2010/main" val="39339655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7114F0-9295-48FA-BBAE-5C43F72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0EF8EC-C007-405F-B0DD-7377880E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229CE1F-7DED-4190-BFE0-8639D607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APPENDIX INDEX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BD43D65-86F0-4F0E-A571-28F750F8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12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補足資料は、技術詳細・業界比較・メッセージ・原文カバレッジを回収する。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CBC4EA5-F46D-482A-92F9-382F5585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1E18542-781D-4E9F-8EB3-5D6E0248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Appendix navigation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7FE1588-86EB-4B12-8516-CF8B0092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02383-B535-47B1-8522-CE632733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A1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EE192-F87E-478D-BF9A-D94EF769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1450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推論・学習スタック詳細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F9CC-610F-4328-869D-F6BA0633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§5.1-5.2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DC956-3A00-41D0-9F1B-C19F837D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43125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9DC57-E287-44D1-BE5B-173379D7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A2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2B1F9-53B9-4277-A5D4-DF58103A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955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6業界比較マトリクス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E91D1-F3A3-40B2-9CC0-04032288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§8.1-8.7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A316C-EB5D-4299-9B61-4E3C5B9C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24175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EC05C-217F-4195-96A5-B973D43B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A3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C2F8A-146D-4DF8-8705-735529A4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7660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スコープ境界とキーフレーズ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A8695A-62CA-43AE-A168-8975D250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9565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§4.2 / §12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1ED72-3DA1-4260-A95E-6678FCB2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05225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A44679-AF1E-4279-8FE5-F8CD5718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A4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E16054-793E-4DDC-953A-B19DBA44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576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用語・規模の定義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998B6-1262-43D2-991B-3A5FEACB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§3.3 / §13.5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63C09C-D4A1-403D-9E2E-35EF6D40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86275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796228-F70B-419B-BF9C-B48242A4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A5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8F56E6-7077-49E9-8494-6ABE4360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3870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原文セクション・カバレッジ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B6EDC-F9B8-453D-B7C7-8125DD90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§0-§13.5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8B6DD3-928F-4EE4-BBD9-0C2675A2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67325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627931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4571EB4-0716-4C98-8A8F-E5A4CACA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0AD45FA-F8B3-4EF4-94CE-0B9926E0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667EAC2-E8F1-45DE-BE75-A7BEA312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APPENDIX A1 · TECHNICAL STACK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7E6DBB2-6FAC-497E-98DF-1638E084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短期の差別化は、OSSを選び、繋ぎ、昇格・監査まで標準化すること。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4347154-A5FD-4397-A5A7-B7E1087A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7167A15-64D8-4450-979A-7426B696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§5.1-5.2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64F4B0F-9F8E-4173-AD15-AF7C4F9B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32</a:t>
            </a:r>
          </a:p>
        </p:txBody>
      </p:sp>
      <p:sp>
        <p:nvSpPr>
          <p:cNvPr id="8" name="stack-0">
            <a:extLst xmlns:a="http://schemas.openxmlformats.org/drawingml/2006/main">
              <a:ext uri="{FF2B5EF4-FFF2-40B4-BE49-F238E27FC236}">
                <a16:creationId xmlns:a16="http://schemas.microsoft.com/office/drawing/2014/main" id="{CFAA361E-B7CC-4560-8316-7A00A6A5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9" name="stack-0-accent">
            <a:extLst xmlns:a="http://schemas.openxmlformats.org/drawingml/2006/main">
              <a:ext uri="{FF2B5EF4-FFF2-40B4-BE49-F238E27FC236}">
                <a16:creationId xmlns:a16="http://schemas.microsoft.com/office/drawing/2014/main" id="{5275E758-5752-4C34-8A65-2B1C633B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F3206-5448-4475-8ACC-617356CB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95475"/>
            <a:ext cx="2952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KairosAI Business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2FE9D-447B-4A5B-B05C-9161E22C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95475"/>
            <a:ext cx="552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Staging Graph / Policy / Workflow / Eval Loop</a:t>
            </a:r>
          </a:p>
        </p:txBody>
      </p:sp>
      <p:sp>
        <p:nvSpPr>
          <p:cNvPr id="12" name="stack-1">
            <a:extLst xmlns:a="http://schemas.openxmlformats.org/drawingml/2006/main">
              <a:ext uri="{FF2B5EF4-FFF2-40B4-BE49-F238E27FC236}">
                <a16:creationId xmlns:a16="http://schemas.microsoft.com/office/drawing/2014/main" id="{6DB16A37-D910-498F-9805-A9A0E3D7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95575"/>
            <a:ext cx="8915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stack-1-accent">
            <a:extLst xmlns:a="http://schemas.openxmlformats.org/drawingml/2006/main">
              <a:ext uri="{FF2B5EF4-FFF2-40B4-BE49-F238E27FC236}">
                <a16:creationId xmlns:a16="http://schemas.microsoft.com/office/drawing/2014/main" id="{1F5E602E-510F-4C74-A16B-D9F85078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9557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E21AA-BAD2-4949-BC82-C95A045D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28925"/>
            <a:ext cx="2952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Inference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A45C2-9405-4E7D-8121-CC977199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28925"/>
            <a:ext cx="504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LiteLLM Gateway / vLLM / SGLang / Autoscaling</a:t>
            </a:r>
          </a:p>
        </p:txBody>
      </p:sp>
      <p:sp>
        <p:nvSpPr>
          <p:cNvPr id="16" name="stack-2">
            <a:extLst xmlns:a="http://schemas.openxmlformats.org/drawingml/2006/main">
              <a:ext uri="{FF2B5EF4-FFF2-40B4-BE49-F238E27FC236}">
                <a16:creationId xmlns:a16="http://schemas.microsoft.com/office/drawing/2014/main" id="{1944AA44-0C15-4A53-98F8-B8A31660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29025"/>
            <a:ext cx="830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stack-2-accent">
            <a:extLst xmlns:a="http://schemas.openxmlformats.org/drawingml/2006/main">
              <a:ext uri="{FF2B5EF4-FFF2-40B4-BE49-F238E27FC236}">
                <a16:creationId xmlns:a16="http://schemas.microsoft.com/office/drawing/2014/main" id="{25699D35-A6F9-4AB3-AD5A-0B4F196D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2902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E5D63-2962-426A-BA31-8FAD9266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762375"/>
            <a:ext cx="2952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Training / Eval Plane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F70D9-3B18-49F1-BA21-4D942557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62375"/>
            <a:ext cx="457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Dataset lineage / LoRA / FSDP / DeepSpeed / Eval Gate</a:t>
            </a:r>
          </a:p>
        </p:txBody>
      </p:sp>
      <p:sp>
        <p:nvSpPr>
          <p:cNvPr id="20" name="stack-3">
            <a:extLst xmlns:a="http://schemas.openxmlformats.org/drawingml/2006/main">
              <a:ext uri="{FF2B5EF4-FFF2-40B4-BE49-F238E27FC236}">
                <a16:creationId xmlns:a16="http://schemas.microsoft.com/office/drawing/2014/main" id="{00F218FD-30F2-45C1-A5BD-304A6B94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62475"/>
            <a:ext cx="769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stack-3-accent">
            <a:extLst xmlns:a="http://schemas.openxmlformats.org/drawingml/2006/main">
              <a:ext uri="{FF2B5EF4-FFF2-40B4-BE49-F238E27FC236}">
                <a16:creationId xmlns:a16="http://schemas.microsoft.com/office/drawing/2014/main" id="{20F6E9F5-6350-4BB2-9DDF-ED46FD0C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6247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288F3-834C-42C5-93D9-A2017723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695825"/>
            <a:ext cx="2952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GPU / Hardware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8AE96-4105-473A-973A-32811C8D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95825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NVIDIA / Dell / HPE partners</a:t>
            </a:r>
          </a:p>
        </p:txBody>
      </p:sp>
      <p:sp>
        <p:nvSpPr>
          <p:cNvPr id="24" name="stack-ownership">
            <a:extLst xmlns:a="http://schemas.openxmlformats.org/drawingml/2006/main">
              <a:ext uri="{FF2B5EF4-FFF2-40B4-BE49-F238E27FC236}">
                <a16:creationId xmlns:a16="http://schemas.microsoft.com/office/drawing/2014/main" id="{EDD73390-552E-45FB-A1C5-23E0C96D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53B31-18AA-4A00-B0D4-5271A10F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95950"/>
            <a:ext cx="904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KairosAIが所有: 統合設計・運用テンプレート / Eval Gate / Ontology / Staging Graph / Policy</a:t>
            </a:r>
          </a:p>
        </p:txBody>
      </p:sp>
    </p:spTree>
    <p:extLst>
      <p:ext uri="{BB962C8B-B14F-4D97-AF65-F5344CB8AC3E}">
        <p14:creationId xmlns:p14="http://schemas.microsoft.com/office/powerpoint/2010/main" val="89569768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6FCB92C-2720-4EDF-A424-04ECA774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30B5AF9-2E81-4FDD-B4A3-31A52242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55CAF41-6AAC-4D21-B093-16F252CB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APPENDIX A2 · INDUSTRY MATRIX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95808E8-AD57-4677-8C76-EA5134D2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6業界は、最初のWedge・到達可能な自動化・インフラ条件で選別する。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96BBADA-1A50-47AF-BC57-3266094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6FA3F53-9CBD-4BF9-B729-73B67CD7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§8.1-8.7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E7D58B2-935B-4743-AAD0-FF5D39E7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33</a:t>
            </a:r>
          </a:p>
        </p:txBody>
      </p:sp>
      <p:sp>
        <p:nvSpPr>
          <p:cNvPr id="8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5BD5E6F4-3AD6-4D59-AD2C-A43B7E55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71625"/>
            <a:ext cx="1109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17BDF-6D6F-4034-A1B5-69071AE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228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分野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71F95-892C-4740-8A32-06C552C3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6002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最初のWedge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FC568-C35D-4672-8B99-AE81B759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00200"/>
            <a:ext cx="1514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L3可能性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38E27-2C54-4D72-BAEE-F1F41758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002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Infrastructure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FC03D-F7E3-4219-B20A-8245D968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00200"/>
            <a:ext cx="2847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Autonomy境界</a:t>
            </a:r>
          </a:p>
        </p:txBody>
      </p:sp>
      <p:sp>
        <p:nvSpPr>
          <p:cNvPr id="14" name="table-row-1">
            <a:extLst xmlns:a="http://schemas.openxmlformats.org/drawingml/2006/main">
              <a:ext uri="{FF2B5EF4-FFF2-40B4-BE49-F238E27FC236}">
                <a16:creationId xmlns:a16="http://schemas.microsoft.com/office/drawing/2014/main" id="{B406264D-83D2-450B-B718-1776F391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95475"/>
            <a:ext cx="1109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3901D-5258-46BB-8173-E8EE1D7A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228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金融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A89E8-10FE-4607-AD5F-DA768BA6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0478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AML調査自動化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C015A-DF59-420A-97A7-510A81D7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47875"/>
            <a:ext cx="1514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C264F-03FC-40FA-A811-55CDD299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47875"/>
            <a:ext cx="2419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VPC / On-Prem + KMS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B1BE8-18B2-48DD-B823-3B743BDC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47875"/>
            <a:ext cx="2847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STR最終提出はL1</a:t>
            </a:r>
          </a:p>
        </p:txBody>
      </p:sp>
      <p:sp>
        <p:nvSpPr>
          <p:cNvPr id="20" name="table-row-2">
            <a:extLst xmlns:a="http://schemas.openxmlformats.org/drawingml/2006/main">
              <a:ext uri="{FF2B5EF4-FFF2-40B4-BE49-F238E27FC236}">
                <a16:creationId xmlns:a16="http://schemas.microsoft.com/office/drawing/2014/main" id="{A2A03045-C886-4347-B17B-9FD90D89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62225"/>
            <a:ext cx="1109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F8DEB-4F01-49D2-9FDF-BD6BA714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1228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製造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4F23C-257A-4EA1-A4AF-C8898349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7146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異常検知→点検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247EA-8D68-4DC4-9160-8499590B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14625"/>
            <a:ext cx="1514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04646-FECB-4F5C-98A9-FC37B274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419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Edge + On-Prem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37F0F9-5954-4537-BE11-E313CBB9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14625"/>
            <a:ext cx="2847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重大品質判断はL1</a:t>
            </a:r>
          </a:p>
        </p:txBody>
      </p:sp>
      <p:sp>
        <p:nvSpPr>
          <p:cNvPr id="26" name="table-row-3">
            <a:extLst xmlns:a="http://schemas.openxmlformats.org/drawingml/2006/main">
              <a:ext uri="{FF2B5EF4-FFF2-40B4-BE49-F238E27FC236}">
                <a16:creationId xmlns:a16="http://schemas.microsoft.com/office/drawing/2014/main" id="{15534C57-A207-4D79-ADF1-3700AF16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28975"/>
            <a:ext cx="1109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82B935-A3BC-4813-9115-600B9D76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1228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医療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7F0B57-8313-400C-BEB2-4BF66E01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3813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診療記録支援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B9BB12-E556-452B-9E22-EA2A25C2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81375"/>
            <a:ext cx="1514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5DF9C5-4E40-43ED-B79B-C1BC48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81375"/>
            <a:ext cx="2419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On-Prem必須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9C5B2A-26FC-42D8-A356-2A9A5FA0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81375"/>
            <a:ext cx="2847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診断・投薬はL0</a:t>
            </a:r>
          </a:p>
        </p:txBody>
      </p:sp>
      <p:sp>
        <p:nvSpPr>
          <p:cNvPr id="32" name="table-row-4">
            <a:extLst xmlns:a="http://schemas.openxmlformats.org/drawingml/2006/main">
              <a:ext uri="{FF2B5EF4-FFF2-40B4-BE49-F238E27FC236}">
                <a16:creationId xmlns:a16="http://schemas.microsoft.com/office/drawing/2014/main" id="{999C37E8-052B-4BB2-B3BE-CA834962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95725"/>
            <a:ext cx="1109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E36140-CB63-4A85-AD0C-FABB0B00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1228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自動運転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608589-681D-486B-997D-E0AD38CB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0481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シナリオ評価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E989F9-A52B-472B-A2A0-E2BCAC84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48125"/>
            <a:ext cx="1514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CBD1B7-1C48-4514-B109-A0807413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48125"/>
            <a:ext cx="2419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Training + Edge分離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CE1F1D-2685-4941-B0C7-4C365CFC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48125"/>
            <a:ext cx="2847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安全判断は人間</a:t>
            </a:r>
          </a:p>
        </p:txBody>
      </p:sp>
      <p:sp>
        <p:nvSpPr>
          <p:cNvPr id="38" name="table-row-5">
            <a:extLst xmlns:a="http://schemas.openxmlformats.org/drawingml/2006/main">
              <a:ext uri="{FF2B5EF4-FFF2-40B4-BE49-F238E27FC236}">
                <a16:creationId xmlns:a16="http://schemas.microsoft.com/office/drawing/2014/main" id="{5C6567FD-3516-43FC-82DD-578F263F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62475"/>
            <a:ext cx="1109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5A03A4-53B9-45CB-AF36-D9A786AD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14875"/>
            <a:ext cx="1228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エネルギー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675040-24CB-4379-84BE-149AC09B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7148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設備異常検知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9D16F0-5002-4EC5-8A17-4B849DBB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714875"/>
            <a:ext cx="1514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1BBE38-89D2-488B-8323-6C68A3CD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14875"/>
            <a:ext cx="2419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Air-gapped / Edge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447999-46CD-41B8-9989-125EAE8B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14875"/>
            <a:ext cx="2847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緊急安全操作はL0</a:t>
            </a:r>
          </a:p>
        </p:txBody>
      </p:sp>
      <p:sp>
        <p:nvSpPr>
          <p:cNvPr id="44" name="table-row-6">
            <a:extLst xmlns:a="http://schemas.openxmlformats.org/drawingml/2006/main">
              <a:ext uri="{FF2B5EF4-FFF2-40B4-BE49-F238E27FC236}">
                <a16:creationId xmlns:a16="http://schemas.microsoft.com/office/drawing/2014/main" id="{705BD02D-951C-4D0C-AB00-0C934476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29225"/>
            <a:ext cx="1109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814DA4-3B4C-4A72-B2FD-4850357B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228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公共 / 防衛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43D6E1-8AE0-4C51-8735-C5BE976B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3816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文書分類・処理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2A6657-CE83-41A2-B13D-C0881049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381625"/>
            <a:ext cx="1514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中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E300B6-141F-4977-B30E-4571B272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81625"/>
            <a:ext cx="2419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Air-gapped必須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BFA1E9-D9B4-4C0E-B303-A4439D97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81625"/>
            <a:ext cx="2847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最終判断・命令はL0</a:t>
            </a:r>
          </a:p>
        </p:txBody>
      </p:sp>
    </p:spTree>
    <p:extLst>
      <p:ext uri="{BB962C8B-B14F-4D97-AF65-F5344CB8AC3E}">
        <p14:creationId xmlns:p14="http://schemas.microsoft.com/office/powerpoint/2010/main" val="113829061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06C0080-C6A3-4D40-942F-F6F1E48D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1FD3FD8-29E7-419F-B429-4990248E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5A526D-CEF2-477A-AC66-E64B3E65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APPENDIX A3 · SCOPE &amp; MESSAGE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09F508B-1A4D-45A2-91F3-A7104BD1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明確な「やらないこと」が、KairosAIの入り口を強くする。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7589821-5565-4E93-81A4-5F7DC747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D8D2C7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AEC58AF-F474-42A8-A645-DE4317CA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§4.2 and §12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E8C0042-3516-4132-B05C-9110C03B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34</a:t>
            </a:r>
          </a:p>
        </p:txBody>
      </p:sp>
      <p:sp>
        <p:nvSpPr>
          <p:cNvPr id="8" name="box-短期にやること">
            <a:extLst xmlns:a="http://schemas.openxmlformats.org/drawingml/2006/main">
              <a:ext uri="{FF2B5EF4-FFF2-40B4-BE49-F238E27FC236}">
                <a16:creationId xmlns:a16="http://schemas.microsoft.com/office/drawing/2014/main" id="{8915226B-4C1C-4017-B56A-81F644B9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095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9" name="短期にやること-accent">
            <a:extLst xmlns:a="http://schemas.openxmlformats.org/drawingml/2006/main">
              <a:ext uri="{FF2B5EF4-FFF2-40B4-BE49-F238E27FC236}">
                <a16:creationId xmlns:a16="http://schemas.microsoft.com/office/drawing/2014/main" id="{21DF4554-C46E-401D-8410-48E7780A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BD5EB-B1C1-4258-9DD8-02654E7A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短期にやること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21543-9D90-4694-A1EB-1866561D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7910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モデル以外の全部を引き受ける</a:t>
            </a:r>
          </a:p>
          <a:p xmlns:a="http://schemas.openxmlformats.org/drawingml/2006/main">
            <a:pPr algn="l">
              <a:defRPr sz="11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評価・データ・推論・監査・Workflow</a:t>
            </a:r>
          </a:p>
        </p:txBody>
      </p:sp>
      <p:sp>
        <p:nvSpPr>
          <p:cNvPr id="12" name="box-短期にやらないこと">
            <a:extLst xmlns:a="http://schemas.openxmlformats.org/drawingml/2006/main">
              <a:ext uri="{FF2B5EF4-FFF2-40B4-BE49-F238E27FC236}">
                <a16:creationId xmlns:a16="http://schemas.microsoft.com/office/drawing/2014/main" id="{806EA840-3C92-44A2-91F4-4211239A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14500"/>
            <a:ext cx="5095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短期にやらないこと-accent">
            <a:extLst xmlns:a="http://schemas.openxmlformats.org/drawingml/2006/main">
              <a:ext uri="{FF2B5EF4-FFF2-40B4-BE49-F238E27FC236}">
                <a16:creationId xmlns:a16="http://schemas.microsoft.com/office/drawing/2014/main" id="{51541060-1369-4ABB-B7C6-8EEF0E5D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145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44309-8C96-4C5F-A260-1B65A249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85950"/>
            <a:ext cx="4791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短期にやらないこと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16F22-C6C6-4D51-96D8-24AEF6BB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33650"/>
            <a:ext cx="47910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基盤モデルの自社開発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安全クリティカルなreal-time制御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医師・指揮官の最終判断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0CB55-D8C2-46E7-BF44-935EB77D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BCBDD-891F-4E80-A795-2BBAAABB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AIを業務に入れるのではなく、業務の実行基盤にAIを組み込む。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E88E8-4BB4-4852-92A4-DF8F0EA6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52B67-EE24-404F-8B90-FAED8A49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AIをクラウドに預けず、顧客の管理境界内に持ち込む。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FD648-7B5B-4FF6-8F25-90BA180A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2846E-CC66-443B-AE96-FE98B534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本番の推論を止めずに、モデルを改善し続ける。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CB80BE-0872-49C9-AFB6-8064E8AF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777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9FFF9-BBF4-4808-AC40-6601523D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PoCで終わらせず、本番・監査・運用まで設計する。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D63CF-69B3-4C14-B7B0-3B953776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333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472DBC-CD48-4B0D-BD96-410D2F80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KairosAIのチップで、KairosAIのソフトを動かす。</a:t>
            </a:r>
          </a:p>
        </p:txBody>
      </p:sp>
    </p:spTree>
    <p:extLst>
      <p:ext uri="{BB962C8B-B14F-4D97-AF65-F5344CB8AC3E}">
        <p14:creationId xmlns:p14="http://schemas.microsoft.com/office/powerpoint/2010/main" val="21769752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69D0B2D-7005-491F-80AA-01161C89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8101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9DCE1A2-D831-43F6-B43A-892940D9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03B5FF9-BABC-43C2-BB24-08619C1A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APPENDIX A4-A5 · DEFINITIONS &amp; COVERAGE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40C5F6F-6EA6-4FD2-A674-52A8B23F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301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推論インフラと学習インフラを混同せず、原文の全セクションを追跡する。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748C7D3-86A9-4581-8426-DC3952FF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599D99F-754B-49E1-A6E2-9CAF981A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90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AA8BD"/>
                </a:solidFill>
                <a:latin typeface="Hiragino Sans"/>
                <a:ea typeface="Hiragino Sans"/>
                <a:cs typeface="Hiragino Sans"/>
              </a:rPr>
              <a:t>KairosAI Strategy Summary v0.2 / 2026-06-03 · Source: §0-§13.5 coverage map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F805FF-8802-4105-9E3F-D9CE6657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35</a:t>
            </a:r>
          </a:p>
        </p:txBody>
      </p:sp>
      <p:sp>
        <p:nvSpPr>
          <p:cNvPr id="8" name="compute-defs">
            <a:extLst xmlns:a="http://schemas.openxmlformats.org/drawingml/2006/main">
              <a:ext uri="{FF2B5EF4-FFF2-40B4-BE49-F238E27FC236}">
                <a16:creationId xmlns:a16="http://schemas.microsoft.com/office/drawing/2014/main" id="{489A152F-6181-4086-B6C1-4C78709D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4953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D76D5-9DCD-448E-A59A-24BEA749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計算インフラの2つの意味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1707F-8656-42A6-B10D-ECEB3732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428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Phase 1-2: アプリを動かす推論インフラ</a:t>
            </a:r>
          </a:p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1-32 GPU / OSS serving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Phase 3: 主権モデルを訓練する学習インフラ</a:t>
            </a:r>
          </a:p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数千GPU級 / 国家プログラムと共同</a:t>
            </a:r>
          </a:p>
        </p:txBody>
      </p:sp>
      <p:sp>
        <p:nvSpPr>
          <p:cNvPr id="11" name="phase-defs">
            <a:extLst xmlns:a="http://schemas.openxmlformats.org/drawingml/2006/main">
              <a:ext uri="{FF2B5EF4-FFF2-40B4-BE49-F238E27FC236}">
                <a16:creationId xmlns:a16="http://schemas.microsoft.com/office/drawing/2014/main" id="{9DD1A8DA-C867-4D75-8B94-F63780A4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5715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10885-53A2-48D7-BE96-28934668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09750"/>
            <a:ext cx="523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用語ルール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71949-F3AE-4D22-BE63-9D6CEC5A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38375"/>
            <a:ext cx="514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Phase = §13の垂直統合タイムラインのみ</a:t>
            </a:r>
          </a:p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HW進行 = 世代1-5</a:t>
            </a:r>
          </a:p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短期の「作らない」は、Phase 3の否定ではない</a:t>
            </a:r>
          </a:p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Phase 3の国産大規模モデル = 国家プログラム主導</a:t>
            </a:r>
          </a:p>
        </p:txBody>
      </p:sp>
      <p:sp>
        <p:nvSpPr>
          <p:cNvPr id="14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D8B2E8C4-3200-4534-8B8C-1564CE22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5D935-0ADC-4409-A58A-863B4B34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957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原文セクション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874E4-9D11-4DDD-AFF2-D0A190CA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6957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対応スライド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BDD4C-A24E-4EBF-9321-606DAF4C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6957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原文セクション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EF050-43A1-4999-AA2C-F45BB8EC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957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対応スライド</a:t>
            </a:r>
          </a:p>
        </p:txBody>
      </p:sp>
      <p:sp>
        <p:nvSpPr>
          <p:cNvPr id="19" name="table-row-1">
            <a:extLst xmlns:a="http://schemas.openxmlformats.org/drawingml/2006/main">
              <a:ext uri="{FF2B5EF4-FFF2-40B4-BE49-F238E27FC236}">
                <a16:creationId xmlns:a16="http://schemas.microsoft.com/office/drawing/2014/main" id="{6B670F9A-5047-4B09-A03C-19E2F21F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9097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85EEC-30D1-4332-B070-2935563F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433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序章・§0-1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061B2-A369-42AF-B481-661145D0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1433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01-04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03769-21E3-48D1-A853-188F685C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1433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§7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793BA-9E39-4B79-A7AD-B94027B0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1433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16-17</a:t>
            </a:r>
          </a:p>
        </p:txBody>
      </p:sp>
      <p:sp>
        <p:nvSpPr>
          <p:cNvPr id="24" name="table-row-2">
            <a:extLst xmlns:a="http://schemas.openxmlformats.org/drawingml/2006/main">
              <a:ext uri="{FF2B5EF4-FFF2-40B4-BE49-F238E27FC236}">
                <a16:creationId xmlns:a16="http://schemas.microsoft.com/office/drawing/2014/main" id="{E757E790-4C15-4A4D-83D3-6472B0A9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8627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FE672C-D8F9-4FDC-9E08-8B343F4D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386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§2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43623-09D5-4BAB-B1AE-B16B3C1C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6386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05-08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92F9BA-52FF-4081-8D62-6E7623C1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6386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§8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8C1EE7-9523-4510-AB5D-7F8146D7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6386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18-22 / 33</a:t>
            </a:r>
          </a:p>
        </p:txBody>
      </p:sp>
      <p:sp>
        <p:nvSpPr>
          <p:cNvPr id="29" name="table-row-3">
            <a:extLst xmlns:a="http://schemas.openxmlformats.org/drawingml/2006/main">
              <a:ext uri="{FF2B5EF4-FFF2-40B4-BE49-F238E27FC236}">
                <a16:creationId xmlns:a16="http://schemas.microsoft.com/office/drawing/2014/main" id="{FECF733D-251B-4D61-B9D2-ACF63E89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8157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809EB5-D638-4734-892B-249AFEE5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339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§3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A7EBAC-B12D-4EBC-BF7E-CB9B0587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1339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09-12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AA6E88-B286-4E7F-8138-5A0DE443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1339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§9-10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2E3306-FEC6-4333-86A3-D6023FB4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1339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23-26</a:t>
            </a:r>
          </a:p>
        </p:txBody>
      </p:sp>
      <p:sp>
        <p:nvSpPr>
          <p:cNvPr id="34" name="table-row-4">
            <a:extLst xmlns:a="http://schemas.openxmlformats.org/drawingml/2006/main">
              <a:ext uri="{FF2B5EF4-FFF2-40B4-BE49-F238E27FC236}">
                <a16:creationId xmlns:a16="http://schemas.microsoft.com/office/drawing/2014/main" id="{D5770D33-8337-4920-8979-8539CBCA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24324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6EC3A0-AC4C-4AF2-9436-FBE719E4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6292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§4-6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FB8E03-A2B2-4470-A165-55C235F9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6292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13-15 / 25 / 32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368A7A-DA4A-40EB-9869-4902D435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6292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§11-13.5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407192-1F68-4DBA-8D8A-3137E6FF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62927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27-30 / 34-35</a:t>
            </a:r>
          </a:p>
        </p:txBody>
      </p:sp>
    </p:spTree>
    <p:extLst>
      <p:ext uri="{BB962C8B-B14F-4D97-AF65-F5344CB8AC3E}">
        <p14:creationId xmlns:p14="http://schemas.microsoft.com/office/powerpoint/2010/main" val="1817499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2026-06-12T05:36:13.0130000Z</dcterms:created>
  <dcterms:modified xsi:type="dcterms:W3CDTF">2026-06-12T05:36:13.0130000Z</dcterms:modified>
</coreProperties>
</file>