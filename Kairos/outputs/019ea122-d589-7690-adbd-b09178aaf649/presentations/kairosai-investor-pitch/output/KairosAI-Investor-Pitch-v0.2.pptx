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468d18b70e430a" /><Relationship Type="http://schemas.openxmlformats.org/officeDocument/2006/relationships/extended-properties" Target="/docProps/app.xml" Id="R6a557fdae6f445cd" /><Relationship Type="http://schemas.openxmlformats.org/officeDocument/2006/relationships/officeDocument" Target="/ppt/presentation.xml" Id="R9476499e5582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86fda80b7a4ade"/>
  </p:sldMasterIdLst>
  <p:notesMasterIdLst>
    <p:notesMasterId xmlns:r="http://schemas.openxmlformats.org/officeDocument/2006/relationships" r:id="R4c764c5ca47846f3"/>
  </p:notesMasterIdLst>
  <p:sldIdLst>
    <p:sldId xmlns:r="http://schemas.openxmlformats.org/officeDocument/2006/relationships" id="256" r:id="R1f146cc8c38c410e"/>
    <p:sldId xmlns:r="http://schemas.openxmlformats.org/officeDocument/2006/relationships" id="257" r:id="Rfd343cdf60984fd4"/>
    <p:sldId xmlns:r="http://schemas.openxmlformats.org/officeDocument/2006/relationships" id="258" r:id="R807af95d633c42df"/>
    <p:sldId xmlns:r="http://schemas.openxmlformats.org/officeDocument/2006/relationships" id="259" r:id="Rf96223f8bfef4a8f"/>
    <p:sldId xmlns:r="http://schemas.openxmlformats.org/officeDocument/2006/relationships" id="260" r:id="R87467a6e22284910"/>
    <p:sldId xmlns:r="http://schemas.openxmlformats.org/officeDocument/2006/relationships" id="261" r:id="Rbccc6cb906ec4d93"/>
    <p:sldId xmlns:r="http://schemas.openxmlformats.org/officeDocument/2006/relationships" id="262" r:id="Rb374bdcc35084f24"/>
    <p:sldId xmlns:r="http://schemas.openxmlformats.org/officeDocument/2006/relationships" id="263" r:id="R82089d83ec404ab3"/>
    <p:sldId xmlns:r="http://schemas.openxmlformats.org/officeDocument/2006/relationships" id="264" r:id="R71b4dcf8d0d14682"/>
    <p:sldId xmlns:r="http://schemas.openxmlformats.org/officeDocument/2006/relationships" id="265" r:id="R26d29d14c93e4ce7"/>
    <p:sldId xmlns:r="http://schemas.openxmlformats.org/officeDocument/2006/relationships" id="266" r:id="R204a64c58bcb4c8d"/>
    <p:sldId xmlns:r="http://schemas.openxmlformats.org/officeDocument/2006/relationships" id="267" r:id="R1c437a4e45dc4d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15b6bcb65247e8" /><Relationship Type="http://schemas.openxmlformats.org/officeDocument/2006/relationships/slideMaster" Target="/ppt/slideMasters/slideMaster1.xml" Id="R1386fda80b7a4ade" /><Relationship Type="http://schemas.openxmlformats.org/officeDocument/2006/relationships/notesMaster" Target="/ppt/notesMasters/notesMaster1.xml" Id="R4c764c5ca47846f3" /><Relationship Type="http://schemas.openxmlformats.org/officeDocument/2006/relationships/presProps" Target="/ppt/presProps.xml" Id="R190778618fb24720" /><Relationship Type="http://schemas.openxmlformats.org/officeDocument/2006/relationships/viewProps" Target="/ppt/viewProps.xml" Id="R0c9bf78cd4614c03" /><Relationship Type="http://schemas.openxmlformats.org/officeDocument/2006/relationships/tableStyles" Target="/ppt/tableStyles.xml" Id="R6b2877f524034476" /><Relationship Type="http://schemas.openxmlformats.org/officeDocument/2006/relationships/slide" Target="/ppt/slides/slide1.xml" Id="R1f146cc8c38c410e" /><Relationship Type="http://schemas.openxmlformats.org/officeDocument/2006/relationships/slide" Target="/ppt/slides/slide2.xml" Id="Rfd343cdf60984fd4" /><Relationship Type="http://schemas.openxmlformats.org/officeDocument/2006/relationships/slide" Target="/ppt/slides/slide3.xml" Id="R807af95d633c42df" /><Relationship Type="http://schemas.openxmlformats.org/officeDocument/2006/relationships/slide" Target="/ppt/slides/slide4.xml" Id="Rf96223f8bfef4a8f" /><Relationship Type="http://schemas.openxmlformats.org/officeDocument/2006/relationships/slide" Target="/ppt/slides/slide5.xml" Id="R87467a6e22284910" /><Relationship Type="http://schemas.openxmlformats.org/officeDocument/2006/relationships/slide" Target="/ppt/slides/slide6.xml" Id="Rbccc6cb906ec4d93" /><Relationship Type="http://schemas.openxmlformats.org/officeDocument/2006/relationships/slide" Target="/ppt/slides/slide7.xml" Id="Rb374bdcc35084f24" /><Relationship Type="http://schemas.openxmlformats.org/officeDocument/2006/relationships/slide" Target="/ppt/slides/slide8.xml" Id="R82089d83ec404ab3" /><Relationship Type="http://schemas.openxmlformats.org/officeDocument/2006/relationships/slide" Target="/ppt/slides/slide9.xml" Id="R71b4dcf8d0d14682" /><Relationship Type="http://schemas.openxmlformats.org/officeDocument/2006/relationships/slide" Target="/ppt/slides/slide10.xml" Id="R26d29d14c93e4ce7" /><Relationship Type="http://schemas.openxmlformats.org/officeDocument/2006/relationships/slide" Target="/ppt/slides/slide11.xml" Id="R204a64c58bcb4c8d" /><Relationship Type="http://schemas.openxmlformats.org/officeDocument/2006/relationships/slide" Target="/ppt/slides/slide12.xml" Id="R1c437a4e45dc4d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ca2ce8909148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5f36ccaa34497" /><Relationship Type="http://schemas.openxmlformats.org/officeDocument/2006/relationships/notesMaster" Target="/ppt/notesMasters/notesMaster1.xml" Id="Rc5a0e4f6b38447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aa393b5f2146e3" /><Relationship Type="http://schemas.openxmlformats.org/officeDocument/2006/relationships/notesMaster" Target="/ppt/notesMasters/notesMaster1.xml" Id="Rb9515e0febd547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b49f4a518f419c" /><Relationship Type="http://schemas.openxmlformats.org/officeDocument/2006/relationships/notesMaster" Target="/ppt/notesMasters/notesMaster1.xml" Id="R6fe621165d844c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f475180fa54992" /><Relationship Type="http://schemas.openxmlformats.org/officeDocument/2006/relationships/notesMaster" Target="/ppt/notesMasters/notesMaster1.xml" Id="R29ed2b395fce49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eb133723f24b34" /><Relationship Type="http://schemas.openxmlformats.org/officeDocument/2006/relationships/notesMaster" Target="/ppt/notesMasters/notesMaster1.xml" Id="Rb503948c299249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4e12cf50f24874" /><Relationship Type="http://schemas.openxmlformats.org/officeDocument/2006/relationships/notesMaster" Target="/ppt/notesMasters/notesMaster1.xml" Id="R7d270a95b2504f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7d9e8f3824df4" /><Relationship Type="http://schemas.openxmlformats.org/officeDocument/2006/relationships/notesMaster" Target="/ppt/notesMasters/notesMaster1.xml" Id="Rb8506057a08f46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c729b1214f4d73" /><Relationship Type="http://schemas.openxmlformats.org/officeDocument/2006/relationships/notesMaster" Target="/ppt/notesMasters/notesMaster1.xml" Id="Rbf8f43eac01e4e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e03f7fa61c4484" /><Relationship Type="http://schemas.openxmlformats.org/officeDocument/2006/relationships/notesMaster" Target="/ppt/notesMasters/notesMaster1.xml" Id="R65697f19ab8541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db9131b29f424f" /><Relationship Type="http://schemas.openxmlformats.org/officeDocument/2006/relationships/notesMaster" Target="/ppt/notesMasters/notesMaster1.xml" Id="R44eea060baf742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d9aeb7d7674cae" /><Relationship Type="http://schemas.openxmlformats.org/officeDocument/2006/relationships/notesMaster" Target="/ppt/notesMasters/notesMaster1.xml" Id="R0a10fc08f1d143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e23425e8aa4cab" /><Relationship Type="http://schemas.openxmlformats.org/officeDocument/2006/relationships/notesMaster" Target="/ppt/notesMasters/notesMaster1.xml" Id="R55238b550f7141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80e1e361d40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62a76d0d3e4558" /><Relationship Type="http://schemas.openxmlformats.org/officeDocument/2006/relationships/slideLayout" Target="/ppt/slideLayouts/slideLayout1.xml" Id="R939057ed7e3c4d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9057ed7e3c4d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85e05f69449f6" /><Relationship Type="http://schemas.openxmlformats.org/officeDocument/2006/relationships/notesSlide" Target="/ppt/notesSlides/notesSlide1.xml" Id="R4636452a4d194d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8f90019fa4364" /><Relationship Type="http://schemas.openxmlformats.org/officeDocument/2006/relationships/notesSlide" Target="/ppt/notesSlides/notesSlide2.xml" Id="R65a3099acd594d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3e8b5b65f48e0" /><Relationship Type="http://schemas.openxmlformats.org/officeDocument/2006/relationships/notesSlide" Target="/ppt/notesSlides/notesSlide3.xml" Id="R4471930b30de4b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0d30467c448f8" /><Relationship Type="http://schemas.openxmlformats.org/officeDocument/2006/relationships/notesSlide" Target="/ppt/notesSlides/notesSlide4.xml" Id="Rf2f10d0ce25847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d4834eca44c5a" /><Relationship Type="http://schemas.openxmlformats.org/officeDocument/2006/relationships/notesSlide" Target="/ppt/notesSlides/notesSlide5.xml" Id="R441befbb08734e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cfc9417044d4e" /><Relationship Type="http://schemas.openxmlformats.org/officeDocument/2006/relationships/notesSlide" Target="/ppt/notesSlides/notesSlide6.xml" Id="R50d3d326e05c45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75723af9641ad" /><Relationship Type="http://schemas.openxmlformats.org/officeDocument/2006/relationships/notesSlide" Target="/ppt/notesSlides/notesSlide7.xml" Id="Rd50f3451be4647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38601a74842cc" /><Relationship Type="http://schemas.openxmlformats.org/officeDocument/2006/relationships/notesSlide" Target="/ppt/notesSlides/notesSlide8.xml" Id="R6229bec218f84c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6e65f363b4353" /><Relationship Type="http://schemas.openxmlformats.org/officeDocument/2006/relationships/notesSlide" Target="/ppt/notesSlides/notesSlide9.xml" Id="R66e3ef4856754a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f178e60904f12" /><Relationship Type="http://schemas.openxmlformats.org/officeDocument/2006/relationships/notesSlide" Target="/ppt/notesSlides/notesSlide10.xml" Id="R4a6af9a174424d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dfde8a0114e63" /><Relationship Type="http://schemas.openxmlformats.org/officeDocument/2006/relationships/notesSlide" Target="/ppt/notesSlides/notesSlide11.xml" Id="R99629a76f5dd40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db43f7a75446c" /><Relationship Type="http://schemas.openxmlformats.org/officeDocument/2006/relationships/notesSlide" Target="/ppt/notesSlides/notesSlide12.xml" Id="Rd6bcf8d5077542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1EA5CF4-5318-4141-9B16-61D548D9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A49952-A19D-4CBA-9A2F-6A142EDC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FD6FBF7-DB7D-4A6B-A6C9-B4C66800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INVESTOR NARRATIVE / 2026.06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616AB96-8FE7-41DC-8CB0-371589C3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規制産業のAIは、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「答える」ところではなく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「実行する」ところで止まる。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BAF6A-00A5-4670-B7D6-FF1D1AFE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KairosAI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68242-2B83-4028-993A-04E98EB5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676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品質異常を、根拠・権限・監査付きの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安全な初動へ変える Operational AI Infrastructure</a:t>
            </a:r>
          </a:p>
        </p:txBody>
      </p:sp>
      <p:sp>
        <p:nvSpPr>
          <p:cNvPr id="7" name="cover-rail">
            <a:extLst xmlns:a="http://schemas.openxmlformats.org/drawingml/2006/main">
              <a:ext uri="{FF2B5EF4-FFF2-40B4-BE49-F238E27FC236}">
                <a16:creationId xmlns:a16="http://schemas.microsoft.com/office/drawing/2014/main" id="{ED9E777C-9258-4AAF-B603-DE6B7269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933450"/>
            <a:ext cx="3276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04949-5DA3-4260-9D99-E8BEF58D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WHO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96BEF-1B52-46A5-93B5-5147C139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95425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日本の大手製造業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品質保証・SCM責任者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B2414-67F1-49FB-A479-2C3527B5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4234B-D8DE-4893-99F9-456ACA69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0F569-83E5-4C77-921C-3584E1BC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47975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品質異常の影響特定と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安全な初動に数時間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D1C9-E23D-4829-85F6-DA26DAE6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86175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52F3D-55A5-4858-B869-9E5E1FB8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rPr>
              <a:t>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D62E1-A00E-48E0-B9FD-679581AF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00525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Operational Exception Graph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+ Private AI Factory</a:t>
            </a:r>
          </a:p>
        </p:txBody>
      </p:sp>
      <p:sp>
        <p:nvSpPr>
          <p:cNvPr id="16" name="pill-DRAFT: 仮説検証前">
            <a:extLst xmlns:a="http://schemas.openxmlformats.org/drawingml/2006/main">
              <a:ext uri="{FF2B5EF4-FFF2-40B4-BE49-F238E27FC236}">
                <a16:creationId xmlns:a16="http://schemas.microsoft.com/office/drawing/2014/main" id="{7F83899C-14CE-4265-A40F-560C9036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843C7-E066-402E-9AFC-E256220B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DRAFT: 仮説検証前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D00E2EC-0827-4023-88A5-0C0351E7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D796C87-A92C-4C29-A797-6B2A40E4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Source: user-provided KairosAI drafts. Investor framing by Codex.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F72B0B-41E5-43DA-8530-172DF13C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86526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1D398B5-E24C-4981-9262-2FF80C0B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DEA101F-76C7-471D-A82B-E4577B91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82E0EF3-F4AB-4EB0-8550-A9D05FDE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FIRST BUYER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48E1A97-F9A7-4DFC-B07A-3B7A47AC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最初に解くのは、品質異常後の「4時間の調査」です。</a:t>
            </a:r>
          </a:p>
        </p:txBody>
      </p:sp>
      <p:sp>
        <p:nvSpPr>
          <p:cNvPr id="5" name="buyer-panel">
            <a:extLst xmlns:a="http://schemas.openxmlformats.org/drawingml/2006/main">
              <a:ext uri="{FF2B5EF4-FFF2-40B4-BE49-F238E27FC236}">
                <a16:creationId xmlns:a16="http://schemas.microsoft.com/office/drawing/2014/main" id="{BF9CEB82-A20E-4A29-A2BA-9A6089FE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FC50B-CF80-41F6-AFEF-BA3C0B9B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OPERATIONAL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0270B-8647-4173-900B-FBDF175C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品質保証部長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サプライチェーン責任者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196E2-30A7-4126-BAE2-9EC510AF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異常発生時に問われること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322CF-EA6C-47EE-B667-756D4E46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・どのロットが対象か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・どの製品と顧客に影響するか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・止めるか、代替するか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・判断根拠を説明できるか</a:t>
            </a:r>
          </a:p>
        </p:txBody>
      </p:sp>
      <p:sp>
        <p:nvSpPr>
          <p:cNvPr id="10" name="pill-経済的購買者: CDO / CTO / 製造DX">
            <a:extLst xmlns:a="http://schemas.openxmlformats.org/drawingml/2006/main">
              <a:ext uri="{FF2B5EF4-FFF2-40B4-BE49-F238E27FC236}">
                <a16:creationId xmlns:a16="http://schemas.microsoft.com/office/drawing/2014/main" id="{DAEA58BB-52A8-4DBF-9D01-5E693807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2D3D7-A8C4-4013-84F1-7D39D48F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768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経済的購買者: CDO / CTO / 製造DX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680DF-962C-48AA-BE75-C703A895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430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CURRENT EXCEPTION LOOP</a:t>
            </a:r>
          </a:p>
        </p:txBody>
      </p:sp>
      <p:sp>
        <p:nvSpPr>
          <p:cNvPr id="13" name="process-01">
            <a:extLst xmlns:a="http://schemas.openxmlformats.org/drawingml/2006/main">
              <a:ext uri="{FF2B5EF4-FFF2-40B4-BE49-F238E27FC236}">
                <a16:creationId xmlns:a16="http://schemas.microsoft.com/office/drawing/2014/main" id="{7E488C12-84D8-44B4-8C03-3FC3E0DD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38375"/>
            <a:ext cx="1504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4" name="process-01-accent">
            <a:extLst xmlns:a="http://schemas.openxmlformats.org/drawingml/2006/main">
              <a:ext uri="{FF2B5EF4-FFF2-40B4-BE49-F238E27FC236}">
                <a16:creationId xmlns:a16="http://schemas.microsoft.com/office/drawing/2014/main" id="{22BFDB48-5861-4957-9453-72EEADC9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3837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62F15-7609-4B17-88C7-893903B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907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141A7-70D0-4C4A-93D4-E0657FD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670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異常検知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FD218-2FC5-43EC-BFBF-7B83364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76575"/>
            <a:ext cx="1200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MES / 検査記録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4E1D4-4D5A-4867-BB5B-FD976E2E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9" name="process-02">
            <a:extLst xmlns:a="http://schemas.openxmlformats.org/drawingml/2006/main">
              <a:ext uri="{FF2B5EF4-FFF2-40B4-BE49-F238E27FC236}">
                <a16:creationId xmlns:a16="http://schemas.microsoft.com/office/drawing/2014/main" id="{D3A2AD6A-B805-45AA-9209-203155CB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38375"/>
            <a:ext cx="1504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20" name="process-02-accent">
            <a:extLst xmlns:a="http://schemas.openxmlformats.org/drawingml/2006/main">
              <a:ext uri="{FF2B5EF4-FFF2-40B4-BE49-F238E27FC236}">
                <a16:creationId xmlns:a16="http://schemas.microsoft.com/office/drawing/2014/main" id="{AC639374-FD9F-48BA-B9BD-D67EF8D7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3837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B3EBF-49D6-4BA0-ACFF-766B0D0F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907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F96AB-DACF-44DE-8A00-3DA1F6B8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情報収集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9A128-C560-475A-A78D-2ACF47F5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76575"/>
            <a:ext cx="1200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ERP / 文書 / メール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7CAE9-A984-4320-B059-F5300677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5" name="process-03">
            <a:extLst xmlns:a="http://schemas.openxmlformats.org/drawingml/2006/main">
              <a:ext uri="{FF2B5EF4-FFF2-40B4-BE49-F238E27FC236}">
                <a16:creationId xmlns:a16="http://schemas.microsoft.com/office/drawing/2014/main" id="{17F307FC-D736-4FA1-B864-F1C99639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38375"/>
            <a:ext cx="1504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26" name="process-03-accent">
            <a:extLst xmlns:a="http://schemas.openxmlformats.org/drawingml/2006/main">
              <a:ext uri="{FF2B5EF4-FFF2-40B4-BE49-F238E27FC236}">
                <a16:creationId xmlns:a16="http://schemas.microsoft.com/office/drawing/2014/main" id="{2C7778BC-CADB-4116-84D1-412073D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3837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62B26-3086-45C0-813D-260A25E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3907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C7D0F3-EB3C-4DA4-9900-88CEC13A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6670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影響照合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6E989F-0726-45C3-AE67-0457A3A6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76575"/>
            <a:ext cx="1200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ロット・設備・出荷先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0C60AC-8ABA-4415-8614-E1FA634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1" name="process-04">
            <a:extLst xmlns:a="http://schemas.openxmlformats.org/drawingml/2006/main">
              <a:ext uri="{FF2B5EF4-FFF2-40B4-BE49-F238E27FC236}">
                <a16:creationId xmlns:a16="http://schemas.microsoft.com/office/drawing/2014/main" id="{D1D81B31-607D-4FAE-ACFB-10A22523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38375"/>
            <a:ext cx="1504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32" name="process-04-accent">
            <a:extLst xmlns:a="http://schemas.openxmlformats.org/drawingml/2006/main">
              <a:ext uri="{FF2B5EF4-FFF2-40B4-BE49-F238E27FC236}">
                <a16:creationId xmlns:a16="http://schemas.microsoft.com/office/drawing/2014/main" id="{860A78A1-1C03-4567-B0A3-F5B751EB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3837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6C0E24-B734-4713-93A3-1AE4BB50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907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9F1D4F-18E3-4658-9431-CEB85EA6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670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対応判断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FE9AC7-3514-4350-AC2F-CA8D92A5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076575"/>
            <a:ext cx="1200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停止・代替・通知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55A499-AF58-40A8-A74C-3D19E9C9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4340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4h → 30min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5A4DB1-AE2E-4C14-A8CF-2D75220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339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影響範囲特定の短縮目標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FA9F8D-0D79-46C5-87F1-453FF99A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1485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現状は人が複数システムと文書を横断し、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判断と説明の証拠を手作業で再構成している。</a:t>
            </a:r>
          </a:p>
        </p:txBody>
      </p:sp>
      <p:sp>
        <p:nvSpPr>
          <p:cNvPr id="39" name="pill-ROI仮説">
            <a:extLst xmlns:a="http://schemas.openxmlformats.org/drawingml/2006/main">
              <a:ext uri="{FF2B5EF4-FFF2-40B4-BE49-F238E27FC236}">
                <a16:creationId xmlns:a16="http://schemas.microsoft.com/office/drawing/2014/main" id="{6ECE96A0-48E7-4CBB-A3A2-E75FBEF5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9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007691-F86A-4A2B-AB38-5BCA34E1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578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ROI仮説</a:t>
            </a:r>
          </a:p>
        </p:txBody>
      </p: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DA95928-5A8C-4C28-AC69-DAE05151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5EE287D-EEE4-4EB7-83FD-5614B6E1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Cross-Industry Draft §7.1, §8. 4h→30min is an unvalidated ROI hypothesis.</a:t>
            </a:r>
          </a:p>
        </p:txBody>
      </p:sp>
      <p:sp>
        <p:nvSpPr>
          <p:cNvPr id="4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96FAFE5-DCDA-44BF-AAE9-DC70EEB2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16457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A44178E-0EE0-45DC-90F2-449DB5DF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2EA92B-97BA-4D21-99F6-7A769A3F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1052D7-066A-43A8-BAE0-F97E8A1B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WHY CURRENT TOOLS FAIL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78BD167-53B5-48E2-9253-0F32D4AE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既存の選択肢では、AIと業務実行の間が空いたままです。</a:t>
            </a:r>
          </a:p>
        </p:txBody>
      </p:sp>
      <p:sp>
        <p:nvSpPr>
          <p:cNvPr id="5" name="missing-layer">
            <a:extLst xmlns:a="http://schemas.openxmlformats.org/drawingml/2006/main">
              <a:ext uri="{FF2B5EF4-FFF2-40B4-BE49-F238E27FC236}">
                <a16:creationId xmlns:a16="http://schemas.microsoft.com/office/drawing/2014/main" id="{2E6EE33B-5C4C-4240-A04E-6B7E4698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4EFE5-D6F2-43C1-9A23-31DDE991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THE MISSING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3CE3F-15C8-488D-97E2-242CF2BF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業務事実とAI推測を分け、</a:t>
            </a:r>
          </a:p>
          <a:p xmlns:a="http://schemas.openxmlformats.org/drawingml/2006/main">
            <a:pPr algn="ctr">
              <a:defRPr sz="17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権限付きActionへ変える</a:t>
            </a:r>
          </a:p>
          <a:p xmlns:a="http://schemas.openxmlformats.org/drawingml/2006/main">
            <a:pPr algn="ctr">
              <a:defRPr sz="17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Operational Control Layer</a:t>
            </a:r>
          </a:p>
        </p:txBody>
      </p:sp>
      <p:sp>
        <p:nvSpPr>
          <p:cNvPr id="8" name="node-Cloud AI / RAG">
            <a:extLst xmlns:a="http://schemas.openxmlformats.org/drawingml/2006/main">
              <a:ext uri="{FF2B5EF4-FFF2-40B4-BE49-F238E27FC236}">
                <a16:creationId xmlns:a16="http://schemas.microsoft.com/office/drawing/2014/main" id="{C3D0011C-7AAE-41DF-B7EF-6B44B9FE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66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9525">
            <a:solidFill>
              <a:srgbClr val="222C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D02CB-274A-468D-A3DC-2983174D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Cloud AI / 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09498-9AA3-483E-BFA4-46170CC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2400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回答は作れる。</a:t>
            </a:r>
          </a:p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機密データ・実行統制が壁。</a:t>
            </a:r>
          </a:p>
        </p:txBody>
      </p:sp>
      <p:sp>
        <p:nvSpPr>
          <p:cNvPr id="11" name="node-Workflow製品">
            <a:extLst xmlns:a="http://schemas.openxmlformats.org/drawingml/2006/main">
              <a:ext uri="{FF2B5EF4-FFF2-40B4-BE49-F238E27FC236}">
                <a16:creationId xmlns:a16="http://schemas.microsoft.com/office/drawing/2014/main" id="{FE681009-3BD2-42EB-BB17-59D0F82E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66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9525">
            <a:solidFill>
              <a:srgbClr val="222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7565A-8414-477A-8FFE-3F37BFA0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Workflow製品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5E1B9-EEEE-4756-946B-3DFF732B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400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承認はできる。</a:t>
            </a:r>
          </a:p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業界オブジェクトとAI評価が薄い。</a:t>
            </a:r>
          </a:p>
        </p:txBody>
      </p:sp>
      <p:sp>
        <p:nvSpPr>
          <p:cNvPr id="14" name="node-大型データ基盤">
            <a:extLst xmlns:a="http://schemas.openxmlformats.org/drawingml/2006/main">
              <a:ext uri="{FF2B5EF4-FFF2-40B4-BE49-F238E27FC236}">
                <a16:creationId xmlns:a16="http://schemas.microsoft.com/office/drawing/2014/main" id="{56F80175-1BF3-4431-A96D-EBA9667B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66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9525">
            <a:solidFill>
              <a:srgbClr val="222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D1CB2-CF0A-458E-9174-19A7EFBE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027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大型データ基盤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1AFF6-058B-4076-B01C-F2FDB973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86025"/>
            <a:ext cx="2400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全社基盤は作れる。</a:t>
            </a:r>
          </a:p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最初のROIまでが重い。</a:t>
            </a:r>
          </a:p>
        </p:txBody>
      </p:sp>
      <p:sp>
        <p:nvSpPr>
          <p:cNvPr id="17" name="node-個別SI / 内製">
            <a:extLst xmlns:a="http://schemas.openxmlformats.org/drawingml/2006/main">
              <a:ext uri="{FF2B5EF4-FFF2-40B4-BE49-F238E27FC236}">
                <a16:creationId xmlns:a16="http://schemas.microsoft.com/office/drawing/2014/main" id="{3C8B6EEC-D4C9-4AAD-A33B-8F3F457D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66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9525">
            <a:solidFill>
              <a:srgbClr val="222C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6D4AC-32A9-4046-9374-9A421E70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2432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個別SI / 内製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04ECE-ED7F-4F29-976A-B9396ACE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10075"/>
            <a:ext cx="2400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要件適合は高い。</a:t>
            </a:r>
          </a:p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案件ごとに再発明する。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DDC76-70F4-4CB3-BE8D-A7B2E1E7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232A9-78E3-42A3-9D2F-5D73C63C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6E303-BA5F-466F-AD6E-AAE099DA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7A40CB-A4C9-440D-AC00-A140C598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01EA2-0DC8-4560-B60B-6B4E6B64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0D889-D2DD-41D4-9E82-AC1EE878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444DF-493D-4EA8-B2B3-8D396C44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F26BC6-9799-4427-946C-DE0E2903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C013BA-320B-4984-9E55-E0A4B036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D1C21E-19A9-4B6A-8F28-87D98C18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D0223-4BBC-4962-8C81-A87207B9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ADACC8-A938-4690-A420-4766BE0D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52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BA4F30-ACAF-43BE-BBD0-41B6A989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245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KairosAIの主張: モデルを作るのではなく、モデル出力を本番業務へ安全に接続する層を製品化する。</a:t>
            </a:r>
          </a:p>
        </p:txBody>
      </p:sp>
      <p:sp>
        <p:nvSpPr>
          <p:cNvPr id="3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106043-1E81-4EF2-95A9-12BA4694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51A3641-06F5-4DD0-95F5-440D9F5E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Source: Strategy Summary §1, §5, §10. Category framing; feature claims require validation.</a:t>
            </a:r>
          </a:p>
        </p:txBody>
      </p:sp>
      <p:sp>
        <p:nvSpPr>
          <p:cNvPr id="3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F879163-A538-4E18-9501-802D3ED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18178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4F9723E-27CF-4C23-8AC3-8A1193AD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2ABA32-4DA0-4D79-97C7-95055641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84D593-8F69-49AF-B5F0-CF63D76F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THE SOLUTION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848B394-33A1-45F6-9BC5-2C509ADB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KairosAIは、品質例外を「根拠のあるAction」まで一気通貫にします。</a:t>
            </a:r>
          </a:p>
        </p:txBody>
      </p:sp>
      <p:sp>
        <p:nvSpPr>
          <p:cNvPr id="5" name="process-01">
            <a:extLst xmlns:a="http://schemas.openxmlformats.org/drawingml/2006/main">
              <a:ext uri="{FF2B5EF4-FFF2-40B4-BE49-F238E27FC236}">
                <a16:creationId xmlns:a16="http://schemas.microsoft.com/office/drawing/2014/main" id="{B67184E9-4A7A-4242-AC62-0AF77FFD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19240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6" name="process-01-accent">
            <a:extLst xmlns:a="http://schemas.openxmlformats.org/drawingml/2006/main">
              <a:ext uri="{FF2B5EF4-FFF2-40B4-BE49-F238E27FC236}">
                <a16:creationId xmlns:a16="http://schemas.microsoft.com/office/drawing/2014/main" id="{11AC0D32-DDCC-4F9D-A4AF-F356209E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17E21-B753-4C22-B14D-10EF374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5F6D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B9894-D63D-4BCD-B95F-DE21D78F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異常を取り込む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1AA0E-5896-467E-A6FB-2B987E30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ERP / MES / 文書 / Ticket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0E33D-DC23-4415-943F-2083885E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575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1" name="process-02">
            <a:extLst xmlns:a="http://schemas.openxmlformats.org/drawingml/2006/main">
              <a:ext uri="{FF2B5EF4-FFF2-40B4-BE49-F238E27FC236}">
                <a16:creationId xmlns:a16="http://schemas.microsoft.com/office/drawing/2014/main" id="{BB711795-27FC-4ECD-83E4-E75118CC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9240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2" name="process-02-accent">
            <a:extLst xmlns:a="http://schemas.openxmlformats.org/drawingml/2006/main">
              <a:ext uri="{FF2B5EF4-FFF2-40B4-BE49-F238E27FC236}">
                <a16:creationId xmlns:a16="http://schemas.microsoft.com/office/drawing/2014/main" id="{BE9FC5A6-92E3-409F-9FD5-E3FE374B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72F36-BAC4-4551-A2FD-3CD451B0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002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D2E6D-4C18-4A40-BFDE-3807CAFB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影響をGraph化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45066-1DE9-4EA6-A332-F5CEF6FC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86075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ロット・設備・顧客・契約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05414-856B-469A-ADF2-A02A55F5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575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7" name="process-03">
            <a:extLst xmlns:a="http://schemas.openxmlformats.org/drawingml/2006/main">
              <a:ext uri="{FF2B5EF4-FFF2-40B4-BE49-F238E27FC236}">
                <a16:creationId xmlns:a16="http://schemas.microsoft.com/office/drawing/2014/main" id="{0A7A72F5-BC1F-4CDA-AF3E-4B55FA9A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47875"/>
            <a:ext cx="19240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8" name="process-03-accent">
            <a:extLst xmlns:a="http://schemas.openxmlformats.org/drawingml/2006/main">
              <a:ext uri="{FF2B5EF4-FFF2-40B4-BE49-F238E27FC236}">
                <a16:creationId xmlns:a16="http://schemas.microsoft.com/office/drawing/2014/main" id="{5C4C6AD4-DDDA-4BEE-8492-BED4D7B2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F813F-F741-4215-916F-47AA5976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002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88B1C-E1F9-4333-B9BA-9AF12D80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AI推測を分離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0A359-9E68-403F-B8FF-44388141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86075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Staging Graph +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4ADED-7A65-40D0-B2D4-24C5F407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3" name="process-04">
            <a:extLst xmlns:a="http://schemas.openxmlformats.org/drawingml/2006/main">
              <a:ext uri="{FF2B5EF4-FFF2-40B4-BE49-F238E27FC236}">
                <a16:creationId xmlns:a16="http://schemas.microsoft.com/office/drawing/2014/main" id="{377BFCDD-48FD-44D1-BDE9-3F7AC592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47875"/>
            <a:ext cx="19240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24" name="process-04-accent">
            <a:extLst xmlns:a="http://schemas.openxmlformats.org/drawingml/2006/main">
              <a:ext uri="{FF2B5EF4-FFF2-40B4-BE49-F238E27FC236}">
                <a16:creationId xmlns:a16="http://schemas.microsoft.com/office/drawing/2014/main" id="{908FFC1F-D012-4128-942B-BB7EDFA3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E5F3F-D190-4595-8CAE-17E0111E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14D01-9B34-43ED-9352-F4F07D0A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権限を判定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460749-EFBD-429D-B293-CC10C60F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Policy Gate + Human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670A08-E997-4130-97B2-5628374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9" name="process-05">
            <a:extLst xmlns:a="http://schemas.openxmlformats.org/drawingml/2006/main">
              <a:ext uri="{FF2B5EF4-FFF2-40B4-BE49-F238E27FC236}">
                <a16:creationId xmlns:a16="http://schemas.microsoft.com/office/drawing/2014/main" id="{E33A03EC-24C0-40B8-B372-3E266887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47875"/>
            <a:ext cx="19240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30" name="process-05-accent">
            <a:extLst xmlns:a="http://schemas.openxmlformats.org/drawingml/2006/main">
              <a:ext uri="{FF2B5EF4-FFF2-40B4-BE49-F238E27FC236}">
                <a16:creationId xmlns:a16="http://schemas.microsoft.com/office/drawing/2014/main" id="{14EB30A9-2A4D-4863-9CCB-E6F9C66D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9451D-53E3-4920-9DA8-C9319EE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02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D9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D98A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165D43-8B26-4559-B9E8-3A4CA3A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安全に実行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FAB78E-A089-40F2-A009-B082ABA6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86075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Workflow + Audit + Outcome</a:t>
            </a:r>
          </a:p>
        </p:txBody>
      </p:sp>
      <p:sp>
        <p:nvSpPr>
          <p:cNvPr id="34" name="solution-metric-rail">
            <a:extLst xmlns:a="http://schemas.openxmlformats.org/drawingml/2006/main">
              <a:ext uri="{FF2B5EF4-FFF2-40B4-BE49-F238E27FC236}">
                <a16:creationId xmlns:a16="http://schemas.microsoft.com/office/drawing/2014/main" id="{9176C210-0224-40C6-B87A-BBF6AE49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108966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3750F4-D1EB-4AD0-9ABC-131FFFAA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2619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4h → 30min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78F25B-DE20-48E4-AD04-D2AB4B60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影響範囲特定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41FBFC-7ECE-4F05-9C63-E143F944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910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8–12週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FD9F2A-7EAF-4C19-ABCF-0ABC22E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816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Pilot-in-a-Box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E16761-FB52-4EE0-AB31-9634E27A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rPr>
              <a:t>L0 → L3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AA60D5-8783-4ED4-B2AC-9D8361A4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816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段階的な自動化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EA4A8E-4171-4ECF-9A4F-4BBDC1EB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01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すべて仮説。</a:t>
            </a:r>
          </a:p>
          <a:p xmlns:a="http://schemas.openxmlformats.org/drawingml/2006/main">
            <a:pPr algn="ctr">
              <a:defRPr sz="97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最初のPilotで検証する。</a:t>
            </a:r>
          </a:p>
        </p:txBody>
      </p:sp>
      <p:sp>
        <p:nvSpPr>
          <p:cNvPr id="4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36BAC6A-4D26-4D7A-9CA5-68823E72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5657F9B-5ABE-406B-A7CC-AE40378E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Cross-Industry Draft §8–10; Strategy Summary §2–3. Quantitative outcomes are hypotheses.</a:t>
            </a:r>
          </a:p>
        </p:txBody>
      </p:sp>
      <p:sp>
        <p:nvSpPr>
          <p:cNvPr id="4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F592B02-20FB-4D44-A1BD-BDC3DD32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30588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E1EA3FB-68F1-4FFA-820A-343582F1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14DD41-0D73-43BC-A6F2-37BA75C8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AF401A7-052E-4972-8C0C-7F9BA40B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PRODUCT PROOF / MANUFACTURING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7C74599-2DEE-4C15-9470-2CA83639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1件の品質アラートが、影響Graphと承認済み対応に変わります。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31E0D-814D-41A1-ADD2-60C997E6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EVIDENCE + IMPACT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6706A-1BCF-4E51-B28D-79A5F2B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E64AE-23E1-49FF-8A54-6831E623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86976-2E2D-4D09-BEEC-A0CA222D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8CE26-C861-4713-A26D-84B8B8A0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E6914-8AAE-4250-9C3F-B15ADBB2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F8AD0-71F1-406E-81EC-71270154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AE3E8-E1FF-43E7-8B7F-B44DE7EB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24125"/>
            <a:ext cx="885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29E70-8877-40B3-B873-A1978634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3837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16D26-22BC-406D-BC17-56A324B5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3837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53BE4-658F-4B3B-A92D-8B0690B7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24125"/>
            <a:ext cx="885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6B662-A697-487A-B42E-D7DA1F7F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2412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1B872-5329-4755-9029-C819EF21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527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40313-B4F2-4C0A-9A42-D333A3F1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885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4D3B6-9A65-45FE-B880-33E9C2FB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4766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4F0E1-5073-4CE1-85EC-6A4E2566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10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node-品質異常">
            <a:extLst xmlns:a="http://schemas.openxmlformats.org/drawingml/2006/main">
              <a:ext uri="{FF2B5EF4-FFF2-40B4-BE49-F238E27FC236}">
                <a16:creationId xmlns:a16="http://schemas.microsoft.com/office/drawing/2014/main" id="{431B4803-3727-4C0F-93A7-EC8CA04F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447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6D"/>
          </a:solidFill>
          <a:ln xmlns:a="http://schemas.openxmlformats.org/drawingml/2006/main" w="9525">
            <a:solidFill>
              <a:srgbClr val="FF5F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DE548-8F97-4482-A214-840FE222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品質異常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C6308-38E9-4701-BA81-4B5F685A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1181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Supplier A / Lot 27B</a:t>
            </a:r>
          </a:p>
        </p:txBody>
      </p:sp>
      <p:sp>
        <p:nvSpPr>
          <p:cNvPr id="24" name="node-部品ロット">
            <a:extLst xmlns:a="http://schemas.openxmlformats.org/drawingml/2006/main">
              <a:ext uri="{FF2B5EF4-FFF2-40B4-BE49-F238E27FC236}">
                <a16:creationId xmlns:a16="http://schemas.microsoft.com/office/drawing/2014/main" id="{A471A0D2-3181-40E3-B4E9-5CD09795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47875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2C4F0-E1C7-4CBA-9525-081FA4A7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717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部品ロット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55456-5B8B-4A12-B788-DB64DA18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57450"/>
            <a:ext cx="1162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Evidence: 検査記録</a:t>
            </a:r>
          </a:p>
        </p:txBody>
      </p:sp>
      <p:sp>
        <p:nvSpPr>
          <p:cNvPr id="27" name="node-工場ライン">
            <a:extLst xmlns:a="http://schemas.openxmlformats.org/drawingml/2006/main">
              <a:ext uri="{FF2B5EF4-FFF2-40B4-BE49-F238E27FC236}">
                <a16:creationId xmlns:a16="http://schemas.microsoft.com/office/drawing/2014/main" id="{FDC568A6-E22E-40A3-9DA9-0D193C59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90875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9525">
            <a:solidFill>
              <a:srgbClr val="222C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DFD023-262D-4430-94BB-9BE04037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147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工場ライン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9CA20-6984-409E-AB6A-FED3779A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00450"/>
            <a:ext cx="1162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State: 稼働中</a:t>
            </a:r>
          </a:p>
        </p:txBody>
      </p:sp>
      <p:sp>
        <p:nvSpPr>
          <p:cNvPr id="30" name="node-製品A / B">
            <a:extLst xmlns:a="http://schemas.openxmlformats.org/drawingml/2006/main">
              <a:ext uri="{FF2B5EF4-FFF2-40B4-BE49-F238E27FC236}">
                <a16:creationId xmlns:a16="http://schemas.microsoft.com/office/drawing/2014/main" id="{EAF85E2F-6D00-44A8-9478-D0B82E9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97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9525">
            <a:solidFill>
              <a:srgbClr val="F7C9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AB3038-ED34-40D6-BE7B-7433E209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33575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製品A / 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D929BB-A147-46BB-808A-85C83961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219325"/>
            <a:ext cx="1114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影響候補</a:t>
            </a:r>
          </a:p>
        </p:txBody>
      </p:sp>
      <p:sp>
        <p:nvSpPr>
          <p:cNvPr id="33" name="node-出荷先 12社">
            <a:extLst xmlns:a="http://schemas.openxmlformats.org/drawingml/2006/main">
              <a:ext uri="{FF2B5EF4-FFF2-40B4-BE49-F238E27FC236}">
                <a16:creationId xmlns:a16="http://schemas.microsoft.com/office/drawing/2014/main" id="{C86164C8-2945-4B1A-B84B-E4D2EF11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1937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9525">
            <a:solidFill>
              <a:srgbClr val="222C4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B4BF99-82C8-4945-B782-13BDCCAD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4320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出荷先 12社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1C54D2-0339-43EA-946A-A7558E41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28950"/>
            <a:ext cx="1114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SLA / 通知要否</a:t>
            </a:r>
          </a:p>
        </p:txBody>
      </p:sp>
      <p:sp>
        <p:nvSpPr>
          <p:cNvPr id="36" name="node-代替Supplier">
            <a:extLst xmlns:a="http://schemas.openxmlformats.org/drawingml/2006/main">
              <a:ext uri="{FF2B5EF4-FFF2-40B4-BE49-F238E27FC236}">
                <a16:creationId xmlns:a16="http://schemas.microsoft.com/office/drawing/2014/main" id="{326744BC-DEA9-4BB7-B28C-82984B0C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1950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9525">
            <a:solidFill>
              <a:srgbClr val="222C4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EA261F-599A-4BC8-8140-E055245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743325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代替Supplier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83F199-6D66-48EE-91D7-5B5AF0AA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29075"/>
            <a:ext cx="1114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切替可能性</a:t>
            </a:r>
          </a:p>
        </p:txBody>
      </p:sp>
      <p:sp>
        <p:nvSpPr>
          <p:cNvPr id="39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1AE62B59-A3D6-46DD-83E1-E4D66BA6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2733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C6B095-7ED9-47E9-B957-7A448FC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RECOMMENDED ACTIONS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E78189-D791-479A-A315-3D7B7D9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E512CE-1588-41E4-9526-FDDD4EDB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431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該当ロットの出荷保留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D5975D-281A-4A87-B13A-D6DA31FB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90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承認必須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FC171F-FCB1-4A02-B15A-0B30F83E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7A4FD2-1096-42F2-85CB-D59845C6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527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品質調査Caseを作成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2970FA-8108-413C-8149-D8D4C2A9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00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自動実行可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A25664-D84F-4810-84B8-EE6D2877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814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A5207B-CEB4-4710-820A-B253B10B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623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代替Supplierを照会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7D77F1-1088-4BAB-8864-DA673F69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00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承認必須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147DC0-0783-49EA-A140-ED746E9A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FAED40-0668-46D1-A562-A0AAEA15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71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顧客通知Draftを生成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080326-90A1-4DA2-9C7B-0776251A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96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人間確認</a:t>
            </a:r>
          </a:p>
        </p:txBody>
      </p:sp>
      <p:sp>
        <p:nvSpPr>
          <p:cNvPr id="53" name="pill-Policy Gate → 人間承認 → Workflow">
            <a:extLst xmlns:a="http://schemas.openxmlformats.org/drawingml/2006/main">
              <a:ext uri="{FF2B5EF4-FFF2-40B4-BE49-F238E27FC236}">
                <a16:creationId xmlns:a16="http://schemas.microsoft.com/office/drawing/2014/main" id="{13260FCB-A257-4FD5-93FE-6204D4E9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096B72-0EC7-497F-81B6-391D511C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006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Policy Gate → 人間承認 → Workflow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1582C5-5FF6-4872-9F03-AAE1B7B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Demo scope: Operational Exception Graph MVP</a:t>
            </a:r>
          </a:p>
        </p:txBody>
      </p:sp>
      <p:sp>
        <p:nvSpPr>
          <p:cNvPr id="5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3FD109A-0A93-4F73-97B6-A52372D2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7FF1A1F-31E5-4EEC-8A20-312D7928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Source: Cross-Industry Draft §10.4. This is a proposed MVP scenario, not deployed-product evidence.</a:t>
            </a:r>
          </a:p>
        </p:txBody>
      </p:sp>
      <p:sp>
        <p:nvSpPr>
          <p:cNvPr id="5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5C53A44-B977-47AA-AA9D-A492BEE2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47846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47B9D6E-33BD-448B-9174-14305C24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EF4D48D-C2B1-49B7-A891-03C9AEE0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13EEDA-BFD8-4E90-950F-E7A8078C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DEFENSIBILITY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DCAEB13-B07E-43BA-A56D-2FDDBD5B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堀はモデルではなく、モデル出力と業務事実の間の制御系です。</a:t>
            </a:r>
          </a:p>
        </p:txBody>
      </p:sp>
      <p:sp>
        <p:nvSpPr>
          <p:cNvPr id="5" name="private-boundary">
            <a:extLst xmlns:a="http://schemas.openxmlformats.org/drawingml/2006/main">
              <a:ext uri="{FF2B5EF4-FFF2-40B4-BE49-F238E27FC236}">
                <a16:creationId xmlns:a16="http://schemas.microsoft.com/office/drawing/2014/main" id="{3D06650C-14EF-4FC8-A060-0722D3B0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8966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19050">
            <a:solidFill>
              <a:srgbClr val="0B1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448DF-3D11-4464-B67B-C64F6F7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CUSTOMER CONTROL BOUNDARY / VPC / ON-PREM</a:t>
            </a:r>
          </a:p>
        </p:txBody>
      </p:sp>
      <p:sp>
        <p:nvSpPr>
          <p:cNvPr id="7" name="process-01">
            <a:extLst xmlns:a="http://schemas.openxmlformats.org/drawingml/2006/main">
              <a:ext uri="{FF2B5EF4-FFF2-40B4-BE49-F238E27FC236}">
                <a16:creationId xmlns:a16="http://schemas.microsoft.com/office/drawing/2014/main" id="{DD578B0F-05DA-46A7-AF78-F966958B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8" name="process-01-accent">
            <a:extLst xmlns:a="http://schemas.openxmlformats.org/drawingml/2006/main">
              <a:ext uri="{FF2B5EF4-FFF2-40B4-BE49-F238E27FC236}">
                <a16:creationId xmlns:a16="http://schemas.microsoft.com/office/drawing/2014/main" id="{F10220B1-E03E-4E58-84BE-164C5AB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90C78-49E0-41BE-BC17-73D360BE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AEE9B-813D-41AB-B1A6-729DBBC2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Staging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6091E-D8C0-4344-9ABF-9DD9F124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552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OBSERVED / EXTRACTED / INFERRED を分離。AI推測を事実として直接登録しない。</a:t>
            </a:r>
          </a:p>
        </p:txBody>
      </p:sp>
      <p:sp>
        <p:nvSpPr>
          <p:cNvPr id="12" name="process-02">
            <a:extLst xmlns:a="http://schemas.openxmlformats.org/drawingml/2006/main">
              <a:ext uri="{FF2B5EF4-FFF2-40B4-BE49-F238E27FC236}">
                <a16:creationId xmlns:a16="http://schemas.microsoft.com/office/drawing/2014/main" id="{27A76889-CEBD-4C81-B8A3-046ADC1C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3" name="process-02-accent">
            <a:extLst xmlns:a="http://schemas.openxmlformats.org/drawingml/2006/main">
              <a:ext uri="{FF2B5EF4-FFF2-40B4-BE49-F238E27FC236}">
                <a16:creationId xmlns:a16="http://schemas.microsoft.com/office/drawing/2014/main" id="{3BCF278B-6B69-4573-A8D3-DCAF7A1F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571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8D557-1247-40C2-809A-CD6EA51E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701B4-DBCE-4E97-994C-FE2F2960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9875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Policy +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A24C4-272B-4CBC-83BB-4039CCC8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2552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権限、承認、限度、例外処理を通過し、許可されたActionだけを外部システムへ送る。</a:t>
            </a:r>
          </a:p>
        </p:txBody>
      </p:sp>
      <p:sp>
        <p:nvSpPr>
          <p:cNvPr id="17" name="process-03">
            <a:extLst xmlns:a="http://schemas.openxmlformats.org/drawingml/2006/main">
              <a:ext uri="{FF2B5EF4-FFF2-40B4-BE49-F238E27FC236}">
                <a16:creationId xmlns:a16="http://schemas.microsoft.com/office/drawing/2014/main" id="{31BF0655-0290-416A-ABA8-EC54DB85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8" name="process-03-accent">
            <a:extLst xmlns:a="http://schemas.openxmlformats.org/drawingml/2006/main">
              <a:ext uri="{FF2B5EF4-FFF2-40B4-BE49-F238E27FC236}">
                <a16:creationId xmlns:a16="http://schemas.microsoft.com/office/drawing/2014/main" id="{095BB326-69CB-48A9-AD94-41F2B9E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571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2C676-4E0B-4E17-B88E-BA9AD560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D9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D98A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E673B-EE18-4C47-9C8D-3447ECBE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9875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Audit + Eval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AE222-1645-4E8B-8B08-CE0D47D2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552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Evidence、Model Call、Policy Decision、Outcomeを記録し、改善と昇格判断へ戻す。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C098B-405A-41FA-B3EE-ACBDE586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0C068-E770-43A1-B1B4-8CB8BD9E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861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4" name="pill-AIを顧客の管理境界内に持ち込む">
            <a:extLst xmlns:a="http://schemas.openxmlformats.org/drawingml/2006/main">
              <a:ext uri="{FF2B5EF4-FFF2-40B4-BE49-F238E27FC236}">
                <a16:creationId xmlns:a16="http://schemas.microsoft.com/office/drawing/2014/main" id="{5FB30B2C-73D2-4583-B4D0-67419BDA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0062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D9D7A5-BCA9-4F7B-9FA7-802EF567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38725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AIを顧客の管理境界内に持ち込む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D6593-37EA-434E-86EF-E10E3835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交換可能なモデル / OSS推論基盤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D51079-7B3B-4C53-8377-9FB15FB6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根拠付きActionの運用データが蓄積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ADC52A0-F0DC-4A7D-9769-BEDF5DE1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DB8A368-FA60-46BC-B591-CC7C4A8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Strategy Summary §2–3; Private AI Factory Design §1.4. Architecture is proposed.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F92B957-F680-4C52-B675-39EC6EBD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3906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FC730C0-F1F4-448F-B878-8C8EE91C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7035439-5730-40CA-9703-34C606F8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D02CC03-6BAA-4B1F-AA08-0F5081C7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EXPANSION ENGINE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9E17E2-2390-438C-8F83-18E88DFB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入口は狭く、拡張面はWorkflow・工場・業界へ複利で広がります。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D784B-AE49-4337-AEFB-1CF8CC2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LAND AND EXPAND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0B486-6AB6-467B-83B5-C8655F49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0DD09-6864-4298-B9E2-36E1B84E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1. 品質例外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9C2EB-6311-482B-B483-5C41FC5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1 workflow / 1 plant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77BB7-03B4-4D13-B836-EB6BCDD5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57625"/>
            <a:ext cx="2381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DF42D-A516-462C-910F-D3098067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2907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2. 製造Ops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4EDDB-C6AB-4B15-83BD-CB7D69E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7197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SCM / 保全 / 監査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6B956-B0BD-4640-B560-DA660BC4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0375"/>
            <a:ext cx="24765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98DAE-D5C8-4BD9-85BF-055F3EAA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3. 全社展開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D0B4F-E369-42B1-AA5E-B6B69173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14725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複数工場 / 複数Pack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3DA91-1B9E-41A7-A298-7344B7CC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3124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A7F15-434B-4CB8-B10B-FA39C667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4. 他規制産業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A7128-2E80-45A8-AB6D-5F14725A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AML / Energy / Public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24604-DB15-4296-965C-C7CA6CAA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Industry Pack 開発工数の仮説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2B911-F404-4EE2-915A-2768F717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6E2DE-877C-4257-ABD8-C84EFAA8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1本目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2B332-A3BA-4369-BECD-7CD93B8A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F6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F6D"/>
                </a:solidFill>
                <a:latin typeface="Hiragino Sans"/>
                <a:ea typeface="Hiragino Sans"/>
                <a:cs typeface="Hiragino Sans"/>
              </a:rPr>
              <a:t>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054F0-30F2-4B0D-A4DA-74B58620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8A18F-A8C3-44CC-9777-45F22116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2本目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2B080-5530-43B9-B2D7-0FDC6812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40%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F3156-DD07-427C-BBD1-BF624A1E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E228BB-D813-43A2-9176-C54C2A16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3本目以降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82ACE-77E9-4A8E-A9A2-EE46CB48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rPr>
              <a:t>20–25%</a:t>
            </a:r>
          </a:p>
        </p:txBody>
      </p:sp>
      <p:sp>
        <p:nvSpPr>
          <p:cNvPr id="28" name="sam-formula">
            <a:extLst xmlns:a="http://schemas.openxmlformats.org/drawingml/2006/main">
              <a:ext uri="{FF2B5EF4-FFF2-40B4-BE49-F238E27FC236}">
                <a16:creationId xmlns:a16="http://schemas.microsoft.com/office/drawing/2014/main" id="{EC9307A5-9AE7-43EB-A90E-83BFD993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67375"/>
            <a:ext cx="3124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4BF3C-95DF-45AC-9277-16A8EDD4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1025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初期SAM = 対象企業数 × 部門ARR × Pack数</a:t>
            </a:r>
          </a:p>
        </p:txBody>
      </p:sp>
      <p:sp>
        <p:nvSpPr>
          <p:cNvPr id="30" name="pill-企業数・ARRは要検証">
            <a:extLst xmlns:a="http://schemas.openxmlformats.org/drawingml/2006/main">
              <a:ext uri="{FF2B5EF4-FFF2-40B4-BE49-F238E27FC236}">
                <a16:creationId xmlns:a16="http://schemas.microsoft.com/office/drawing/2014/main" id="{D74C787C-8910-4635-90A6-A59773AE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7DCDD-9180-4650-8AC3-1B1490A7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企業数・ARRは要検証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AACA057-0311-4479-B609-039D8993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F96BF93-4A4F-4538-A733-29B906DA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Source: Strategy Summary §8.8. Pack effort ratios are hypotheses; no grounded TAM/ACV supplied.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0349D39-ECE1-4074-AE0A-ED7A99C8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14003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A43F3C3-6E27-4C67-B6F4-C5321A8F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1CD62B-CF5F-4773-A330-C450DC18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4803BA4-F9B3-456B-A49F-BF423D9D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BUSINESS MODEL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9EC12E3-2C39-4437-8A58-7268A1C4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売上はPilotではなく、顧客の運用基盤になるほど積み上がります。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D9EA8-492F-41F1-AB4C-AD46FB5B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COMMERCIAL MOTION</a:t>
            </a:r>
          </a:p>
        </p:txBody>
      </p:sp>
      <p:sp>
        <p:nvSpPr>
          <p:cNvPr id="6" name="revenue-0">
            <a:extLst xmlns:a="http://schemas.openxmlformats.org/drawingml/2006/main">
              <a:ext uri="{FF2B5EF4-FFF2-40B4-BE49-F238E27FC236}">
                <a16:creationId xmlns:a16="http://schemas.microsoft.com/office/drawing/2014/main" id="{1A9A248D-F7A8-42A7-83CE-B43D021F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381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F11B6-0337-49D3-A259-CE8A7446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00968-E26E-43EE-89A6-2A1DD167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Pilot-in-a-Box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CA463-7C99-449A-812A-435AD0EA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8–12週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306FE-E208-49BD-B8E0-9382F8FF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17243-F14A-419C-83B8-24C6370A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導入・検証費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64C27-8570-46EB-BA06-DDF919FD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revenue-1">
            <a:extLst xmlns:a="http://schemas.openxmlformats.org/drawingml/2006/main">
              <a:ext uri="{FF2B5EF4-FFF2-40B4-BE49-F238E27FC236}">
                <a16:creationId xmlns:a16="http://schemas.microsoft.com/office/drawing/2014/main" id="{DD0A08E6-58A3-45B7-88D3-5EF40772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43125"/>
            <a:ext cx="2381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01117-758A-46DF-A790-C1C7A2BE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24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4D944-7397-4835-9635-27E01212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479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A73AC-0F94-4FB3-8E92-92FAB8F3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86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1部門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194AD-1918-458D-B27E-0E327C54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76625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6189A-AFEB-476E-B3D3-74999157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671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Platform License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4262D-B756-4208-B1FA-AD3F4A70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003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0" name="revenue-2">
            <a:extLst xmlns:a="http://schemas.openxmlformats.org/drawingml/2006/main">
              <a:ext uri="{FF2B5EF4-FFF2-40B4-BE49-F238E27FC236}">
                <a16:creationId xmlns:a16="http://schemas.microsoft.com/office/drawing/2014/main" id="{86E2638A-F7B9-4D2D-97F4-CFEAAB74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43125"/>
            <a:ext cx="2381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75C0E-B206-4911-BA5D-CD9EEAFE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BBF0C-CB9D-47FB-8F0D-19C57F03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Pack Expansion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07BC4-0682-4383-9DF7-6EF97A3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他業務・他工場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0E375-8DBA-45E2-B573-35BC2252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09613-A1BF-4C6A-8455-CF20197B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671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Industry Pack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5E365-52B2-4794-B82F-A89497AD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7" name="revenue-3">
            <a:extLst xmlns:a="http://schemas.openxmlformats.org/drawingml/2006/main">
              <a:ext uri="{FF2B5EF4-FFF2-40B4-BE49-F238E27FC236}">
                <a16:creationId xmlns:a16="http://schemas.microsoft.com/office/drawing/2014/main" id="{B649ECD0-7C24-4FEC-B955-EA647432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43125"/>
            <a:ext cx="2381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F7F9D2-F79B-46F1-A411-95F02C5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24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E8C88-0333-49D9-9C71-2A4D935F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479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Regulated Ops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2B4A35-3FC3-4571-876F-B60CA11F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86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VPC / On-Prem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600A5-13DC-45D0-8A03-2CD13C5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76625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D39C22-9165-4E3E-A3C5-EB256DB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671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Support + Managed Ops</a:t>
            </a:r>
          </a:p>
        </p:txBody>
      </p:sp>
      <p:sp>
        <p:nvSpPr>
          <p:cNvPr id="33" name="business-bridge">
            <a:extLst xmlns:a="http://schemas.openxmlformats.org/drawingml/2006/main">
              <a:ext uri="{FF2B5EF4-FFF2-40B4-BE49-F238E27FC236}">
                <a16:creationId xmlns:a16="http://schemas.microsoft.com/office/drawing/2014/main" id="{8F8F54A5-8027-4D01-B987-4B85DCB4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9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E60D7-7F25-4B5A-9C72-BF42284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SCALABILITY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93053E-8CF8-445B-8D96-9D27A27A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752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導入売上への依存を下げ、Platform License + Pack + Support の継続売上比率を上げられるか。</a:t>
            </a:r>
          </a:p>
        </p:txBody>
      </p:sp>
      <p:sp>
        <p:nvSpPr>
          <p:cNvPr id="36" name="pill-価格・粗利・更新率は要検証">
            <a:extLst xmlns:a="http://schemas.openxmlformats.org/drawingml/2006/main">
              <a:ext uri="{FF2B5EF4-FFF2-40B4-BE49-F238E27FC236}">
                <a16:creationId xmlns:a16="http://schemas.microsoft.com/office/drawing/2014/main" id="{34DC44A9-821D-4724-94E1-42C343FD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48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19BC6D-FDD3-44D4-BEA1-B81C66B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価格・粗利・更新率は要検証</a:t>
            </a:r>
          </a:p>
        </p:txBody>
      </p:sp>
      <p:sp>
        <p:nvSpPr>
          <p:cNvPr id="3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B024E39-83CA-497E-881B-DFB4308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071CF67-2B7F-44EB-99C3-3D6D3334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Private AI Factory Design §9.1 and deployment models. Pricing and margin data were not supplied.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79B6B4-E596-467C-B531-8EA04BFF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3527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05A1F30-F200-408C-AF14-1E2F4D83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18552F-6B62-4A98-BBE5-B517CF42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A40A7E-0EE7-4AFD-8EF3-B036DBAF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GO-TO-MARKET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94372C1-4772-4400-B363-8EB137F9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最初に売る相手はCTOではなく、例外対応の損失を持つ業務責任者です。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70A4C-0A21-4427-9769-94B6DBE6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BUYING COMMITTEE</a:t>
            </a:r>
          </a:p>
        </p:txBody>
      </p:sp>
      <p:sp>
        <p:nvSpPr>
          <p:cNvPr id="6" name="buyer-0">
            <a:extLst xmlns:a="http://schemas.openxmlformats.org/drawingml/2006/main">
              <a:ext uri="{FF2B5EF4-FFF2-40B4-BE49-F238E27FC236}">
                <a16:creationId xmlns:a16="http://schemas.microsoft.com/office/drawing/2014/main" id="{1C9990D0-2D01-4CD7-8AED-9CB7703A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ECEF7-8D6B-4AA8-881C-ED5EFA99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DEB62-6342-4615-B091-26C96867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業務オーナー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A424A-4ACB-49A6-9384-D7EEB333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品質保証 / SCM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A5222-113B-4AF0-A824-5FDD7F80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384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課題頻度・損失・KPIを持つ</a:t>
            </a:r>
          </a:p>
        </p:txBody>
      </p:sp>
      <p:sp>
        <p:nvSpPr>
          <p:cNvPr id="11" name="buyer-1">
            <a:extLst xmlns:a="http://schemas.openxmlformats.org/drawingml/2006/main">
              <a:ext uri="{FF2B5EF4-FFF2-40B4-BE49-F238E27FC236}">
                <a16:creationId xmlns:a16="http://schemas.microsoft.com/office/drawing/2014/main" id="{41BAA926-F3FB-48A4-8668-2E48D6B9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9AFAE-86E7-4643-9B1D-0C081AB1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D9669-C572-4979-A1BC-8A628D57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経済的購買者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4F427-0F5B-4446-B9FA-D30140E0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CDO / CTO / 製造DX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423F1-49EF-432C-B853-7B1F8254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052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予算・全社展開・内製方針</a:t>
            </a:r>
          </a:p>
        </p:txBody>
      </p:sp>
      <p:sp>
        <p:nvSpPr>
          <p:cNvPr id="16" name="buyer-2">
            <a:extLst xmlns:a="http://schemas.openxmlformats.org/drawingml/2006/main">
              <a:ext uri="{FF2B5EF4-FFF2-40B4-BE49-F238E27FC236}">
                <a16:creationId xmlns:a16="http://schemas.microsoft.com/office/drawing/2014/main" id="{436D16B4-38FD-45A7-808D-F413E014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A9DD9-2037-495C-A950-EC03DD6A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61A1C-33A7-40FE-85DC-12A289E5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rPr>
              <a:t>導入ゲート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253C0-3130-4792-B553-9B4FAE48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Security / IT /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86958-31C3-4697-B1B1-D4E60AF1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データ境界・権限・監査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F6D05-04CE-4FEE-961B-DC2398B4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12-WEEK ENTRY MOTION</a:t>
            </a:r>
          </a:p>
        </p:txBody>
      </p:sp>
      <p:sp>
        <p:nvSpPr>
          <p:cNvPr id="22" name="milestone-0">
            <a:extLst xmlns:a="http://schemas.openxmlformats.org/drawingml/2006/main">
              <a:ext uri="{FF2B5EF4-FFF2-40B4-BE49-F238E27FC236}">
                <a16:creationId xmlns:a16="http://schemas.microsoft.com/office/drawing/2014/main" id="{84E9D1AD-6B69-4BB3-B080-CDD8F711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AF210-A43F-4963-8E56-C69D529E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190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B4F6B-44CE-4840-9D8C-497D2EE8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0–2週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1EBDC-B0B7-416C-B182-8276C034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217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Discovery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D8CDA-A991-4FD8-9FE2-BEFCED5D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例外1件の証拠・判断・Actionを定義</a:t>
            </a:r>
          </a:p>
        </p:txBody>
      </p:sp>
      <p:sp>
        <p:nvSpPr>
          <p:cNvPr id="27" name="milestone-1">
            <a:extLst xmlns:a="http://schemas.openxmlformats.org/drawingml/2006/main">
              <a:ext uri="{FF2B5EF4-FFF2-40B4-BE49-F238E27FC236}">
                <a16:creationId xmlns:a16="http://schemas.microsoft.com/office/drawing/2014/main" id="{4A3B4EF2-5484-4AA9-964E-B3DAB426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8352D9-C771-4070-93BC-13D2B7F9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62325"/>
            <a:ext cx="190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F403F-A85F-4F19-B6D2-F2D33E92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3–6週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1DA02-8AD5-41DF-B44E-E7BF6086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194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Build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608A20-4697-4C3C-85A9-23D71FC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データ接続 + Graph + Review</a:t>
            </a:r>
          </a:p>
        </p:txBody>
      </p:sp>
      <p:sp>
        <p:nvSpPr>
          <p:cNvPr id="32" name="milestone-2">
            <a:extLst xmlns:a="http://schemas.openxmlformats.org/drawingml/2006/main">
              <a:ext uri="{FF2B5EF4-FFF2-40B4-BE49-F238E27FC236}">
                <a16:creationId xmlns:a16="http://schemas.microsoft.com/office/drawing/2014/main" id="{B08CDDAA-F7D6-4637-BBC8-18A9FAD2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FA8B7C-E849-45BE-844C-3BEF7F7A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9575"/>
            <a:ext cx="190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2CB3A7-5D03-4BD9-88AB-35401D48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7–10週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3C6502-E1C8-4982-95FB-A35CED16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7667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Prove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F1062F-AB8A-4637-8364-32D79866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実データでROI・安全性を評価</a:t>
            </a:r>
          </a:p>
        </p:txBody>
      </p:sp>
      <p:sp>
        <p:nvSpPr>
          <p:cNvPr id="37" name="milestone-3">
            <a:extLst xmlns:a="http://schemas.openxmlformats.org/drawingml/2006/main">
              <a:ext uri="{FF2B5EF4-FFF2-40B4-BE49-F238E27FC236}">
                <a16:creationId xmlns:a16="http://schemas.microsoft.com/office/drawing/2014/main" id="{B6F9AC8A-57DC-4E89-B7C4-EE69E9EE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29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AB7D9F-9950-4A8D-8468-9C7F4DC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625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11–12週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B0A9E0-5E50-42AC-A198-34E13DCB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339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Convert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DD0293-A60E-4D4D-AA6B-FB23109E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本番範囲・SLA・Pack拡張を合意</a:t>
            </a:r>
          </a:p>
        </p:txBody>
      </p:sp>
      <p:sp>
        <p:nvSpPr>
          <p:cNvPr id="41" name="pill-Partner: Hardware / Cloud / SI">
            <a:extLst xmlns:a="http://schemas.openxmlformats.org/drawingml/2006/main">
              <a:ext uri="{FF2B5EF4-FFF2-40B4-BE49-F238E27FC236}">
                <a16:creationId xmlns:a16="http://schemas.microsoft.com/office/drawing/2014/main" id="{48F60B21-DB28-4402-831D-D8DE99A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340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EFE951-0D9D-4AE7-9DF9-FB61EBD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72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Partner: Hardware / Cloud / SI</a:t>
            </a:r>
          </a:p>
        </p:txBody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4C0A2A-64C4-4392-94FB-7D1D002B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87D0A24-0DEB-4129-AA2D-A944B7F9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Source: Proposed GTM derived from Pilot-in-a-Box and Private AI Factory delivery model.</a:t>
            </a:r>
          </a:p>
        </p:txBody>
      </p:sp>
      <p:sp>
        <p:nvSpPr>
          <p:cNvPr id="4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A1C49F5-A573-4D93-ACBB-3B4D2FCD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50562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88EFEB4-A898-4C6C-9D49-044C044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589288-E17B-4523-935B-C3DAD9B8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FDD516-EB60-42A2-B3E9-BAF02548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POSITIONING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0BB4E97-5ACD-4BAD-81BB-6B9B5B1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KairosAIは、Private環境の「業務Action制御層」を取りに行きます。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99944-B149-417D-B937-BB6B0BBA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29250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473A9-1961-4948-8E47-159C8C8A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8600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A026A-DC8A-43D4-BB50-802FE07B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Private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06E7F-78F9-4157-A90A-FB6269A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53B88-D852-4B45-BF12-CDD67672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38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Point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9B025-3926-41AD-92B9-C0EEE984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Operational system</a:t>
            </a:r>
          </a:p>
        </p:txBody>
      </p:sp>
      <p:sp>
        <p:nvSpPr>
          <p:cNvPr id="11" name="node-Cloud AI Platforms">
            <a:extLst xmlns:a="http://schemas.openxmlformats.org/drawingml/2006/main">
              <a:ext uri="{FF2B5EF4-FFF2-40B4-BE49-F238E27FC236}">
                <a16:creationId xmlns:a16="http://schemas.microsoft.com/office/drawing/2014/main" id="{DE1B26C3-7B89-4AB0-8CC5-9588EB09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AC898-954D-4FEB-B822-E98D6AA7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524375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Cloud AI Platforms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E4F66-2644-444E-82D4-E4045976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101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モデル / RAG / API</a:t>
            </a:r>
          </a:p>
        </p:txBody>
      </p:sp>
      <p:sp>
        <p:nvSpPr>
          <p:cNvPr id="14" name="node-Workflow Platforms">
            <a:extLst xmlns:a="http://schemas.openxmlformats.org/drawingml/2006/main">
              <a:ext uri="{FF2B5EF4-FFF2-40B4-BE49-F238E27FC236}">
                <a16:creationId xmlns:a16="http://schemas.microsoft.com/office/drawing/2014/main" id="{707F5113-8148-487E-9275-90BA2123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86250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C63B5-35F2-49F3-806D-BD19BCF0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10075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Workflow Platforms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ACC27-E085-4E37-9D64-BCC6B6DC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958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承認 / IT workflow</a:t>
            </a:r>
          </a:p>
        </p:txBody>
      </p:sp>
      <p:sp>
        <p:nvSpPr>
          <p:cNvPr id="17" name="node-Custom SI / Internal">
            <a:extLst xmlns:a="http://schemas.openxmlformats.org/drawingml/2006/main">
              <a:ext uri="{FF2B5EF4-FFF2-40B4-BE49-F238E27FC236}">
                <a16:creationId xmlns:a16="http://schemas.microsoft.com/office/drawing/2014/main" id="{890DCD0A-6009-407F-AEFB-DAD59B6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E9765-6A0E-43B3-B38B-220D148E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Custom SI / Internal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82D7C-557D-42FC-83F6-B50DDA20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242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顧客別のPrivate構築</a:t>
            </a:r>
          </a:p>
        </p:txBody>
      </p:sp>
      <p:sp>
        <p:nvSpPr>
          <p:cNvPr id="20" name="node-Enterprise Data Platforms">
            <a:extLst xmlns:a="http://schemas.openxmlformats.org/drawingml/2006/main">
              <a:ext uri="{FF2B5EF4-FFF2-40B4-BE49-F238E27FC236}">
                <a16:creationId xmlns:a16="http://schemas.microsoft.com/office/drawing/2014/main" id="{4DFD5611-77DC-4A19-8129-6EECA685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73C84-BECA-4999-BEBE-1E737549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Enterprise Data Platforms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07357-912C-4DBE-9737-CB6ACB9D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1828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全社Ontology / Data</a:t>
            </a:r>
          </a:p>
        </p:txBody>
      </p:sp>
      <p:sp>
        <p:nvSpPr>
          <p:cNvPr id="23" name="kairos-position">
            <a:extLst xmlns:a="http://schemas.openxmlformats.org/drawingml/2006/main">
              <a:ext uri="{FF2B5EF4-FFF2-40B4-BE49-F238E27FC236}">
                <a16:creationId xmlns:a16="http://schemas.microsoft.com/office/drawing/2014/main" id="{25921226-8DF8-4D46-BAAF-884923FD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706DD-F518-40CC-A877-3C1B43BB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KairosAI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550CD-FA8B-47DB-AAEA-6B5C4A6E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Private + Governed Action</a:t>
            </a:r>
          </a:p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Domain Pack 1つから導入</a:t>
            </a:r>
          </a:p>
        </p:txBody>
      </p:sp>
      <p:sp>
        <p:nvSpPr>
          <p:cNvPr id="26" name="pill-競合機能比較は顧客検証が必要">
            <a:extLst xmlns:a="http://schemas.openxmlformats.org/drawingml/2006/main">
              <a:ext uri="{FF2B5EF4-FFF2-40B4-BE49-F238E27FC236}">
                <a16:creationId xmlns:a16="http://schemas.microsoft.com/office/drawing/2014/main" id="{DE0430E5-0B7C-447C-8A6D-2F007D10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3BFDB-87FE-463F-8E0D-A6078E4A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912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競合機能比較は顧客検証が必要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75DD713-0E85-4A3E-919D-BA91CBB4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EBE832C-F5D1-43DE-A4D8-681E958E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Strategy Summary §10. Category positioning only; no verified competitor battlecard used.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57186B-FCF8-4591-8A97-A938CA76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571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32AAF03-44BF-47D0-9C58-474F252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1F7594F-311B-424E-9677-BF55793D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C551F0-18FC-42FD-9A20-940EB627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18-MONTH PROOF PLAN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B8E0B70-FDA9-42A8-B025-3FE53A2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次の18か月は、広いPlatform構想ではなく4つの証拠を積み上げます。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6DEFC-294F-461B-86BF-038AEA76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oadmap-0">
            <a:extLst xmlns:a="http://schemas.openxmlformats.org/drawingml/2006/main">
              <a:ext uri="{FF2B5EF4-FFF2-40B4-BE49-F238E27FC236}">
                <a16:creationId xmlns:a16="http://schemas.microsoft.com/office/drawing/2014/main" id="{8891BCB5-B2DC-4335-8B6A-A691D219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CDFDF-7774-446B-8209-E258158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5F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5F6D"/>
                </a:solidFill>
                <a:latin typeface="Hiragino Sans"/>
                <a:ea typeface="Hiragino Sans"/>
                <a:cs typeface="Hiragino Sans"/>
              </a:rPr>
              <a:t>0–3M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DD5C3-8F9C-4E48-ADD0-1B663FB9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03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2918B-F9CF-41F0-AEB1-48D760C6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品質異常Demo</a:t>
            </a:r>
          </a:p>
          <a:p xmlns:a="http://schemas.openxmlformats.org/drawingml/2006/main">
            <a:pPr algn="ctr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+ 10–15社ヒアリング</a:t>
            </a:r>
          </a:p>
        </p:txBody>
      </p:sp>
      <p:sp>
        <p:nvSpPr>
          <p:cNvPr id="10" name="roadmap-1">
            <a:extLst xmlns:a="http://schemas.openxmlformats.org/drawingml/2006/main">
              <a:ext uri="{FF2B5EF4-FFF2-40B4-BE49-F238E27FC236}">
                <a16:creationId xmlns:a16="http://schemas.microsoft.com/office/drawing/2014/main" id="{0A2D440F-1E41-4A9B-B4CF-F37368DE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B2A67-40E3-4D63-A285-8F655800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241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3–6M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40864-7F88-4FCB-9F81-6D01EC60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003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Design Partner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51EEE-9111-4274-86EA-45F164A7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5762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実データ接続</a:t>
            </a:r>
          </a:p>
          <a:p xmlns:a="http://schemas.openxmlformats.org/drawingml/2006/main">
            <a:pPr algn="ctr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+ KPI baseline</a:t>
            </a:r>
          </a:p>
        </p:txBody>
      </p:sp>
      <p:sp>
        <p:nvSpPr>
          <p:cNvPr id="14" name="roadmap-2">
            <a:extLst xmlns:a="http://schemas.openxmlformats.org/drawingml/2006/main">
              <a:ext uri="{FF2B5EF4-FFF2-40B4-BE49-F238E27FC236}">
                <a16:creationId xmlns:a16="http://schemas.microsoft.com/office/drawing/2014/main" id="{6FA22E20-E656-4BA8-ACAA-94EC60F0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7F454-0119-42A2-8F83-7C779F68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rPr>
              <a:t>6–12M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F27CA-1840-4134-8B6E-587EB94A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003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Paid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9D3C9-D47E-4CEA-BFB9-CE59E5C9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5762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8–12週で成果</a:t>
            </a:r>
          </a:p>
          <a:p xmlns:a="http://schemas.openxmlformats.org/drawingml/2006/main">
            <a:pPr algn="ctr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+ 本番転換条件</a:t>
            </a:r>
          </a:p>
        </p:txBody>
      </p:sp>
      <p:sp>
        <p:nvSpPr>
          <p:cNvPr id="18" name="roadmap-3">
            <a:extLst xmlns:a="http://schemas.openxmlformats.org/drawingml/2006/main">
              <a:ext uri="{FF2B5EF4-FFF2-40B4-BE49-F238E27FC236}">
                <a16:creationId xmlns:a16="http://schemas.microsoft.com/office/drawing/2014/main" id="{82B40C89-7749-4B8B-AEBA-1AB1A521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E0F31-6F19-4017-9F19-45DED06F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12–18M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E0733-99C1-4937-AAB8-E99DFA7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03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Production + 2nd Pack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4E6D5-01DF-4503-BEAD-D4F4471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継続売上</a:t>
            </a:r>
          </a:p>
          <a:p xmlns:a="http://schemas.openxmlformats.org/drawingml/2006/main">
            <a:pPr algn="ctr">
              <a:def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+ Pack再利用率</a:t>
            </a:r>
          </a:p>
        </p:txBody>
      </p:sp>
      <p:sp>
        <p:nvSpPr>
          <p:cNvPr id="22" name="roadmap-gates">
            <a:extLst xmlns:a="http://schemas.openxmlformats.org/drawingml/2006/main">
              <a:ext uri="{FF2B5EF4-FFF2-40B4-BE49-F238E27FC236}">
                <a16:creationId xmlns:a16="http://schemas.microsoft.com/office/drawing/2014/main" id="{8B4D747D-3D57-49C9-B5F8-EB83EBBD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8B8B3-7297-44C8-840B-62E4E04E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43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KILL / DOUBLE-DOWN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BD783-BBF1-43D6-AD1E-36C2A8F4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29250"/>
            <a:ext cx="942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課題頻度と損失額  /  影響特定時間  /  有償化と本番転換  /  Pack再利用で粗利改善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082423C-8673-4880-AAF7-A4BE9632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FB10994-0071-465B-936B-79B2E501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AA3B2"/>
                </a:solidFill>
                <a:latin typeface="Hiragino Sans"/>
                <a:ea typeface="Hiragino Sans"/>
                <a:cs typeface="Hiragino Sans"/>
              </a:rPr>
              <a:t>Source: Roadmaps in the three KairosAI drafts, reorganized as investor validation milestones.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81ED254-83E1-4E26-BA15-860EED24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12000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614A70-AF3A-4B40-973A-269F6789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C5E3ED-06C7-4AA7-AA6F-69F4DE95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05FB8D-F651-4A9F-8F15-DCC123A8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INVESTMENT CASE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CB8EA25-E29C-44E5-A012-004D28A5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620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投資判断は、4つの検証で決まります。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1474A-64CA-4BDB-AAC7-5115EB2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大きな構想はある。今必要なのは、狭い入口で再現性を証明すること。</a:t>
            </a:r>
          </a:p>
        </p:txBody>
      </p:sp>
      <p:sp>
        <p:nvSpPr>
          <p:cNvPr id="6" name="gate-0">
            <a:extLst xmlns:a="http://schemas.openxmlformats.org/drawingml/2006/main">
              <a:ext uri="{FF2B5EF4-FFF2-40B4-BE49-F238E27FC236}">
                <a16:creationId xmlns:a16="http://schemas.microsoft.com/office/drawing/2014/main" id="{194E7498-4B9A-47F6-9186-8953899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96B7B-B0CA-4985-915C-BC07729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BAF97-7CC2-4820-911E-814D81C9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5F6D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11F6C-8A8E-455A-B419-6595DC5C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Pain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04209-D9ED-4903-AF60-F66E9662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品質例外は頻繁で、損失と説明責任が大きいか</a:t>
            </a:r>
          </a:p>
        </p:txBody>
      </p:sp>
      <p:sp>
        <p:nvSpPr>
          <p:cNvPr id="11" name="gate-1">
            <a:extLst xmlns:a="http://schemas.openxmlformats.org/drawingml/2006/main">
              <a:ext uri="{FF2B5EF4-FFF2-40B4-BE49-F238E27FC236}">
                <a16:creationId xmlns:a16="http://schemas.microsoft.com/office/drawing/2014/main" id="{7865BA5E-CD41-4BB9-B9D0-0E518D1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43125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6DD1D-0FFF-49E8-B44B-122FB665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431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7EBCD-FBD6-426D-8270-0258E4BA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145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0A69D-C9F8-4CB9-A2D9-BEF2FB87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764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6F2E0-29F7-478A-960F-F77BF5C4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38425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4時間の調査を、安全性を保ったまま短縮できるか</a:t>
            </a:r>
          </a:p>
        </p:txBody>
      </p:sp>
      <p:sp>
        <p:nvSpPr>
          <p:cNvPr id="16" name="gate-2">
            <a:extLst xmlns:a="http://schemas.openxmlformats.org/drawingml/2006/main">
              <a:ext uri="{FF2B5EF4-FFF2-40B4-BE49-F238E27FC236}">
                <a16:creationId xmlns:a16="http://schemas.microsoft.com/office/drawing/2014/main" id="{E6E6C0E4-39F4-45CF-BE6F-51D930A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932FA-FD76-42CE-9BF3-8731C00A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C46CC-8956-46EB-B311-DF440E2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33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7C94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BBBF9-004F-4A4D-93F6-FBECEC0D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052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Commercial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D5322-D680-4474-82CE-4BB10D5A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67175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PilotからPlatform Licenseへ転換できるか</a:t>
            </a:r>
          </a:p>
        </p:txBody>
      </p:sp>
      <p:sp>
        <p:nvSpPr>
          <p:cNvPr id="21" name="gate-3">
            <a:extLst xmlns:a="http://schemas.openxmlformats.org/drawingml/2006/main">
              <a:ext uri="{FF2B5EF4-FFF2-40B4-BE49-F238E27FC236}">
                <a16:creationId xmlns:a16="http://schemas.microsoft.com/office/drawing/2014/main" id="{A6F7090B-5ECB-49BF-B3E7-792D7778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71875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3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5BE1D-2919-4879-ABF2-3C1BF008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7187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0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647D2-9109-427A-9373-317E0426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433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6D0CE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CFA62-54DB-489C-AD7E-D3771AF6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052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Scale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BFC214-EC28-4965-B2F4-4CAB4EC6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67175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2本目のPackを低コストで再利用できるか</a:t>
            </a:r>
          </a:p>
        </p:txBody>
      </p:sp>
      <p:sp>
        <p:nvSpPr>
          <p:cNvPr id="26" name="closing-thesis">
            <a:extLst xmlns:a="http://schemas.openxmlformats.org/drawingml/2006/main">
              <a:ext uri="{FF2B5EF4-FFF2-40B4-BE49-F238E27FC236}">
                <a16:creationId xmlns:a16="http://schemas.microsoft.com/office/drawing/2014/main" id="{903DFA5C-51E4-4A4D-ABD7-54450CD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CAF43-764F-4FB5-8739-0C4E073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KairosAI: AIが説明責任を持って実行できる場所を、規制産業の中につくる。</a:t>
            </a:r>
          </a:p>
        </p:txBody>
      </p:sp>
      <p:sp>
        <p:nvSpPr>
          <p:cNvPr id="28" name="pill-Missing today: team / traction / pricing / raise">
            <a:extLst xmlns:a="http://schemas.openxmlformats.org/drawingml/2006/main">
              <a:ext uri="{FF2B5EF4-FFF2-40B4-BE49-F238E27FC236}">
                <a16:creationId xmlns:a16="http://schemas.microsoft.com/office/drawing/2014/main" id="{7FFE3DC9-FC20-4B85-9A9F-8570367F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F3B0EE-14DB-4EC0-A899-8D07BC95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76350"/>
            <a:ext cx="274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Missing today: team / traction / pricing / raise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0D3CEE-9A71-49C3-837F-196445A0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A2731D5-22D0-41E4-980A-C73B161A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971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Investor synthesis. Missing evidence is intentionally explicit.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434858-F951-4789-AB9F-E622040C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B1020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8124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2026-06-07T08:24:30.5090000Z</dcterms:created>
  <dcterms:modified xsi:type="dcterms:W3CDTF">2026-06-07T08:24:30.5090000Z</dcterms:modified>
</coreProperties>
</file>