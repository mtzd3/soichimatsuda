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c08e602c7648b2" /><Relationship Type="http://schemas.openxmlformats.org/officeDocument/2006/relationships/extended-properties" Target="/docProps/app.xml" Id="R21ebe55fd06a4261" /><Relationship Type="http://schemas.openxmlformats.org/officeDocument/2006/relationships/officeDocument" Target="/ppt/presentation.xml" Id="Rb2575cd8074646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a5f3b2d7be468f"/>
  </p:sldMasterIdLst>
  <p:notesMasterIdLst>
    <p:notesMasterId xmlns:r="http://schemas.openxmlformats.org/officeDocument/2006/relationships" r:id="R45fbcd1087364088"/>
  </p:notesMasterIdLst>
  <p:sldIdLst>
    <p:sldId xmlns:r="http://schemas.openxmlformats.org/officeDocument/2006/relationships" id="256" r:id="Rbf697eab0f184436"/>
    <p:sldId xmlns:r="http://schemas.openxmlformats.org/officeDocument/2006/relationships" id="257" r:id="R1cfd4addb5354041"/>
    <p:sldId xmlns:r="http://schemas.openxmlformats.org/officeDocument/2006/relationships" id="258" r:id="R8417997f8615416a"/>
    <p:sldId xmlns:r="http://schemas.openxmlformats.org/officeDocument/2006/relationships" id="259" r:id="Recb5b1e8ecd14abc"/>
    <p:sldId xmlns:r="http://schemas.openxmlformats.org/officeDocument/2006/relationships" id="260" r:id="R9d9096fdcf6d49ff"/>
    <p:sldId xmlns:r="http://schemas.openxmlformats.org/officeDocument/2006/relationships" id="261" r:id="Rb7b701a8eb0e495f"/>
    <p:sldId xmlns:r="http://schemas.openxmlformats.org/officeDocument/2006/relationships" id="262" r:id="R4c1bb580ec2e4b13"/>
    <p:sldId xmlns:r="http://schemas.openxmlformats.org/officeDocument/2006/relationships" id="263" r:id="R18136c88661d4516"/>
    <p:sldId xmlns:r="http://schemas.openxmlformats.org/officeDocument/2006/relationships" id="264" r:id="R0604f23bfabf44c3"/>
    <p:sldId xmlns:r="http://schemas.openxmlformats.org/officeDocument/2006/relationships" id="265" r:id="R1c41fe8964934d35"/>
    <p:sldId xmlns:r="http://schemas.openxmlformats.org/officeDocument/2006/relationships" id="266" r:id="R95e9b5316a734a63"/>
    <p:sldId xmlns:r="http://schemas.openxmlformats.org/officeDocument/2006/relationships" id="267" r:id="Ra261de394ad24774"/>
    <p:sldId xmlns:r="http://schemas.openxmlformats.org/officeDocument/2006/relationships" id="268" r:id="R31a677b637cc482c"/>
    <p:sldId xmlns:r="http://schemas.openxmlformats.org/officeDocument/2006/relationships" id="269" r:id="R7a98ccf99df04a29"/>
    <p:sldId xmlns:r="http://schemas.openxmlformats.org/officeDocument/2006/relationships" id="270" r:id="R3d956ea82da046a8"/>
    <p:sldId xmlns:r="http://schemas.openxmlformats.org/officeDocument/2006/relationships" id="271" r:id="Red7532121f564c9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4ec007a9ff494b" /><Relationship Type="http://schemas.openxmlformats.org/officeDocument/2006/relationships/slideMaster" Target="/ppt/slideMasters/slideMaster1.xml" Id="R0da5f3b2d7be468f" /><Relationship Type="http://schemas.openxmlformats.org/officeDocument/2006/relationships/notesMaster" Target="/ppt/notesMasters/notesMaster1.xml" Id="R45fbcd1087364088" /><Relationship Type="http://schemas.openxmlformats.org/officeDocument/2006/relationships/presProps" Target="/ppt/presProps.xml" Id="Rf08ec69f5fbd48a9" /><Relationship Type="http://schemas.openxmlformats.org/officeDocument/2006/relationships/tableStyles" Target="/ppt/tableStyles.xml" Id="R411cf3e608cf47f9" /><Relationship Type="http://schemas.openxmlformats.org/officeDocument/2006/relationships/slide" Target="/ppt/slides/slide1.xml" Id="Rbf697eab0f184436" /><Relationship Type="http://schemas.openxmlformats.org/officeDocument/2006/relationships/slide" Target="/ppt/slides/slide2.xml" Id="R1cfd4addb5354041" /><Relationship Type="http://schemas.openxmlformats.org/officeDocument/2006/relationships/slide" Target="/ppt/slides/slide3.xml" Id="R8417997f8615416a" /><Relationship Type="http://schemas.openxmlformats.org/officeDocument/2006/relationships/slide" Target="/ppt/slides/slide4.xml" Id="Recb5b1e8ecd14abc" /><Relationship Type="http://schemas.openxmlformats.org/officeDocument/2006/relationships/slide" Target="/ppt/slides/slide5.xml" Id="R9d9096fdcf6d49ff" /><Relationship Type="http://schemas.openxmlformats.org/officeDocument/2006/relationships/slide" Target="/ppt/slides/slide6.xml" Id="Rb7b701a8eb0e495f" /><Relationship Type="http://schemas.openxmlformats.org/officeDocument/2006/relationships/slide" Target="/ppt/slides/slide7.xml" Id="R4c1bb580ec2e4b13" /><Relationship Type="http://schemas.openxmlformats.org/officeDocument/2006/relationships/slide" Target="/ppt/slides/slide8.xml" Id="R18136c88661d4516" /><Relationship Type="http://schemas.openxmlformats.org/officeDocument/2006/relationships/slide" Target="/ppt/slides/slide9.xml" Id="R0604f23bfabf44c3" /><Relationship Type="http://schemas.openxmlformats.org/officeDocument/2006/relationships/slide" Target="/ppt/slides/slide10.xml" Id="R1c41fe8964934d35" /><Relationship Type="http://schemas.openxmlformats.org/officeDocument/2006/relationships/slide" Target="/ppt/slides/slide11.xml" Id="R95e9b5316a734a63" /><Relationship Type="http://schemas.openxmlformats.org/officeDocument/2006/relationships/slide" Target="/ppt/slides/slide12.xml" Id="Ra261de394ad24774" /><Relationship Type="http://schemas.openxmlformats.org/officeDocument/2006/relationships/slide" Target="/ppt/slides/slide13.xml" Id="R31a677b637cc482c" /><Relationship Type="http://schemas.openxmlformats.org/officeDocument/2006/relationships/slide" Target="/ppt/slides/slide14.xml" Id="R7a98ccf99df04a29" /><Relationship Type="http://schemas.openxmlformats.org/officeDocument/2006/relationships/slide" Target="/ppt/slides/slide15.xml" Id="R3d956ea82da046a8" /><Relationship Type="http://schemas.openxmlformats.org/officeDocument/2006/relationships/slide" Target="/ppt/slides/slide16.xml" Id="Red7532121f564c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d9b997b46642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10902745154ad3" /><Relationship Type="http://schemas.openxmlformats.org/officeDocument/2006/relationships/notesMaster" Target="/ppt/notesMasters/notesMaster1.xml" Id="Ra9342c8596264a2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6b5dcb6acf14855" /><Relationship Type="http://schemas.openxmlformats.org/officeDocument/2006/relationships/notesMaster" Target="/ppt/notesMasters/notesMaster1.xml" Id="R3134db3f3353458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381abf1b7d4b53" /><Relationship Type="http://schemas.openxmlformats.org/officeDocument/2006/relationships/notesMaster" Target="/ppt/notesMasters/notesMaster1.xml" Id="Rf4115753ee884da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0258056b93b4409" /><Relationship Type="http://schemas.openxmlformats.org/officeDocument/2006/relationships/notesMaster" Target="/ppt/notesMasters/notesMaster1.xml" Id="R898b3d266a034e1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419ccd29c0a4c6f" /><Relationship Type="http://schemas.openxmlformats.org/officeDocument/2006/relationships/notesMaster" Target="/ppt/notesMasters/notesMaster1.xml" Id="R57288f316ba7491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28350e1ea7544a9" /><Relationship Type="http://schemas.openxmlformats.org/officeDocument/2006/relationships/notesMaster" Target="/ppt/notesMasters/notesMaster1.xml" Id="R0b2083792a6b4bf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db0cb73d02443cc" /><Relationship Type="http://schemas.openxmlformats.org/officeDocument/2006/relationships/notesMaster" Target="/ppt/notesMasters/notesMaster1.xml" Id="R6e1f876fc865495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3ece671e55341cb" /><Relationship Type="http://schemas.openxmlformats.org/officeDocument/2006/relationships/notesMaster" Target="/ppt/notesMasters/notesMaster1.xml" Id="Re8c53ab76b6a415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3b293c66bd044e3" /><Relationship Type="http://schemas.openxmlformats.org/officeDocument/2006/relationships/notesMaster" Target="/ppt/notesMasters/notesMaster1.xml" Id="Rd7b768c8832c429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bc5d1bfd8634f88" /><Relationship Type="http://schemas.openxmlformats.org/officeDocument/2006/relationships/notesMaster" Target="/ppt/notesMasters/notesMaster1.xml" Id="R633a3b19cd254af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578b62bbd324b23" /><Relationship Type="http://schemas.openxmlformats.org/officeDocument/2006/relationships/notesMaster" Target="/ppt/notesMasters/notesMaster1.xml" Id="R5eb6eea8dd994f9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fdc77eb38794f8e" /><Relationship Type="http://schemas.openxmlformats.org/officeDocument/2006/relationships/notesMaster" Target="/ppt/notesMasters/notesMaster1.xml" Id="R852fabfed8c140e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a4a8376142d4d7f" /><Relationship Type="http://schemas.openxmlformats.org/officeDocument/2006/relationships/notesMaster" Target="/ppt/notesMasters/notesMaster1.xml" Id="Rab89c6cfd9d94c8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4d22676c04d4974" /><Relationship Type="http://schemas.openxmlformats.org/officeDocument/2006/relationships/notesMaster" Target="/ppt/notesMasters/notesMaster1.xml" Id="Rdcd769c663314fe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aec9e08a434409d" /><Relationship Type="http://schemas.openxmlformats.org/officeDocument/2006/relationships/notesMaster" Target="/ppt/notesMasters/notesMaster1.xml" Id="R428f8f5575c74e9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b13df42944c4077" /><Relationship Type="http://schemas.openxmlformats.org/officeDocument/2006/relationships/notesMaster" Target="/ppt/notesMasters/notesMaster1.xml" Id="R9a7a5eb68cf74d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76b4b3333c46c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a749235c6d9424e" /><Relationship Type="http://schemas.openxmlformats.org/officeDocument/2006/relationships/slideLayout" Target="/ppt/slideLayouts/slideLayout1.xml" Id="Rbdae5090b8644a0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ae5090b8644a0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a399fadbf94371" /><Relationship Type="http://schemas.openxmlformats.org/officeDocument/2006/relationships/image" Target="/ppt/media/image.png" Id="R570e4793eef34293" /><Relationship Type="http://schemas.openxmlformats.org/officeDocument/2006/relationships/notesSlide" Target="/ppt/notesSlides/notesSlide1.xml" Id="Ra27bba8f960641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c3a8b22d804ec2" /><Relationship Type="http://schemas.openxmlformats.org/officeDocument/2006/relationships/notesSlide" Target="/ppt/notesSlides/notesSlide2.xml" Id="R35fd3ced8855448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ae618625c5487c" /><Relationship Type="http://schemas.openxmlformats.org/officeDocument/2006/relationships/notesSlide" Target="/ppt/notesSlides/notesSlide3.xml" Id="Rebe0f77ae38549e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4b584edfd04951" /><Relationship Type="http://schemas.openxmlformats.org/officeDocument/2006/relationships/notesSlide" Target="/ppt/notesSlides/notesSlide4.xml" Id="Re6b1f08ea7b74a8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79c1cb53664305" /><Relationship Type="http://schemas.openxmlformats.org/officeDocument/2006/relationships/notesSlide" Target="/ppt/notesSlides/notesSlide5.xml" Id="Ra54639b458bc483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df1c62676e456f" /><Relationship Type="http://schemas.openxmlformats.org/officeDocument/2006/relationships/notesSlide" Target="/ppt/notesSlides/notesSlide6.xml" Id="R81a88d2c5f7a4a2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c383708f244b1f" /><Relationship Type="http://schemas.openxmlformats.org/officeDocument/2006/relationships/notesSlide" Target="/ppt/notesSlides/notesSlide7.xml" Id="R23a02bab3507468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4822bf8bd547ce" /><Relationship Type="http://schemas.openxmlformats.org/officeDocument/2006/relationships/notesSlide" Target="/ppt/notesSlides/notesSlide8.xml" Id="R5b65e69e4d4842c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6eb734600943a1" /><Relationship Type="http://schemas.openxmlformats.org/officeDocument/2006/relationships/notesSlide" Target="/ppt/notesSlides/notesSlide9.xml" Id="Rfe70bfea729543a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71a916897e4d64" /><Relationship Type="http://schemas.openxmlformats.org/officeDocument/2006/relationships/notesSlide" Target="/ppt/notesSlides/notesSlide10.xml" Id="Rf33f53eab254421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5277ffe18a41ff" /><Relationship Type="http://schemas.openxmlformats.org/officeDocument/2006/relationships/notesSlide" Target="/ppt/notesSlides/notesSlide11.xml" Id="R884263a3022d4c1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03184fe8ec4ab8" /><Relationship Type="http://schemas.openxmlformats.org/officeDocument/2006/relationships/notesSlide" Target="/ppt/notesSlides/notesSlide12.xml" Id="R2cd2564eaeb74cf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fba597f3b14882" /><Relationship Type="http://schemas.openxmlformats.org/officeDocument/2006/relationships/notesSlide" Target="/ppt/notesSlides/notesSlide13.xml" Id="R7e3497f81fa1439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fac81b7f994a2f" /><Relationship Type="http://schemas.openxmlformats.org/officeDocument/2006/relationships/notesSlide" Target="/ppt/notesSlides/notesSlide14.xml" Id="Rfa022e144ce7471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a8c0433e914888" /><Relationship Type="http://schemas.openxmlformats.org/officeDocument/2006/relationships/notesSlide" Target="/ppt/notesSlides/notesSlide15.xml" Id="Re02a5bfb43944ea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5aa00fc04a459b" /><Relationship Type="http://schemas.openxmlformats.org/officeDocument/2006/relationships/image" Target="/ppt/media/image2.png" Id="Rb17191695c1c480f" /><Relationship Type="http://schemas.openxmlformats.org/officeDocument/2006/relationships/notesSlide" Target="/ppt/notesSlides/notesSlide16.xml" Id="Rf95cb1e7e2af450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B4482E-B962-4501-8A85-089C069C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DCF1C2-392B-4F5A-BA84-A3588FA0E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95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BDA33B-FE25-4219-81C8-BE71EBF1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B1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0e4793eef34293"/>
          <a:stretch xmlns:a="http://schemas.openxmlformats.org/drawingml/2006/main"/>
        </p:blipFill>
        <p:spPr>
          <a:xfrm xmlns:a="http://schemas.openxmlformats.org/drawingml/2006/main">
            <a:off x="2400300" y="598170"/>
            <a:ext cx="1600200" cy="36576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E80A54-507B-49A1-B689-5328006E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562100"/>
            <a:ext cx="781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20242A"/>
                </a:solidFill>
              </a:defRPr>
            </a:pPr>
            <a:r>
              <a:rPr sz="3900" b="1" i="0">
                <a:solidFill>
                  <a:srgbClr val="20242A"/>
                </a:solidFill>
              </a:rPr>
              <a:t>データ主権の奪還と、</a:t>
            </a:r>
          </a:p>
          <a:p xmlns:a="http://schemas.openxmlformats.org/drawingml/2006/main">
            <a:pPr algn="l">
              <a:defRPr sz="3900" b="1" i="0">
                <a:solidFill>
                  <a:srgbClr val="20242A"/>
                </a:solidFill>
              </a:defRPr>
            </a:pPr>
            <a:r>
              <a:rPr sz="3900" b="1" i="0">
                <a:solidFill>
                  <a:srgbClr val="20242A"/>
                </a:solidFill>
              </a:rPr>
              <a:t>AI・半導体の実装戦略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03CAB9-25DE-49C6-82EB-929893E6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19087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E45B1B"/>
                </a:solidFill>
              </a:defRPr>
            </a:pPr>
            <a:r>
              <a:rPr sz="1650" b="1" i="0">
                <a:solidFill>
                  <a:srgbClr val="E45B1B"/>
                </a:solidFill>
              </a:rPr>
              <a:t>KairosAI Pitch Deck v0.1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4F8200-D0EE-4CDF-B14A-08F108795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33800"/>
            <a:ext cx="723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4A5563"/>
                </a:solidFill>
              </a:defRPr>
            </a:pPr>
            <a:r>
              <a:rPr sz="1500" b="0" i="0">
                <a:solidFill>
                  <a:srgbClr val="4A5563"/>
                </a:solidFill>
              </a:rPr>
              <a:t>重点領域の現場実装から、主権的な学習ループと高効率計算基盤を立ち上げる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F2DDC4-E147-4D02-B508-A76FE37B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76250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8C20BF-F4BB-4B27-81AC-9D1ED1CA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292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77808C"/>
                </a:solidFill>
              </a:defRPr>
            </a:pPr>
            <a:r>
              <a:rPr sz="1013" b="0" i="0">
                <a:solidFill>
                  <a:srgbClr val="77808C"/>
                </a:solidFill>
              </a:rPr>
              <a:t>Prepared from internal strategy notes | 2026.07.01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FE748D-5817-408F-98BB-822E9169D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1912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7808C"/>
                </a:solidFill>
              </a:defRPr>
            </a:pPr>
            <a:r>
              <a:rPr sz="900" b="0" i="0">
                <a:solidFill>
                  <a:srgbClr val="77808C"/>
                </a:solidFill>
              </a:rPr>
              <a:t>Confidential draft</a:t>
            </a:r>
          </a:p>
        </p:txBody>
      </p:sp>
    </p:spTree>
    <p:extLst>
      <p:ext uri="{BB962C8B-B14F-4D97-AF65-F5344CB8AC3E}">
        <p14:creationId xmlns:p14="http://schemas.microsoft.com/office/powerpoint/2010/main" val="11836555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5131FE-EBB5-4846-8CAC-89DEC9C8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B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C8F59D-1331-493C-BEFA-86D929973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"/>
            <a:ext cx="9620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20242A"/>
                </a:solidFill>
              </a:defRPr>
            </a:pPr>
            <a:r>
              <a:rPr sz="2400" b="1" i="0">
                <a:solidFill>
                  <a:srgbClr val="20242A"/>
                </a:solidFill>
              </a:rPr>
              <a:t>KairosAIは、汎用AI競争ではなく重点領域の更新ループを取りに行く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6B2B18-06A3-4CF7-AF2B-38AE69C3B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001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A5563"/>
                </a:solidFill>
              </a:defRPr>
            </a:pPr>
            <a:r>
              <a:rPr sz="1350" b="0" i="0">
                <a:solidFill>
                  <a:srgbClr val="4A5563"/>
                </a:solidFill>
              </a:rPr>
              <a:t>勝ち筋は、巨大モデルを先に作ることではない。現場の実行結果を国内で学習資産化し、判断基盤を継続更新できる状態を作ることにある。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78540B-38D8-4D5B-A813-4C59537E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FF0875-3691-4D8B-A604-33AB5627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77808C"/>
                </a:solidFill>
              </a:defRPr>
            </a:pPr>
            <a:r>
              <a:rPr sz="788" b="0" i="0">
                <a:solidFill>
                  <a:srgbClr val="77808C"/>
                </a:solidFill>
              </a:rPr>
              <a:t>KairosAI Pitch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9301B-4139-4F0E-BB63-FE93A3780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62725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 i="0">
                <a:solidFill>
                  <a:srgbClr val="77808C"/>
                </a:solidFill>
              </a:defRPr>
            </a:pPr>
            <a:r>
              <a:rPr sz="788" b="0" i="0">
                <a:solidFill>
                  <a:srgbClr val="77808C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D25422-B0A5-4FD6-8840-E3AFF57EB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85925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5B1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93AB00-8657-465D-963F-ABC6F7F3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72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E45B1B"/>
                </a:solidFill>
              </a:defRPr>
            </a:pPr>
            <a:r>
              <a:rPr sz="788" b="1" i="0">
                <a:solidFill>
                  <a:srgbClr val="E45B1B"/>
                </a:solidFill>
              </a:rPr>
              <a:t>EXECUTIVE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F9ED4C-9E23-45C5-8126-61646149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573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0242A"/>
                </a:solidFill>
              </a:defRPr>
            </a:pPr>
            <a:r>
              <a:rPr sz="1350" b="1" i="0">
                <a:solidFill>
                  <a:srgbClr val="20242A"/>
                </a:solidFill>
              </a:rPr>
              <a:t>推奨する中心命題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398C87-13ED-43AD-A484-F968C4A9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876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0242A"/>
                </a:solidFill>
              </a:defRPr>
            </a:pPr>
            <a:r>
              <a:rPr sz="1650" b="1" i="0">
                <a:solidFill>
                  <a:srgbClr val="20242A"/>
                </a:solidFill>
              </a:rPr>
              <a:t>重点領域にAI Agentを実装し、状態・権利・実行履歴を機械可読に捕捉する。そこから共有コアと計算基盤を育てる。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873DF1-326C-4232-8B3C-0C03B091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31432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A012F7-38EC-49D6-B0E6-A19BE51AC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828D8D-E6CB-4D71-B90D-C644B17D9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42A"/>
                </a:solidFill>
              </a:defRPr>
            </a:pPr>
            <a:r>
              <a:rPr sz="1575" b="1" i="0">
                <a:solidFill>
                  <a:srgbClr val="20242A"/>
                </a:solidFill>
              </a:rPr>
              <a:t>1. 現場実装が燃料を作る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F42341-5048-4FB9-812E-A605C23B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719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4A5563"/>
                </a:solidFill>
              </a:defRPr>
            </a:pPr>
            <a:r>
              <a:rPr sz="1238" b="0" i="0">
                <a:solidFill>
                  <a:srgbClr val="4A5563"/>
                </a:solidFill>
              </a:rPr>
              <a:t>業務outcome、失敗分類、評価レシピは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622E24-D996-4F6E-870F-9AD628DAC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0527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4A5563"/>
                </a:solidFill>
              </a:defRPr>
            </a:pPr>
            <a:r>
              <a:rPr sz="1238" b="0" i="0">
                <a:solidFill>
                  <a:srgbClr val="4A5563"/>
                </a:solidFill>
              </a:rPr>
              <a:t>現場に入らなければ観測できない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01C59B-2DA2-4E67-A8B2-C4BD1964B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43250"/>
            <a:ext cx="31432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F85B57-7E85-46B0-9B50-230433C2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4325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6C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206337-1FEB-4B0C-9E32-D9869DFF2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528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42A"/>
                </a:solidFill>
              </a:defRPr>
            </a:pPr>
            <a:r>
              <a:rPr sz="1575" b="1" i="0">
                <a:solidFill>
                  <a:srgbClr val="20242A"/>
                </a:solidFill>
              </a:rPr>
              <a:t>2. 更新権が主権になる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7BC622-4E21-475E-ABD4-FA5846F2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719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4A5563"/>
                </a:solidFill>
              </a:defRPr>
            </a:pPr>
            <a:r>
              <a:rPr sz="1238" b="0" i="0">
                <a:solidFill>
                  <a:srgbClr val="4A5563"/>
                </a:solidFill>
              </a:rPr>
              <a:t>保存先ではなく、学習・評価・配備・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43BBF9-11B9-4ED6-AFB8-C9751FFC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10527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4A5563"/>
                </a:solidFill>
              </a:defRPr>
            </a:pPr>
            <a:r>
              <a:rPr sz="1238" b="0" i="0">
                <a:solidFill>
                  <a:srgbClr val="4A5563"/>
                </a:solidFill>
              </a:rPr>
              <a:t>rollbackを国内で回す能力を握る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8E6646-7BB4-41D9-A39F-C2432EC89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143250"/>
            <a:ext cx="31432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ACA920-BD8D-4350-A968-D9A8F992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14325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7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6313C6-90C5-4591-A73E-6DE6A453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528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42A"/>
                </a:solidFill>
              </a:defRPr>
            </a:pPr>
            <a:r>
              <a:rPr sz="1575" b="1" i="0">
                <a:solidFill>
                  <a:srgbClr val="20242A"/>
                </a:solidFill>
              </a:rPr>
              <a:t>3. 効率基盤が拡張条件になる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B5F982-581C-432E-82FB-BCA5C46DE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719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4A5563"/>
                </a:solidFill>
              </a:defRPr>
            </a:pPr>
            <a:r>
              <a:rPr sz="1238" b="0" i="0">
                <a:solidFill>
                  <a:srgbClr val="4A5563"/>
                </a:solidFill>
              </a:rPr>
              <a:t>オンプレの電力・冷却制約では、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496343-0243-42A7-BC97-6586B536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0527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4A5563"/>
                </a:solidFill>
              </a:defRPr>
            </a:pPr>
            <a:r>
              <a:rPr sz="1238" b="0" i="0">
                <a:solidFill>
                  <a:srgbClr val="4A5563"/>
                </a:solidFill>
              </a:rPr>
              <a:t>business outcome per jouleが競争軸になる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DA21C7-2884-474C-9623-364336994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11125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807844-CA2E-4301-AE31-A4E0B5B6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29325"/>
            <a:ext cx="1074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1" i="0">
                <a:solidFill>
                  <a:srgbClr val="FFFFFF"/>
                </a:solidFill>
              </a:defRPr>
            </a:pPr>
            <a:r>
              <a:rPr sz="1238" b="1" i="0">
                <a:solidFill>
                  <a:srgbClr val="FFFFFF"/>
                </a:solidFill>
              </a:rPr>
              <a:t>求める判断: Phase 1で最初の2〜3領域と実証フィールドを決め、36ヶ月後の投資ゲートへつなげる。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54EF34-FCFF-4391-8FF1-5A6A6F86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77808C"/>
                </a:solidFill>
              </a:defRPr>
            </a:pPr>
            <a:r>
              <a:rPr sz="788" b="0" i="0">
                <a:solidFill>
                  <a:srgbClr val="77808C"/>
                </a:solidFill>
              </a:rPr>
              <a:t>Source: Provided KairosAI strategy docs, 2026-07-01</a:t>
            </a:r>
          </a:p>
        </p:txBody>
      </p:sp>
    </p:spTree>
    <p:extLst>
      <p:ext uri="{BB962C8B-B14F-4D97-AF65-F5344CB8AC3E}">
        <p14:creationId xmlns:p14="http://schemas.microsoft.com/office/powerpoint/2010/main" val="16954835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84CE02-D4BE-453D-A803-5761C59F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B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7E7D7D-0231-476E-9D0A-3BBF98487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"/>
            <a:ext cx="9620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0242A"/>
                </a:solidFill>
              </a:defRPr>
            </a:pPr>
            <a:r>
              <a:rPr sz="2550" b="1" i="0">
                <a:solidFill>
                  <a:srgbClr val="20242A"/>
                </a:solidFill>
              </a:rPr>
              <a:t>AIの主戦場は、回答生成から状態更新と実行権へ移る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6CD598-F155-4D93-A469-760A058C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001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A5563"/>
                </a:solidFill>
              </a:defRPr>
            </a:pPr>
            <a:r>
              <a:rPr sz="1350" b="0" i="0">
                <a:solidFill>
                  <a:srgbClr val="4A5563"/>
                </a:solidFill>
              </a:rPr>
              <a:t>チャット型AIでは誤答が問題だった。AI Agentでは、誤った状態更新・決済・制御が社会機能の停止につながる。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8CCACD-6322-4E1B-8FB4-6E1172622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BF7CE0-E712-427A-A6DA-9EDF5479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77808C"/>
                </a:solidFill>
              </a:defRPr>
            </a:pPr>
            <a:r>
              <a:rPr sz="788" b="0" i="0">
                <a:solidFill>
                  <a:srgbClr val="77808C"/>
                </a:solidFill>
              </a:rPr>
              <a:t>KairosAI Pitch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3285B8-6D32-47F5-89F9-CD1B13D6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62725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 i="0">
                <a:solidFill>
                  <a:srgbClr val="77808C"/>
                </a:solidFill>
              </a:defRPr>
            </a:pPr>
            <a:r>
              <a:rPr sz="788" b="0" i="0">
                <a:solidFill>
                  <a:srgbClr val="77808C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F54C9A-4432-43CD-A052-3FECD6CEB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7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67B660-D344-4784-8FF4-D5F79630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72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315F7D"/>
                </a:solidFill>
              </a:defRPr>
            </a:pPr>
            <a:r>
              <a:rPr sz="788" b="1" i="0">
                <a:solidFill>
                  <a:srgbClr val="315F7D"/>
                </a:solidFill>
              </a:rPr>
              <a:t>INFERENCE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10FC44-BE9E-459C-9E43-9DDDFE9DE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495300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C31B82-7CA5-4222-B014-EB273E21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495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8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EA4CF0-CC50-4A21-B575-60FBBDC0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42A"/>
                </a:solidFill>
              </a:defRPr>
            </a:pPr>
            <a:r>
              <a:rPr sz="1575" b="1" i="0">
                <a:solidFill>
                  <a:srgbClr val="20242A"/>
                </a:solidFill>
              </a:rPr>
              <a:t>これまで: 会話型AI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D1D498-6460-4EF6-8288-82BA30829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051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A5563"/>
                </a:solidFill>
              </a:defRPr>
            </a:pPr>
            <a:r>
              <a:rPr sz="1275" b="0" i="0">
                <a:solidFill>
                  <a:srgbClr val="4A5563"/>
                </a:solidFill>
              </a:rPr>
              <a:t>主入力: 人間の都度プロンプト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210605-EF37-4CAB-8F5B-96979C06C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3847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A5563"/>
                </a:solidFill>
              </a:defRPr>
            </a:pPr>
            <a:r>
              <a:rPr sz="1275" b="0" i="0">
                <a:solidFill>
                  <a:srgbClr val="4A5563"/>
                </a:solidFill>
              </a:rPr>
              <a:t>主出力: 回答、要約、提案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9A1AE9-69AB-49FD-BF2D-36A3552A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718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A5563"/>
                </a:solidFill>
              </a:defRPr>
            </a:pPr>
            <a:r>
              <a:rPr sz="1275" b="0" i="0">
                <a:solidFill>
                  <a:srgbClr val="4A5563"/>
                </a:solidFill>
              </a:rPr>
              <a:t>失敗: 誤答、幻覚、表現ミス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B04080-88B3-487F-B6B4-06B66077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0522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A5563"/>
                </a:solidFill>
              </a:defRPr>
            </a:pPr>
            <a:r>
              <a:rPr sz="1275" b="0" i="0">
                <a:solidFill>
                  <a:srgbClr val="4A5563"/>
                </a:solidFill>
              </a:rPr>
              <a:t>必要基盤: モデルとUI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ED7442-2297-40C3-97A4-E08B710F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386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A5563"/>
                </a:solidFill>
              </a:defRPr>
            </a:pPr>
            <a:r>
              <a:rPr sz="1275" b="0" i="0">
                <a:solidFill>
                  <a:srgbClr val="4A5563"/>
                </a:solidFill>
              </a:rPr>
              <a:t>焦点: どのモデルを使うか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32AF8A-B80F-4DD3-82F4-D4B12DCD6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76450"/>
            <a:ext cx="495300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9E56DB-E03D-4245-A558-65C1963C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76450"/>
            <a:ext cx="495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B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50BE44-9136-49FE-8887-8BF962AED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860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42A"/>
                </a:solidFill>
              </a:defRPr>
            </a:pPr>
            <a:r>
              <a:rPr sz="1575" b="1" i="0">
                <a:solidFill>
                  <a:srgbClr val="20242A"/>
                </a:solidFill>
              </a:rPr>
              <a:t>これから: AI Agent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D7C274-EBFB-4806-8989-6E9437DB3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051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A5563"/>
                </a:solidFill>
              </a:defRPr>
            </a:pPr>
            <a:r>
              <a:rPr sz="1275" b="0" i="0">
                <a:solidFill>
                  <a:srgbClr val="4A5563"/>
                </a:solidFill>
              </a:rPr>
              <a:t>主入力: イベント、状態、ポリシー、権限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501247-E4D2-4FE2-912B-377AEAE18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3847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A5563"/>
                </a:solidFill>
              </a:defRPr>
            </a:pPr>
            <a:r>
              <a:rPr sz="1275" b="0" i="0">
                <a:solidFill>
                  <a:srgbClr val="4A5563"/>
                </a:solidFill>
              </a:rPr>
              <a:t>主出力: 状態更新、実行指図、決済、監査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5B761D-5781-460C-8EFC-F2B4BA05A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718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A5563"/>
                </a:solidFill>
              </a:defRPr>
            </a:pPr>
            <a:r>
              <a:rPr sz="1275" b="0" i="0">
                <a:solidFill>
                  <a:srgbClr val="4A5563"/>
                </a:solidFill>
              </a:rPr>
              <a:t>失敗: 誤実行、誤配分、社会機能停止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7AF009-8564-4AB4-9B71-1C409F1F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70522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A5563"/>
                </a:solidFill>
              </a:defRPr>
            </a:pPr>
            <a:r>
              <a:rPr sz="1275" b="0" i="0">
                <a:solidFill>
                  <a:srgbClr val="4A5563"/>
                </a:solidFill>
              </a:rPr>
              <a:t>必要基盤: モデル + registry / policy / settlement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833AE8-C2F2-4E5E-817E-A6ECCB2CC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386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A5563"/>
                </a:solidFill>
              </a:defRPr>
            </a:pPr>
            <a:r>
              <a:rPr sz="1275" b="0" i="0">
                <a:solidFill>
                  <a:srgbClr val="4A5563"/>
                </a:solidFill>
              </a:rPr>
              <a:t>焦点: 誰が状態更新権を握るか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8FC238-8082-4BB7-AE1F-A5E93337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23850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E45B1B"/>
                </a:solidFill>
              </a:defRPr>
            </a:pPr>
            <a:r>
              <a:rPr sz="2250" b="1" i="0">
                <a:solidFill>
                  <a:srgbClr val="E45B1B"/>
                </a:solidFill>
              </a:rPr>
              <a:t>=&gt;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DBCD24-3C64-4C93-B072-8F78A7B0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11125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729F38-11C8-45D2-9ACB-34F1B85F2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29325"/>
            <a:ext cx="1074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1" i="0">
                <a:solidFill>
                  <a:srgbClr val="FFFFFF"/>
                </a:solidFill>
              </a:defRPr>
            </a:pPr>
            <a:r>
              <a:rPr sz="1238" b="1" i="0">
                <a:solidFill>
                  <a:srgbClr val="FFFFFF"/>
                </a:solidFill>
              </a:rPr>
              <a:t>示唆: 守る対象は「データの保管場所」から、判断・実行・決済を更新する運用レールへ広がる。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1BCA01-0E3A-470D-A799-AE9C3E3BD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77808C"/>
                </a:solidFill>
              </a:defRPr>
            </a:pPr>
            <a:r>
              <a:rPr sz="788" b="0" i="0">
                <a:solidFill>
                  <a:srgbClr val="77808C"/>
                </a:solidFill>
              </a:rPr>
              <a:t>Source: Provided KairosAI strategy docs, 2026-07-01</a:t>
            </a:r>
          </a:p>
        </p:txBody>
      </p:sp>
    </p:spTree>
    <p:extLst>
      <p:ext uri="{BB962C8B-B14F-4D97-AF65-F5344CB8AC3E}">
        <p14:creationId xmlns:p14="http://schemas.microsoft.com/office/powerpoint/2010/main" val="2569280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4CBF16-3BEE-4B81-8E05-6558F225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B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C453E4-E4BD-4067-A024-6588B3781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"/>
            <a:ext cx="9620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20242A"/>
                </a:solidFill>
              </a:defRPr>
            </a:pPr>
            <a:r>
              <a:rPr sz="2325" b="1" i="0">
                <a:solidFill>
                  <a:srgbClr val="20242A"/>
                </a:solidFill>
              </a:rPr>
              <a:t>守るべき対象は6業界ではなく、横断する判断・実行・学習基盤である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459F3F-A5FE-4E86-8270-E315ED08F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001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A5563"/>
                </a:solidFill>
              </a:defRPr>
            </a:pPr>
            <a:r>
              <a:rPr sz="1350" b="0" i="0">
                <a:solidFill>
                  <a:srgbClr val="4A5563"/>
                </a:solidFill>
              </a:rPr>
              <a:t>金融、製造、宇宙、ロボティクス、交通、防衛は別々の箱ではない。需給、移動、決済、制御、保守が実務上つながっている。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B66DB0-546D-4248-AA18-21B656685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683BE9-AEA5-4864-9B49-F80FE0872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77808C"/>
                </a:solidFill>
              </a:defRPr>
            </a:pPr>
            <a:r>
              <a:rPr sz="788" b="0" i="0">
                <a:solidFill>
                  <a:srgbClr val="77808C"/>
                </a:solidFill>
              </a:rPr>
              <a:t>KairosAI Pitch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A21CCD-44D8-4F53-B217-25CA688D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62725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 i="0">
                <a:solidFill>
                  <a:srgbClr val="77808C"/>
                </a:solidFill>
              </a:defRPr>
            </a:pPr>
            <a:r>
              <a:rPr sz="788" b="0" i="0">
                <a:solidFill>
                  <a:srgbClr val="77808C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30DB39-7051-4496-880A-B2C0BCA9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32004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1CF59D-C009-4D6F-96B1-0910339F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57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D7063B-A273-4705-AD5C-57C31500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71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15F7D"/>
                </a:solidFill>
              </a:defRPr>
            </a:pPr>
            <a:r>
              <a:rPr sz="1200" b="1" i="0">
                <a:solidFill>
                  <a:srgbClr val="315F7D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060424-8494-42B2-8A79-7CAB1450D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336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42A"/>
                </a:solidFill>
              </a:defRPr>
            </a:pPr>
            <a:r>
              <a:rPr sz="1575" b="1" i="0">
                <a:solidFill>
                  <a:srgbClr val="20242A"/>
                </a:solidFill>
              </a:rPr>
              <a:t>金融・決済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6CE460-320A-4214-88F3-4FA07B2C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146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4A5563"/>
                </a:solidFill>
              </a:defRPr>
            </a:pPr>
            <a:r>
              <a:rPr sz="1238" b="0" i="0">
                <a:solidFill>
                  <a:srgbClr val="4A5563"/>
                </a:solidFill>
              </a:rPr>
              <a:t>資金移動、決済、ヘッジ、規制対応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34EAF0-14D8-4641-BBEF-67D9D369D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62150"/>
            <a:ext cx="32004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A964B0-9033-4B09-AF05-900A5359C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62150"/>
            <a:ext cx="57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7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5F78DA-7C4C-44A2-92EB-6D4DC671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71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37A68"/>
                </a:solidFill>
              </a:defRPr>
            </a:pPr>
            <a:r>
              <a:rPr sz="1200" b="1" i="0">
                <a:solidFill>
                  <a:srgbClr val="637A68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77AD6D-A07E-4F4D-BEDF-952D576A3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1336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42A"/>
                </a:solidFill>
              </a:defRPr>
            </a:pPr>
            <a:r>
              <a:rPr sz="1575" b="1" i="0">
                <a:solidFill>
                  <a:srgbClr val="20242A"/>
                </a:solidFill>
              </a:rPr>
              <a:t>製造・エネルギー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C0B9F3-FAB9-4497-A8AA-30666139D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146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4A5563"/>
                </a:solidFill>
              </a:defRPr>
            </a:pPr>
            <a:r>
              <a:rPr sz="1238" b="0" i="0">
                <a:solidFill>
                  <a:srgbClr val="4A5563"/>
                </a:solidFill>
              </a:rPr>
              <a:t>需給、生産、保全、制御、在庫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90298A-E76B-4990-BE26-DB3E6DB7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62150"/>
            <a:ext cx="32004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1C91E9-54B8-4E9A-A3EB-01074BAE2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62150"/>
            <a:ext cx="57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6C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CA54E8-6E09-4DCD-82E3-98F7881B7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71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B6C79"/>
                </a:solidFill>
              </a:defRPr>
            </a:pPr>
            <a:r>
              <a:rPr sz="1200" b="1" i="0">
                <a:solidFill>
                  <a:srgbClr val="7B6C79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B773CC-956D-4E0F-9F13-0001F211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336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42A"/>
                </a:solidFill>
              </a:defRPr>
            </a:pPr>
            <a:r>
              <a:rPr sz="1575" b="1" i="0">
                <a:solidFill>
                  <a:srgbClr val="20242A"/>
                </a:solidFill>
              </a:rPr>
              <a:t>宇宙データ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3F3349-0D44-47B4-B400-4587164F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146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4A5563"/>
                </a:solidFill>
              </a:defRPr>
            </a:pPr>
            <a:r>
              <a:rPr sz="1238" b="0" i="0">
                <a:solidFill>
                  <a:srgbClr val="4A5563"/>
                </a:solidFill>
              </a:rPr>
              <a:t>観測、航法、軌道、衛星運用ログ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A2CAD9-52A6-425E-853F-140479CAA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86150"/>
            <a:ext cx="32004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8C0F81-F857-4ACE-BB24-744F8700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86150"/>
            <a:ext cx="57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45ACF4-954C-4212-BDFA-D958EE261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95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C99A2E"/>
                </a:solidFill>
              </a:defRPr>
            </a:pPr>
            <a:r>
              <a:rPr sz="1200" b="1" i="0">
                <a:solidFill>
                  <a:srgbClr val="C99A2E"/>
                </a:solidFill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FEDB36-CD7A-4F2C-BDE5-76836CB1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576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42A"/>
                </a:solidFill>
              </a:defRPr>
            </a:pPr>
            <a:r>
              <a:rPr sz="1575" b="1" i="0">
                <a:solidFill>
                  <a:srgbClr val="20242A"/>
                </a:solidFill>
              </a:rPr>
              <a:t>ロボティクス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E6B74C-7F7E-41E3-B51C-D2445E7B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386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4A5563"/>
                </a:solidFill>
              </a:defRPr>
            </a:pPr>
            <a:r>
              <a:rPr sz="1238" b="0" i="0">
                <a:solidFill>
                  <a:srgbClr val="4A5563"/>
                </a:solidFill>
              </a:rPr>
              <a:t>VLA、操作ログ、失敗事例、環境マップ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E27EBE-4025-43C8-8F80-94D8E4A17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86150"/>
            <a:ext cx="32004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7B1ABE-2712-492B-B822-32A1E890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86150"/>
            <a:ext cx="57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CC715B-15BE-44FC-B93C-3AA66434A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95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15F7D"/>
                </a:solidFill>
              </a:defRPr>
            </a:pPr>
            <a:r>
              <a:rPr sz="1200" b="1" i="0">
                <a:solidFill>
                  <a:srgbClr val="315F7D"/>
                </a:solidFill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625FE6-9B17-4E7A-AA8E-CAC4A2D8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6576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42A"/>
                </a:solidFill>
              </a:defRPr>
            </a:pPr>
            <a:r>
              <a:rPr sz="1575" b="1" i="0">
                <a:solidFill>
                  <a:srgbClr val="20242A"/>
                </a:solidFill>
              </a:rPr>
              <a:t>交通・物流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442A13-E884-4667-A5E7-813841FD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0386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4A5563"/>
                </a:solidFill>
              </a:defRPr>
            </a:pPr>
            <a:r>
              <a:rPr sz="1238" b="0" i="0">
                <a:solidFill>
                  <a:srgbClr val="4A5563"/>
                </a:solidFill>
              </a:rPr>
              <a:t>配送、フリート、地図更新、運行最適化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1251B82-C254-4CE0-A4FE-F80A37FC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86150"/>
            <a:ext cx="32004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F33374-93F2-4EC5-AFD9-DE686168D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86150"/>
            <a:ext cx="57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3E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51405DA-D8C0-4EE4-B8E9-FA75F1BE3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95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A43E3E"/>
                </a:solidFill>
              </a:defRPr>
            </a:pPr>
            <a:r>
              <a:rPr sz="1200" b="1" i="0">
                <a:solidFill>
                  <a:srgbClr val="A43E3E"/>
                </a:solidFill>
              </a:rPr>
              <a:t>06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E5C83D2-4F74-4AF5-9094-04B0B12B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576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42A"/>
                </a:solidFill>
              </a:defRPr>
            </a:pPr>
            <a:r>
              <a:rPr sz="1575" b="1" i="0">
                <a:solidFill>
                  <a:srgbClr val="20242A"/>
                </a:solidFill>
              </a:rPr>
              <a:t>防衛・公共インフラ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918903F-8185-421D-BAE6-F96D622CF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386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4A5563"/>
                </a:solidFill>
              </a:defRPr>
            </a:pPr>
            <a:r>
              <a:rPr sz="1238" b="0" i="0">
                <a:solidFill>
                  <a:srgbClr val="4A5563"/>
                </a:solidFill>
              </a:rPr>
              <a:t>状況判断、脅威検知、兵站、設備監視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2D7014D-4D69-45E1-89A5-F5F23BF45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11125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468505-74CF-466A-914E-839891D67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29325"/>
            <a:ext cx="1074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1" i="0">
                <a:solidFill>
                  <a:srgbClr val="FFFFFF"/>
                </a:solidFill>
              </a:defRPr>
            </a:pPr>
            <a:r>
              <a:rPr sz="1238" b="1" i="0">
                <a:solidFill>
                  <a:srgbClr val="FFFFFF"/>
                </a:solidFill>
              </a:rPr>
              <a:t>共通構造: 外部イベントと内部状態を結び、判断し、実行し、結果から学ぶ基盤を誰が持つか。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A0824E6-E91B-40C6-8851-ADB453D9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77808C"/>
                </a:solidFill>
              </a:defRPr>
            </a:pPr>
            <a:r>
              <a:rPr sz="788" b="0" i="0">
                <a:solidFill>
                  <a:srgbClr val="77808C"/>
                </a:solidFill>
              </a:rPr>
              <a:t>Source: Provided KairosAI strategy docs, 2026-07-01</a:t>
            </a:r>
          </a:p>
        </p:txBody>
      </p:sp>
    </p:spTree>
    <p:extLst>
      <p:ext uri="{BB962C8B-B14F-4D97-AF65-F5344CB8AC3E}">
        <p14:creationId xmlns:p14="http://schemas.microsoft.com/office/powerpoint/2010/main" val="16442040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F55D69-8EC9-47BB-B4B7-DA6ADD143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B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06E18D-25F8-4B02-A40E-745CDC017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"/>
            <a:ext cx="9620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20242A"/>
                </a:solidFill>
              </a:defRPr>
            </a:pPr>
            <a:r>
              <a:rPr sz="2325" b="1" i="0">
                <a:solidFill>
                  <a:srgbClr val="20242A"/>
                </a:solidFill>
              </a:rPr>
              <a:t>保存先だけでは主権は守れず、学習権・運用権・更新権を握る必要がある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FAB85E-7BEE-4847-BFA7-3785D213B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001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A5563"/>
                </a:solidFill>
              </a:defRPr>
            </a:pPr>
            <a:r>
              <a:rPr sz="1350" b="0" i="0">
                <a:solidFill>
                  <a:srgbClr val="4A5563"/>
                </a:solidFill>
              </a:rPr>
              <a:t>データを国内に置いても、誰が学習し、評価し、配備し、問題時に戻せるかを外部に委ねれば、判断基盤は外部依存のまま残る。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78FBFD-B614-414E-9D9C-8F51B1C59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58E23A-C114-4A5A-8B49-676DA644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77808C"/>
                </a:solidFill>
              </a:defRPr>
            </a:pPr>
            <a:r>
              <a:rPr sz="788" b="0" i="0">
                <a:solidFill>
                  <a:srgbClr val="77808C"/>
                </a:solidFill>
              </a:rPr>
              <a:t>KairosAI Pitch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361DA6-B6EB-437E-89B5-F84C2780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62725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 i="0">
                <a:solidFill>
                  <a:srgbClr val="77808C"/>
                </a:solidFill>
              </a:defRPr>
            </a:pPr>
            <a:r>
              <a:rPr sz="788" b="0" i="0">
                <a:solidFill>
                  <a:srgbClr val="77808C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CCB0BD-4B56-4056-884E-5CDBE9264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5B1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58878C-4759-43F9-AFBF-1B99A3DC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72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E45B1B"/>
                </a:solidFill>
              </a:defRPr>
            </a:pPr>
            <a:r>
              <a:rPr sz="788" b="1" i="0">
                <a:solidFill>
                  <a:srgbClr val="E45B1B"/>
                </a:solidFill>
              </a:rPr>
              <a:t>DECISION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2B599A-BE91-4187-8E4C-457A89C1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0502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E45B1B"/>
                </a:solidFill>
              </a:defRPr>
            </a:pPr>
            <a:r>
              <a:rPr sz="1875" b="1" i="0">
                <a:solidFill>
                  <a:srgbClr val="E45B1B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EA0C8A-72FA-414A-82F1-19B9E1010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669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0242A"/>
                </a:solidFill>
              </a:defRPr>
            </a:pPr>
            <a:r>
              <a:rPr sz="1500" b="1" i="0">
                <a:solidFill>
                  <a:srgbClr val="20242A"/>
                </a:solidFill>
              </a:rPr>
              <a:t>保存場所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3AFBB5-15C2-41A1-9F61-63148CB36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7172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4A5563"/>
                </a:solidFill>
              </a:defRPr>
            </a:pPr>
            <a:r>
              <a:rPr sz="1238" b="0" i="0">
                <a:solidFill>
                  <a:srgbClr val="4A5563"/>
                </a:solidFill>
              </a:rPr>
              <a:t>原本データを境界内に残す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2C3DD2-B111-43CF-BB79-1F80ECD1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9082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A724D0-0511-4B0C-8B47-AE340D483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0502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E45B1B"/>
                </a:solidFill>
              </a:defRPr>
            </a:pPr>
            <a:r>
              <a:rPr sz="1875" b="1" i="0">
                <a:solidFill>
                  <a:srgbClr val="E45B1B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C395F4-5278-4CB7-AC7C-3C8CD919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669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0242A"/>
                </a:solidFill>
              </a:defRPr>
            </a:pPr>
            <a:r>
              <a:rPr sz="1500" b="1" i="0">
                <a:solidFill>
                  <a:srgbClr val="20242A"/>
                </a:solidFill>
              </a:rPr>
              <a:t>学習権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5306A7-C405-43A9-BAF7-99DD3B32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37172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4A5563"/>
                </a:solidFill>
              </a:defRPr>
            </a:pPr>
            <a:r>
              <a:rPr sz="1238" b="0" i="0">
                <a:solidFill>
                  <a:srgbClr val="4A5563"/>
                </a:solidFill>
              </a:rPr>
              <a:t>利用条件と再学習可否を機械可読に判定する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386224-B2D8-4FA9-A45D-74343BBC5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9082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D1A4BF-6CAD-426B-A984-1324F819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3847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E45B1B"/>
                </a:solidFill>
              </a:defRPr>
            </a:pPr>
            <a:r>
              <a:rPr sz="1875" b="1" i="0">
                <a:solidFill>
                  <a:srgbClr val="E45B1B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099E32-A1B0-45A5-966D-7F7F91F0C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003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0242A"/>
                </a:solidFill>
              </a:defRPr>
            </a:pPr>
            <a:r>
              <a:rPr sz="1500" b="1" i="0">
                <a:solidFill>
                  <a:srgbClr val="20242A"/>
                </a:solidFill>
              </a:rPr>
              <a:t>運用権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C42D99-ECAE-4464-BD93-4F4EA67B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0517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4A5563"/>
                </a:solidFill>
              </a:defRPr>
            </a:pPr>
            <a:r>
              <a:rPr sz="1238" b="0" i="0">
                <a:solidFill>
                  <a:srgbClr val="4A5563"/>
                </a:solidFill>
              </a:rPr>
              <a:t>モデルと実行基盤を国内主体で運用する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D3A89F-931F-4A75-815F-434B6813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2427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E94287-4DD3-42B7-AC0C-A00EA14C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3847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E45B1B"/>
                </a:solidFill>
              </a:defRPr>
            </a:pPr>
            <a:r>
              <a:rPr sz="1875" b="1" i="0">
                <a:solidFill>
                  <a:srgbClr val="E45B1B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20FEF9-1747-4664-8674-863C81E1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003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0242A"/>
                </a:solidFill>
              </a:defRPr>
            </a:pPr>
            <a:r>
              <a:rPr sz="1500" b="1" i="0">
                <a:solidFill>
                  <a:srgbClr val="20242A"/>
                </a:solidFill>
              </a:rPr>
              <a:t>更新・配備権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EB2361-DEC3-46FA-A7E6-277A738B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0517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4A5563"/>
                </a:solidFill>
              </a:defRPr>
            </a:pPr>
            <a:r>
              <a:rPr sz="1238" b="0" i="0">
                <a:solidFill>
                  <a:srgbClr val="4A5563"/>
                </a:solidFill>
              </a:rPr>
              <a:t>評価ゲート、署名、canaryを国内で回す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FF2BC3-885A-4057-8630-ECD31C974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72427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4C4433-719B-4A88-ADA2-78770D0B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7192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E45B1B"/>
                </a:solidFill>
              </a:defRPr>
            </a:pPr>
            <a:r>
              <a:rPr sz="1875" b="1" i="0">
                <a:solidFill>
                  <a:srgbClr val="E45B1B"/>
                </a:solidFill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61EBA9-D7A3-4B7E-ACD3-317453CD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338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0242A"/>
                </a:solidFill>
              </a:defRPr>
            </a:pPr>
            <a:r>
              <a:rPr sz="1500" b="1" i="0">
                <a:solidFill>
                  <a:srgbClr val="20242A"/>
                </a:solidFill>
              </a:rPr>
              <a:t>rollback権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AE7D19-6020-47BB-98C4-604917A7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3862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4A5563"/>
                </a:solidFill>
              </a:defRPr>
            </a:pPr>
            <a:r>
              <a:rPr sz="1238" b="0" i="0">
                <a:solidFill>
                  <a:srgbClr val="4A5563"/>
                </a:solidFill>
              </a:rPr>
              <a:t>model versionと寄与データを追跡し戻せる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67FDFF-FCBC-4568-8765-29E18E9E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5772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F67270-DF24-44C7-A2B6-FD553A0C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7192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E45B1B"/>
                </a:solidFill>
              </a:defRPr>
            </a:pPr>
            <a:r>
              <a:rPr sz="1875" b="1" i="0">
                <a:solidFill>
                  <a:srgbClr val="E45B1B"/>
                </a:solidFill>
              </a:rPr>
              <a:t>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583452-76AE-4514-9F65-A4B67F40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9338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0242A"/>
                </a:solidFill>
              </a:defRPr>
            </a:pPr>
            <a:r>
              <a:rPr sz="1500" b="1" i="0">
                <a:solidFill>
                  <a:srgbClr val="20242A"/>
                </a:solidFill>
              </a:rPr>
              <a:t>実行・決済権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A989B9-0083-45BF-A472-FA2B6F63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3862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4A5563"/>
                </a:solidFill>
              </a:defRPr>
            </a:pPr>
            <a:r>
              <a:rPr sz="1238" b="0" i="0">
                <a:solidFill>
                  <a:srgbClr val="4A5563"/>
                </a:solidFill>
              </a:rPr>
              <a:t>状態更新と精算を国内レール上で完遂する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9CAD7D-A32B-495A-B50D-13AEB0C3D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5772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3E2526-5A90-4972-9841-308E4B34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11125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70D5F4-2825-48DC-8BFB-40E058AF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29325"/>
            <a:ext cx="1074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1" i="0">
                <a:solidFill>
                  <a:srgbClr val="FFFFFF"/>
                </a:solidFill>
              </a:defRPr>
            </a:pPr>
            <a:r>
              <a:rPr sz="1238" b="1" i="0">
                <a:solidFill>
                  <a:srgbClr val="FFFFFF"/>
                </a:solidFill>
              </a:rPr>
              <a:t>KairosAIのmoatは、モデル精度単体ではなく、この6つを現場の実行基盤に埋め込むことにある。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81C860F-0344-4E9D-A625-F32998199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77808C"/>
                </a:solidFill>
              </a:defRPr>
            </a:pPr>
            <a:r>
              <a:rPr sz="788" b="0" i="0">
                <a:solidFill>
                  <a:srgbClr val="77808C"/>
                </a:solidFill>
              </a:rPr>
              <a:t>Source: Provided KairosAI strategy docs, 2026-07-01</a:t>
            </a:r>
          </a:p>
        </p:txBody>
      </p:sp>
    </p:spTree>
    <p:extLst>
      <p:ext uri="{BB962C8B-B14F-4D97-AF65-F5344CB8AC3E}">
        <p14:creationId xmlns:p14="http://schemas.microsoft.com/office/powerpoint/2010/main" val="2092446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101BAC-994B-4095-AEF1-664648A8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B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025E9C-2EA5-4BF3-B16F-C44942667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"/>
            <a:ext cx="9620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20242A"/>
                </a:solidFill>
              </a:defRPr>
            </a:pPr>
            <a:r>
              <a:rPr sz="2325" b="1" i="0">
                <a:solidFill>
                  <a:srgbClr val="20242A"/>
                </a:solidFill>
              </a:rPr>
              <a:t>3本柱は並列商品ではなく、現場実装から始まる開発ライフサイクルである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DE6681-AF10-4338-AE02-B8C9FE1C2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001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A5563"/>
                </a:solidFill>
              </a:defRPr>
            </a:pPr>
            <a:r>
              <a:rPr sz="1350" b="0" i="0">
                <a:solidFill>
                  <a:srgbClr val="4A5563"/>
                </a:solidFill>
              </a:rPr>
              <a:t>Agent実装がデータを生み、そのデータが共有コアを育て、常時推論・学習を支える計算基盤が次の導入条件を下げる。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2E0C63-932F-4A8B-80C2-F70E758A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46F3DB-4C67-40D1-A032-CE895A8F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77808C"/>
                </a:solidFill>
              </a:defRPr>
            </a:pPr>
            <a:r>
              <a:rPr sz="788" b="0" i="0">
                <a:solidFill>
                  <a:srgbClr val="77808C"/>
                </a:solidFill>
              </a:rPr>
              <a:t>KairosAI Pitch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D73E01-CC8A-4951-A7DD-90F983BF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62725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 i="0">
                <a:solidFill>
                  <a:srgbClr val="77808C"/>
                </a:solidFill>
              </a:defRPr>
            </a:pPr>
            <a:r>
              <a:rPr sz="788" b="0" i="0">
                <a:solidFill>
                  <a:srgbClr val="77808C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3FCEF4-6BD2-44DB-B965-45B981FC5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3238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E9BE8F-8B7D-4759-BF70-0DAB249B5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3238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950D87-2AF9-4504-81BE-CCB40E2E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0242A"/>
                </a:solidFill>
              </a:defRPr>
            </a:pPr>
            <a:r>
              <a:rPr sz="1500" b="1" i="0">
                <a:solidFill>
                  <a:srgbClr val="20242A"/>
                </a:solidFill>
              </a:rPr>
              <a:t>① Agent AI企業実装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CA2A0A-7E83-4CF9-AE4E-0FE74D8B1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4A5563"/>
                </a:solidFill>
              </a:defRPr>
            </a:pPr>
            <a:r>
              <a:rPr sz="1200" b="0" i="0">
                <a:solidFill>
                  <a:srgbClr val="4A5563"/>
                </a:solidFill>
              </a:rPr>
              <a:t>現場実装 + データ捕捉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C9EE82-BC07-4BB8-83EF-A98FD9632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575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4A5563"/>
                </a:solidFill>
              </a:defRPr>
            </a:pPr>
            <a:r>
              <a:rPr sz="1200" b="0" i="0">
                <a:solidFill>
                  <a:srgbClr val="4A5563"/>
                </a:solidFill>
              </a:rPr>
              <a:t>Domain Pack、評価ハーネス、state registry、policy、provenance、settlement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C6786D-43DD-4039-B33A-61F9EA94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95500"/>
            <a:ext cx="3238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16D659-4021-4575-9C12-85300867B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95500"/>
            <a:ext cx="3238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6C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7C9A6E-C311-4572-8D01-A6030A80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050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0242A"/>
                </a:solidFill>
              </a:defRPr>
            </a:pPr>
            <a:r>
              <a:rPr sz="1500" b="1" i="0">
                <a:solidFill>
                  <a:srgbClr val="20242A"/>
                </a:solidFill>
              </a:rPr>
              <a:t>② 大規模基盤モデル開発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B101BF-483D-4465-BEA3-4C294E6E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7241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4A5563"/>
                </a:solidFill>
              </a:defRPr>
            </a:pPr>
            <a:r>
              <a:rPr sz="1200" b="0" i="0">
                <a:solidFill>
                  <a:srgbClr val="4A5563"/>
                </a:solidFill>
              </a:rPr>
              <a:t>①の運用排気で共有コアを育成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06E72B-B519-493C-9721-440AB256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575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4A5563"/>
                </a:solidFill>
              </a:defRPr>
            </a:pPr>
            <a:r>
              <a:rPr sz="1200" b="0" i="0">
                <a:solidFill>
                  <a:srgbClr val="4A5563"/>
                </a:solidFill>
              </a:rPr>
              <a:t>共有コア、領域専門家、独自optimizer、汎用化go/no-go、国家計算基盤接続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46F638-B1B3-4C98-9496-8E5BD4A4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38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7F461C-5603-4FC6-BA74-E1A247564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38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7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D2EFB5-A968-4BCA-A876-E3F1DA50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050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0242A"/>
                </a:solidFill>
              </a:defRPr>
            </a:pPr>
            <a:r>
              <a:rPr sz="1500" b="1" i="0">
                <a:solidFill>
                  <a:srgbClr val="20242A"/>
                </a:solidFill>
              </a:rPr>
              <a:t>③ 計算基盤開発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1E3E5C-A059-403E-B791-EC78ABFF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4A5563"/>
                </a:solidFill>
              </a:defRPr>
            </a:pPr>
            <a:r>
              <a:rPr sz="1200" b="0" i="0">
                <a:solidFill>
                  <a:srgbClr val="4A5563"/>
                </a:solidFill>
              </a:rPr>
              <a:t>①②を支える高効率基盤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3FE72D-AEA9-4E65-9F20-62A2F98D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575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4A5563"/>
                </a:solidFill>
              </a:defRPr>
            </a:pPr>
            <a:r>
              <a:rPr sz="1200" b="0" i="0">
                <a:solidFill>
                  <a:srgbClr val="4A5563"/>
                </a:solidFill>
              </a:rPr>
              <a:t>GPU共通スタック、Model/Compute Router、専用HW、HBM非律速メモリ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099594-C8C1-471B-ABA2-E2E75BC6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387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15F7D"/>
                </a:solidFill>
              </a:defRPr>
            </a:pPr>
            <a:r>
              <a:rPr sz="1200" b="1" i="0">
                <a:solidFill>
                  <a:srgbClr val="315F7D"/>
                </a:solidFill>
              </a:rPr>
              <a:t>現場実装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693F3F-CCDF-43D6-B7FC-A7B9214B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93395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B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4A2AB5-D60E-4059-AE10-816C7EC8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387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B6C79"/>
                </a:solidFill>
              </a:defRPr>
            </a:pPr>
            <a:r>
              <a:rPr sz="1200" b="1" i="0">
                <a:solidFill>
                  <a:srgbClr val="7B6C79"/>
                </a:solidFill>
              </a:rPr>
              <a:t>運用排気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7B7618-311F-4E1C-B97E-9DD49D309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93395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B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72575E-2066-4EDD-9753-67539BF5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8387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37A68"/>
                </a:solidFill>
              </a:defRPr>
            </a:pPr>
            <a:r>
              <a:rPr sz="1200" b="1" i="0">
                <a:solidFill>
                  <a:srgbClr val="637A68"/>
                </a:solidFill>
              </a:rPr>
              <a:t>効率で戻す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350D81-AE6E-42CD-9325-6220CEEB6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11125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F4DC84-9316-4D7F-A9D1-F87C4FE5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29325"/>
            <a:ext cx="1074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1" i="0">
                <a:solidFill>
                  <a:srgbClr val="FFFFFF"/>
                </a:solidFill>
              </a:defRPr>
            </a:pPr>
            <a:r>
              <a:rPr sz="1238" b="1" i="0">
                <a:solidFill>
                  <a:srgbClr val="FFFFFF"/>
                </a:solidFill>
              </a:rPr>
              <a:t>切り売りは可能。ただし競合に再現しにくい価値は、3本柱が一体で回ったときにだけ生まれる。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5FF8B3-FCCA-45BF-BF65-59CC7462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77808C"/>
                </a:solidFill>
              </a:defRPr>
            </a:pPr>
            <a:r>
              <a:rPr sz="788" b="0" i="0">
                <a:solidFill>
                  <a:srgbClr val="77808C"/>
                </a:solidFill>
              </a:rPr>
              <a:t>Source: Provided KairosAI strategy docs, 2026-07-01</a:t>
            </a:r>
          </a:p>
        </p:txBody>
      </p:sp>
    </p:spTree>
    <p:extLst>
      <p:ext uri="{BB962C8B-B14F-4D97-AF65-F5344CB8AC3E}">
        <p14:creationId xmlns:p14="http://schemas.microsoft.com/office/powerpoint/2010/main" val="7483646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362562-B857-46A4-9AFD-990274792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B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F6802E-38B7-427B-B302-2CF387AA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"/>
            <a:ext cx="9620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0242A"/>
                </a:solidFill>
              </a:defRPr>
            </a:pPr>
            <a:r>
              <a:rPr sz="2550" b="1" i="0">
                <a:solidFill>
                  <a:srgbClr val="20242A"/>
                </a:solidFill>
              </a:rPr>
              <a:t>Phase 1はDomain Packで現場価値と学習資産を同時に作る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1730B4-737A-44E5-B099-F1041E42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001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A5563"/>
                </a:solidFill>
              </a:defRPr>
            </a:pPr>
            <a:r>
              <a:rPr sz="1350" b="0" i="0">
                <a:solidFill>
                  <a:srgbClr val="4A5563"/>
                </a:solidFill>
              </a:rPr>
              <a:t>初期はOSS共有コアを使い、2〜3領域の現場へ入る。狙いはPoCの完了ではなく、評価可能な更新ループを始動することである。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148FC5-72E4-4008-8B7B-5A961ABD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22AA07-61C5-484F-964D-30B436F5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77808C"/>
                </a:solidFill>
              </a:defRPr>
            </a:pPr>
            <a:r>
              <a:rPr sz="788" b="0" i="0">
                <a:solidFill>
                  <a:srgbClr val="77808C"/>
                </a:solidFill>
              </a:rPr>
              <a:t>KairosAI Pitch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768786-A8B5-43AE-85C1-211545518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62725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 i="0">
                <a:solidFill>
                  <a:srgbClr val="77808C"/>
                </a:solidFill>
              </a:defRPr>
            </a:pPr>
            <a:r>
              <a:rPr sz="788" b="0" i="0">
                <a:solidFill>
                  <a:srgbClr val="77808C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9E6E5D-48CF-4F21-9423-00A6AEF4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37A6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BAE27D-2189-4463-8FC7-88EB0DA78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72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637A68"/>
                </a:solidFill>
              </a:defRPr>
            </a:pPr>
            <a:r>
              <a:rPr sz="788" b="1" i="0">
                <a:solidFill>
                  <a:srgbClr val="637A68"/>
                </a:solidFill>
              </a:rPr>
              <a:t>PLAN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2C725D-4519-4427-A3A5-894CCC120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3143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45A2B2-6966-495D-B493-60C8D5EA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A5B000-F487-49A8-8961-34C445DC4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241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42A"/>
                </a:solidFill>
              </a:defRPr>
            </a:pPr>
            <a:r>
              <a:rPr sz="1575" b="1" i="0">
                <a:solidFill>
                  <a:srgbClr val="20242A"/>
                </a:solidFill>
              </a:rPr>
              <a:t>Domain Pack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C4E4C0-7787-4F3F-AA34-4F596C82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432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4A5563"/>
                </a:solidFill>
              </a:defRPr>
            </a:pPr>
            <a:r>
              <a:rPr sz="1238" b="0" i="0">
                <a:solidFill>
                  <a:srgbClr val="4A5563"/>
                </a:solidFill>
              </a:rPr>
              <a:t>領域別の業務イベントとTool 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F4D7A5-4F72-4D2D-A105-6E2F99418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7657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4A5563"/>
                </a:solidFill>
              </a:defRPr>
            </a:pPr>
            <a:r>
              <a:rPr sz="1238" b="0" i="0">
                <a:solidFill>
                  <a:srgbClr val="4A5563"/>
                </a:solidFill>
              </a:rPr>
              <a:t>評価schema、golden set、model card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FF81B7-8250-485A-B69A-65B99976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099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4A5563"/>
                </a:solidFill>
              </a:defRPr>
            </a:pPr>
            <a:r>
              <a:rPr sz="1238" b="0" i="0">
                <a:solidFill>
                  <a:srgbClr val="4A5563"/>
                </a:solidFill>
              </a:rPr>
              <a:t>協調パターンと承認ゲート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55ACDD-59D4-4DD8-BEA2-303ECA81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4332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4A5563"/>
                </a:solidFill>
              </a:defRPr>
            </a:pPr>
            <a:r>
              <a:rPr sz="1238" b="0" i="0">
                <a:solidFill>
                  <a:srgbClr val="4A5563"/>
                </a:solidFill>
              </a:rPr>
              <a:t>RAG / KG / state registry接続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952C8D-8B37-4137-98EE-1FB24562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14550"/>
            <a:ext cx="3143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29D7D8-709F-4DA3-BC54-8308D540B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1455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1DAFD6-6F7B-4834-99F1-EBCB892EB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3241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42A"/>
                </a:solidFill>
              </a:defRPr>
            </a:pPr>
            <a:r>
              <a:rPr sz="1575" b="1" i="0">
                <a:solidFill>
                  <a:srgbClr val="20242A"/>
                </a:solidFill>
              </a:rPr>
              <a:t>Pilot-in-a-Box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060DAE-A294-45D9-9BCA-1F59A327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7432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4A5563"/>
                </a:solidFill>
              </a:defRPr>
            </a:pPr>
            <a:r>
              <a:rPr sz="1238" b="0" i="0">
                <a:solidFill>
                  <a:srgbClr val="4A5563"/>
                </a:solidFill>
              </a:rPr>
              <a:t>1〜2 GPUから始める評価基盤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C057D6-9A7E-49F2-BD89-EAECF2AF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07657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4A5563"/>
                </a:solidFill>
              </a:defRPr>
            </a:pPr>
            <a:r>
              <a:rPr sz="1238" b="0" i="0">
                <a:solidFill>
                  <a:srgbClr val="4A5563"/>
                </a:solidFill>
              </a:rPr>
              <a:t>重み更新なしで回るregression評価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36C4B7-CDA3-4CD3-87AD-131B70E6A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4099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4A5563"/>
                </a:solidFill>
              </a:defRPr>
            </a:pPr>
            <a:r>
              <a:rPr sz="1238" b="0" i="0">
                <a:solidFill>
                  <a:srgbClr val="4A5563"/>
                </a:solidFill>
              </a:rPr>
              <a:t>RLAIFフィードバック生成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AE63EB-EF0D-4FE7-A53F-C84A5D954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74332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4A5563"/>
                </a:solidFill>
              </a:defRPr>
            </a:pPr>
            <a:r>
              <a:rPr sz="1238" b="0" i="0">
                <a:solidFill>
                  <a:srgbClr val="4A5563"/>
                </a:solidFill>
              </a:rPr>
              <a:t>現場ログから学習候補を蓄積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5F53FF-C346-4630-8D69-B863119F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14550"/>
            <a:ext cx="3143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28AA86-0C23-42CC-89E6-EC64CB1E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1455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6C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76A1BF-6695-4E67-9E62-FB2ED95BE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241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42A"/>
                </a:solidFill>
              </a:defRPr>
            </a:pPr>
            <a:r>
              <a:rPr sz="1575" b="1" i="0">
                <a:solidFill>
                  <a:srgbClr val="20242A"/>
                </a:solidFill>
              </a:rPr>
              <a:t>Sovereign Runtime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286C09-DCDB-4E6F-8105-5C9AAE421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432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4A5563"/>
                </a:solidFill>
              </a:defRPr>
            </a:pPr>
            <a:r>
              <a:rPr sz="1238" b="0" i="0">
                <a:solidFill>
                  <a:srgbClr val="4A5563"/>
                </a:solidFill>
              </a:rPr>
              <a:t>policy / release / provenance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C84825-AE2F-4A64-931F-FB740147A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7657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4A5563"/>
                </a:solidFill>
              </a:defRPr>
            </a:pPr>
            <a:r>
              <a:rPr sz="1238" b="0" i="0">
                <a:solidFill>
                  <a:srgbClr val="4A5563"/>
                </a:solidFill>
              </a:rPr>
              <a:t>署名、canary、監視、rollback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7E2F1D-46E3-4450-BF8E-9ADA90DA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099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4A5563"/>
                </a:solidFill>
              </a:defRPr>
            </a:pPr>
            <a:r>
              <a:rPr sz="1238" b="0" i="0">
                <a:solidFill>
                  <a:srgbClr val="4A5563"/>
                </a:solidFill>
              </a:rPr>
              <a:t>管理planeとdata planeを分離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F02C76-5BCF-4134-ADAB-264C94A8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4332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4A5563"/>
                </a:solidFill>
              </a:defRPr>
            </a:pPr>
            <a:r>
              <a:rPr sz="1238" b="0" i="0">
                <a:solidFill>
                  <a:srgbClr val="4A5563"/>
                </a:solidFill>
              </a:rPr>
              <a:t>Layer 2テレメトリを契約で集約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CF12E7-7E49-4CEE-8A91-DE6CF417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11125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87D0B1-1CD2-423E-94D7-014B1616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29325"/>
            <a:ext cx="1074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1" i="0">
                <a:solidFill>
                  <a:srgbClr val="FFFFFF"/>
                </a:solidFill>
              </a:defRPr>
            </a:pPr>
            <a:r>
              <a:rPr sz="1238" b="1" i="0">
                <a:solidFill>
                  <a:srgbClr val="FFFFFF"/>
                </a:solidFill>
              </a:rPr>
              <a:t>最初の売り物は「完成済み国産LLM」ではなく、現場導入・評価・統治を短期間で始める実装パッケージである。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1D0D3B-9611-4722-9E62-C8CEE62D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77808C"/>
                </a:solidFill>
              </a:defRPr>
            </a:pPr>
            <a:r>
              <a:rPr sz="788" b="0" i="0">
                <a:solidFill>
                  <a:srgbClr val="77808C"/>
                </a:solidFill>
              </a:rPr>
              <a:t>Source: Provided KairosAI strategy docs, 2026-07-01</a:t>
            </a:r>
          </a:p>
        </p:txBody>
      </p:sp>
    </p:spTree>
    <p:extLst>
      <p:ext uri="{BB962C8B-B14F-4D97-AF65-F5344CB8AC3E}">
        <p14:creationId xmlns:p14="http://schemas.microsoft.com/office/powerpoint/2010/main" val="1326044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9958F2-3E9B-46B4-BCB8-DC0BA2CB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B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74D4CB-E481-428B-8161-0439767BB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"/>
            <a:ext cx="9620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0242A"/>
                </a:solidFill>
              </a:defRPr>
            </a:pPr>
            <a:r>
              <a:rPr sz="2550" b="1" i="0">
                <a:solidFill>
                  <a:srgbClr val="20242A"/>
                </a:solidFill>
              </a:rPr>
              <a:t>データは顧客に残し、KairosAIはデータの形を蓄積する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A46511-EF12-46EF-AE08-A6153DA4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001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A5563"/>
                </a:solidFill>
              </a:defRPr>
            </a:pPr>
            <a:r>
              <a:rPr sz="1350" b="0" i="0">
                <a:solidFill>
                  <a:srgbClr val="4A5563"/>
                </a:solidFill>
              </a:rPr>
              <a:t>二層資産モデルにより、データ主権の約束とKairosAI自身の学習・HW要件蓄積を両立させる。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6BCD2B-65E3-4A91-AB28-53ECF9A7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22E4B7-0173-47C2-9DDD-2D8B27B4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77808C"/>
                </a:solidFill>
              </a:defRPr>
            </a:pPr>
            <a:r>
              <a:rPr sz="788" b="0" i="0">
                <a:solidFill>
                  <a:srgbClr val="77808C"/>
                </a:solidFill>
              </a:rPr>
              <a:t>KairosAI Pitch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0BADC5-70C1-4CD3-9403-2456C5C6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62725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 i="0">
                <a:solidFill>
                  <a:srgbClr val="77808C"/>
                </a:solidFill>
              </a:defRPr>
            </a:pPr>
            <a:r>
              <a:rPr sz="788" b="0" i="0">
                <a:solidFill>
                  <a:srgbClr val="77808C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6C86E7-2297-4B32-8813-590465676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B6C7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C9AB3A-3AC2-478C-A86C-79C26CA07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72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7B6C79"/>
                </a:solidFill>
              </a:defRPr>
            </a:pPr>
            <a:r>
              <a:rPr sz="788" b="1" i="0">
                <a:solidFill>
                  <a:srgbClr val="7B6C79"/>
                </a:solidFill>
              </a:rPr>
              <a:t>MOAT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9B466E-D46E-4EB9-AEA9-47774E85E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47625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D67D73-C16A-4F00-AAFA-CFCC02A54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4762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385344-FCB7-488F-8CAB-EFA79B32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050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42A"/>
                </a:solidFill>
              </a:defRPr>
            </a:pPr>
            <a:r>
              <a:rPr sz="1575" b="1" i="0">
                <a:solidFill>
                  <a:srgbClr val="20242A"/>
                </a:solidFill>
              </a:rPr>
              <a:t>Layer 1: 顧客資産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585A8F-6F3E-45C7-8C9C-EE75A9704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241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4A5563"/>
                </a:solidFill>
              </a:defRPr>
            </a:pPr>
            <a:r>
              <a:rPr sz="1238" b="0" i="0">
                <a:solidFill>
                  <a:srgbClr val="4A5563"/>
                </a:solidFill>
              </a:rPr>
              <a:t>生データ、Canonical Event、Committed Graph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09DDE4-5373-491F-9E94-45DD85813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5752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4A5563"/>
                </a:solidFill>
              </a:defRPr>
            </a:pPr>
            <a:r>
              <a:rPr sz="1238" b="0" i="0">
                <a:solidFill>
                  <a:srgbClr val="4A5563"/>
                </a:solidFill>
              </a:rPr>
              <a:t>顧客固有LoRA / adapter、golden set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0B9B89-2D00-4E2B-B4F9-B43B31167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909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4A5563"/>
                </a:solidFill>
              </a:defRPr>
            </a:pPr>
            <a:r>
              <a:rPr sz="1238" b="0" i="0">
                <a:solidFill>
                  <a:srgbClr val="4A5563"/>
                </a:solidFill>
              </a:rPr>
              <a:t>業務outcome記録、分類情報、非公開手順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B2AAF6-CDD7-40D4-BB73-11A7FB22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2427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4A5563"/>
                </a:solidFill>
              </a:defRPr>
            </a:pPr>
            <a:r>
              <a:rPr sz="1238" b="0" i="0">
                <a:solidFill>
                  <a:srgbClr val="4A5563"/>
                </a:solidFill>
              </a:rPr>
              <a:t>契約解除時も顧客境界内に残る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BB60FA-0804-4A7C-9A09-C7A66F3C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95500"/>
            <a:ext cx="47625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EF06D7-2CAA-4791-8136-63AB005E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95500"/>
            <a:ext cx="4762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B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13D85D-9A70-4890-96B0-046309D4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3050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42A"/>
                </a:solidFill>
              </a:defRPr>
            </a:pPr>
            <a:r>
              <a:rPr sz="1575" b="1" i="0">
                <a:solidFill>
                  <a:srgbClr val="20242A"/>
                </a:solidFill>
              </a:rPr>
              <a:t>Layer 2: KairosAI資産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963FF4-D030-4BCF-AA52-229E005AC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241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4A5563"/>
                </a:solidFill>
              </a:defRPr>
            </a:pPr>
            <a:r>
              <a:rPr sz="1238" b="0" i="0">
                <a:solidFill>
                  <a:srgbClr val="4A5563"/>
                </a:solidFill>
              </a:rPr>
              <a:t>ハーネステンプレート、評価レシピ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B34C55-5EB0-45AA-B4AD-1B6FE4B4E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5752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4A5563"/>
                </a:solidFill>
              </a:defRPr>
            </a:pPr>
            <a:r>
              <a:rPr sz="1238" b="0" i="0">
                <a:solidFill>
                  <a:srgbClr val="4A5563"/>
                </a:solidFill>
              </a:rPr>
              <a:t>Packスキーマ改善、失敗分類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0D46A7-10C3-4B8D-A2A2-69394092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3909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4A5563"/>
                </a:solidFill>
              </a:defRPr>
            </a:pPr>
            <a:r>
              <a:rPr sz="1238" b="0" i="0">
                <a:solidFill>
                  <a:srgbClr val="4A5563"/>
                </a:solidFill>
              </a:rPr>
              <a:t>匿名化実行テレメトリ、電力・遅延・コスト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7EEE53-4D95-4C3F-A783-8E568F105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72427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4A5563"/>
                </a:solidFill>
              </a:defRPr>
            </a:pPr>
            <a:r>
              <a:rPr sz="1238" b="0" i="0">
                <a:solidFill>
                  <a:srgbClr val="4A5563"/>
                </a:solidFill>
              </a:rPr>
              <a:t>②のモデル要件、③のHW要件へ還流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E8ED89-E384-46F4-BA3E-3ECF998B4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143500"/>
            <a:ext cx="819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0242A"/>
                </a:solidFill>
              </a:defRPr>
            </a:pPr>
            <a:r>
              <a:rPr sz="1500" b="1" i="0">
                <a:solidFill>
                  <a:srgbClr val="20242A"/>
                </a:solidFill>
              </a:rPr>
              <a:t>顧客の信頼を崩さず、複数導入でKairosAI側の学習曲線が立ち上がる。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6C3F06-8A38-4EE8-B5F2-5DDF2B776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11125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F784B5-1E64-434F-885A-9E350FCFE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29325"/>
            <a:ext cx="1074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1" i="0">
                <a:solidFill>
                  <a:srgbClr val="FFFFFF"/>
                </a:solidFill>
              </a:defRPr>
            </a:pPr>
            <a:r>
              <a:rPr sz="1238" b="1" i="0">
                <a:solidFill>
                  <a:srgbClr val="FFFFFF"/>
                </a:solidFill>
              </a:rPr>
              <a:t>契約論点: Layer 2の項目を別紙で明示し、opt-out可能性と価格条件を今後決める。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D71385-2D99-4A48-BA8B-DBF4630D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77808C"/>
                </a:solidFill>
              </a:defRPr>
            </a:pPr>
            <a:r>
              <a:rPr sz="788" b="0" i="0">
                <a:solidFill>
                  <a:srgbClr val="77808C"/>
                </a:solidFill>
              </a:rPr>
              <a:t>Source: Provided KairosAI strategy docs, 2026-07-01</a:t>
            </a:r>
          </a:p>
        </p:txBody>
      </p:sp>
    </p:spTree>
    <p:extLst>
      <p:ext uri="{BB962C8B-B14F-4D97-AF65-F5344CB8AC3E}">
        <p14:creationId xmlns:p14="http://schemas.microsoft.com/office/powerpoint/2010/main" val="10020413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DC9E4C-7B2E-4492-9C14-5563335C0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B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5FEA91-0B49-48DF-B17E-5E84A4C08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"/>
            <a:ext cx="9620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20242A"/>
                </a:solidFill>
              </a:defRPr>
            </a:pPr>
            <a:r>
              <a:rPr sz="2325" b="1" i="0">
                <a:solidFill>
                  <a:srgbClr val="20242A"/>
                </a:solidFill>
              </a:rPr>
              <a:t>現場実装の運用排気が共有コアを育て、共有コアが導入条件を下げる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AFF76E-AA6C-4A2C-846B-45A13F251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001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A5563"/>
                </a:solidFill>
              </a:defRPr>
            </a:pPr>
            <a:r>
              <a:rPr sz="1350" b="0" i="0">
                <a:solidFill>
                  <a:srgbClr val="4A5563"/>
                </a:solidFill>
              </a:rPr>
              <a:t>KairosAIの競争優位は、データを集めることではなく、権利判定から評価・配備・rollbackまでを閉じた更新ループに変えることにある。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9BFD97-AAFA-4502-983A-AD046CF06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48E815-FBB0-4B84-9E39-D77BEFB6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77808C"/>
                </a:solidFill>
              </a:defRPr>
            </a:pPr>
            <a:r>
              <a:rPr sz="788" b="0" i="0">
                <a:solidFill>
                  <a:srgbClr val="77808C"/>
                </a:solidFill>
              </a:rPr>
              <a:t>KairosAI Pitch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82CE1F-D40D-4EFB-9635-080D0E642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62725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 i="0">
                <a:solidFill>
                  <a:srgbClr val="77808C"/>
                </a:solidFill>
              </a:defRPr>
            </a:pPr>
            <a:r>
              <a:rPr sz="788" b="0" i="0">
                <a:solidFill>
                  <a:srgbClr val="77808C"/>
                </a:solidFill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1BB349-1970-4489-AF95-6B62F872E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5B1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ECB86E-0123-4030-8665-473C3CA42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72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E45B1B"/>
                </a:solidFill>
              </a:defRPr>
            </a:pPr>
            <a:r>
              <a:rPr sz="788" b="1" i="0">
                <a:solidFill>
                  <a:srgbClr val="E45B1B"/>
                </a:solidFill>
              </a:rPr>
              <a:t>LOOP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2929BE-0C01-4B29-8B46-015523BE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171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822C32-BC5B-4243-9FEA-FE789746A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E45B1B"/>
                </a:solidFill>
              </a:defRPr>
            </a:pPr>
            <a:r>
              <a:rPr sz="1800" b="1" i="0">
                <a:solidFill>
                  <a:srgbClr val="E45B1B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8FEE98-2C93-4A35-9AAC-CB67C5105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9557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20242A"/>
                </a:solidFill>
              </a:defRPr>
            </a:pPr>
            <a:r>
              <a:rPr sz="1425" b="1" i="0">
                <a:solidFill>
                  <a:srgbClr val="20242A"/>
                </a:solidFill>
              </a:rPr>
              <a:t>現場導入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F43C25-CA4A-4F5E-AA5D-B2655651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86100"/>
            <a:ext cx="1371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4A5563"/>
                </a:solidFill>
              </a:defRPr>
            </a:pPr>
            <a:r>
              <a:rPr sz="1163" b="0" i="0">
                <a:solidFill>
                  <a:srgbClr val="4A5563"/>
                </a:solidFill>
              </a:rPr>
              <a:t>業務イベント、判断ログ、実行結果を捕捉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A50708-A43A-4E4E-BEC7-6AD0B63ED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209925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B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5F746B-66A2-4719-BD67-2DF02505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838450"/>
            <a:ext cx="171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D56E62-0A95-45B2-AC9F-3807590F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0099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E45B1B"/>
                </a:solidFill>
              </a:defRPr>
            </a:pPr>
            <a:r>
              <a:rPr sz="1800" b="1" i="0">
                <a:solidFill>
                  <a:srgbClr val="E45B1B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27B75C-7009-4B2D-85C0-27B5BD2CC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03847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20242A"/>
                </a:solidFill>
              </a:defRPr>
            </a:pPr>
            <a:r>
              <a:rPr sz="1425" b="1" i="0">
                <a:solidFill>
                  <a:srgbClr val="20242A"/>
                </a:solidFill>
              </a:rPr>
              <a:t>権利判定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5DA403-0AD7-4050-99C9-5F6DE0EA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429000"/>
            <a:ext cx="1371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4A5563"/>
                </a:solidFill>
              </a:defRPr>
            </a:pPr>
            <a:r>
              <a:rPr sz="1163" b="0" i="0">
                <a:solidFill>
                  <a:srgbClr val="4A5563"/>
                </a:solidFill>
              </a:rPr>
              <a:t>原本を境界内に残し、利用条件をregistry化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8A9981-9AE3-44E3-9A0C-281981345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552825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B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359FE7-7F8C-44D9-8E76-77DD752E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495550"/>
            <a:ext cx="171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AECEEF-65EB-47AE-AD11-37ACC965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670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E45B1B"/>
                </a:solidFill>
              </a:defRPr>
            </a:pPr>
            <a:r>
              <a:rPr sz="1800" b="1" i="0">
                <a:solidFill>
                  <a:srgbClr val="E45B1B"/>
                </a:solidFill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0C6F76-A3CA-42E0-83AB-31E97A32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69557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20242A"/>
                </a:solidFill>
              </a:defRPr>
            </a:pPr>
            <a:r>
              <a:rPr sz="1425" b="1" i="0">
                <a:solidFill>
                  <a:srgbClr val="20242A"/>
                </a:solidFill>
              </a:rPr>
              <a:t>知識配置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FD7FBD-FF42-4665-A763-E16801DBF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86100"/>
            <a:ext cx="1371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4A5563"/>
                </a:solidFill>
              </a:defRPr>
            </a:pPr>
            <a:r>
              <a:rPr sz="1163" b="0" i="0">
                <a:solidFill>
                  <a:srgbClr val="4A5563"/>
                </a:solidFill>
              </a:rPr>
              <a:t>RAG / KG / adapter / 領域専門家 / 共有コアへ振り分け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D6553E-521C-495B-950F-3A9DEF82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209925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B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7D2486-9F5A-4210-B69E-677E6E2C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838450"/>
            <a:ext cx="171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DED763-D017-4F18-AE5B-91430F59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0099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E45B1B"/>
                </a:solidFill>
              </a:defRPr>
            </a:pPr>
            <a:r>
              <a:rPr sz="1800" b="1" i="0">
                <a:solidFill>
                  <a:srgbClr val="E45B1B"/>
                </a:solidFill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1D107A-C287-4684-BDA3-38641C8B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03847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20242A"/>
                </a:solidFill>
              </a:defRPr>
            </a:pPr>
            <a:r>
              <a:rPr sz="1425" b="1" i="0">
                <a:solidFill>
                  <a:srgbClr val="20242A"/>
                </a:solidFill>
              </a:rPr>
              <a:t>評価ゲート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C4B7E2-00AA-48E4-8544-E26E0207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29000"/>
            <a:ext cx="1371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4A5563"/>
                </a:solidFill>
              </a:defRPr>
            </a:pPr>
            <a:r>
              <a:rPr sz="1163" b="0" i="0">
                <a:solidFill>
                  <a:srgbClr val="4A5563"/>
                </a:solidFill>
              </a:rPr>
              <a:t>業務outcome、privacy、安全性、jouleを評価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143FDE-6D24-4A22-B96F-F33AE8AD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552825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B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96DA29-2E1E-4C77-AF1D-61555A87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95550"/>
            <a:ext cx="171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69A9BC-1559-439D-A6F1-01369299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670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E45B1B"/>
                </a:solidFill>
              </a:defRPr>
            </a:pPr>
            <a:r>
              <a:rPr sz="1800" b="1" i="0">
                <a:solidFill>
                  <a:srgbClr val="E45B1B"/>
                </a:solidFill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C095F2-FEE8-44AC-9362-FA5F68C6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69557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20242A"/>
                </a:solidFill>
              </a:defRPr>
            </a:pPr>
            <a:r>
              <a:rPr sz="1425" b="1" i="0">
                <a:solidFill>
                  <a:srgbClr val="20242A"/>
                </a:solidFill>
              </a:rPr>
              <a:t>署名・配備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2C9E71-095D-4D9E-9C5B-37943B1E4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86100"/>
            <a:ext cx="1371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4A5563"/>
                </a:solidFill>
              </a:defRPr>
            </a:pPr>
            <a:r>
              <a:rPr sz="1163" b="0" i="0">
                <a:solidFill>
                  <a:srgbClr val="4A5563"/>
                </a:solidFill>
              </a:rPr>
              <a:t>canary、監視、rollbackを同じrelease packageで管理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355123-3894-4119-82AC-61DB95FA2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86300"/>
            <a:ext cx="800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B2D2083-BD68-4670-9A08-89062F75C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57750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20242A"/>
                </a:solidFill>
              </a:defRPr>
            </a:pPr>
            <a:r>
              <a:rPr sz="1350" b="1" i="0">
                <a:solidFill>
                  <a:srgbClr val="20242A"/>
                </a:solidFill>
              </a:rPr>
              <a:t>現場へ再配備し、次の実行結果を得る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05338AA-7FC1-4E80-84DE-35787B0D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11125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0C8403-DDEC-45AA-B2BB-C9EDA179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29325"/>
            <a:ext cx="1074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1" i="0">
                <a:solidFill>
                  <a:srgbClr val="FFFFFF"/>
                </a:solidFill>
              </a:defRPr>
            </a:pPr>
            <a:r>
              <a:rPr sz="1238" b="1" i="0">
                <a:solidFill>
                  <a:srgbClr val="FFFFFF"/>
                </a:solidFill>
              </a:rPr>
              <a:t>このループが回るほど、単体のSIや外資API利用では得にくい評価資産と運用知識が蓄積する。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D33C30B-466E-49C6-BCAB-4FA1E0BE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77808C"/>
                </a:solidFill>
              </a:defRPr>
            </a:pPr>
            <a:r>
              <a:rPr sz="788" b="0" i="0">
                <a:solidFill>
                  <a:srgbClr val="77808C"/>
                </a:solidFill>
              </a:rPr>
              <a:t>Source: Provided KairosAI strategy docs, 2026-07-01</a:t>
            </a:r>
          </a:p>
        </p:txBody>
      </p:sp>
    </p:spTree>
    <p:extLst>
      <p:ext uri="{BB962C8B-B14F-4D97-AF65-F5344CB8AC3E}">
        <p14:creationId xmlns:p14="http://schemas.microsoft.com/office/powerpoint/2010/main" val="133371645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27BA68-BD5E-4C3A-B3E2-20FECE8C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B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790196-74FD-4E05-B44D-734089A8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"/>
            <a:ext cx="9620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20242A"/>
                </a:solidFill>
              </a:defRPr>
            </a:pPr>
            <a:r>
              <a:rPr sz="2250" b="1" i="0">
                <a:solidFill>
                  <a:srgbClr val="20242A"/>
                </a:solidFill>
              </a:rPr>
              <a:t>共有コア・領域専門家・拠点ローカル層を分けることで、性能と監査可能性を両立する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151100-14C0-4F5B-A985-5DD2B859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001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A5563"/>
                </a:solidFill>
              </a:defRPr>
            </a:pPr>
            <a:r>
              <a:rPr sz="1350" b="0" i="0">
                <a:solidFill>
                  <a:srgbClr val="4A5563"/>
                </a:solidFill>
              </a:rPr>
              <a:t>すべてを一つの重みに混ぜない。更新頻度、機微度、責任境界に応じて知識の置き場所を選ぶ。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E19B69-15F1-4E99-8125-2BAB03EF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DB5FC4-4715-475E-904D-D23F6FD2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77808C"/>
                </a:solidFill>
              </a:defRPr>
            </a:pPr>
            <a:r>
              <a:rPr sz="788" b="0" i="0">
                <a:solidFill>
                  <a:srgbClr val="77808C"/>
                </a:solidFill>
              </a:rPr>
              <a:t>KairosAI Pitch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8A06BB-0B43-4499-A613-B4346C005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62725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 i="0">
                <a:solidFill>
                  <a:srgbClr val="77808C"/>
                </a:solidFill>
              </a:defRPr>
            </a:pPr>
            <a:r>
              <a:rPr sz="788" b="0" i="0">
                <a:solidFill>
                  <a:srgbClr val="77808C"/>
                </a:solidFill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6AB5AD-29E4-4DE0-A2C7-A28446271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7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0E49C2-AF29-41F0-A7B3-7A3547E0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72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315F7D"/>
                </a:solidFill>
              </a:defRPr>
            </a:pPr>
            <a:r>
              <a:rPr sz="788" b="1" i="0">
                <a:solidFill>
                  <a:srgbClr val="315F7D"/>
                </a:solidFill>
              </a:rPr>
              <a:t>ARCH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9DD714-C9CB-487E-9897-ED17EF4D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457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759DB5-C2CA-443E-9A90-7AD0384C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6C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A587B1-AAA9-4330-B2FE-1B80F414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193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20242A"/>
                </a:solidFill>
              </a:defRPr>
            </a:pPr>
            <a:r>
              <a:rPr sz="1425" b="1" i="0">
                <a:solidFill>
                  <a:srgbClr val="20242A"/>
                </a:solidFill>
              </a:rPr>
              <a:t>評価・統治層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CD26FF-0AD1-458D-B064-4B5CE7279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3837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 i="0">
                <a:solidFill>
                  <a:srgbClr val="4A5563"/>
                </a:solidFill>
              </a:defRPr>
            </a:pPr>
            <a:r>
              <a:rPr sz="1088" b="0" i="0">
                <a:solidFill>
                  <a:srgbClr val="4A5563"/>
                </a:solidFill>
              </a:rPr>
              <a:t>評価ハーネス、権利条件、承認ゲート、監査、rollback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FB755D-AF83-481E-84DC-AEB9B95DE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81300"/>
            <a:ext cx="457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A4D151-ED3B-4860-BD5F-61E73773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813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AE19F2-6E67-4993-A6A7-B5299B24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051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20242A"/>
                </a:solidFill>
              </a:defRPr>
            </a:pPr>
            <a:r>
              <a:rPr sz="1425" b="1" i="0">
                <a:solidFill>
                  <a:srgbClr val="20242A"/>
                </a:solidFill>
              </a:rPr>
              <a:t>外部記憶・状態層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8782BC-D726-4C78-8986-DCE1AC30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2417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 i="0">
                <a:solidFill>
                  <a:srgbClr val="4A5563"/>
                </a:solidFill>
              </a:defRPr>
            </a:pPr>
            <a:r>
              <a:rPr sz="1088" b="0" i="0">
                <a:solidFill>
                  <a:srgbClr val="4A5563"/>
                </a:solidFill>
              </a:rPr>
              <a:t>RAG、KG、state registry、API、最新状態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517715-C9A0-46F1-8444-911AD97F9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67100"/>
            <a:ext cx="457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D10657-59BE-445C-AC69-966D71A79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671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7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EBF9C1-1414-4411-893A-73769D57C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909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20242A"/>
                </a:solidFill>
              </a:defRPr>
            </a:pPr>
            <a:r>
              <a:rPr sz="1425" b="1" i="0">
                <a:solidFill>
                  <a:srgbClr val="20242A"/>
                </a:solidFill>
              </a:rPr>
              <a:t>拠点ローカル層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C83F2F-49C5-4328-985B-A8BEAB19B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0997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 i="0">
                <a:solidFill>
                  <a:srgbClr val="4A5563"/>
                </a:solidFill>
              </a:defRPr>
            </a:pPr>
            <a:r>
              <a:rPr sz="1088" b="0" i="0">
                <a:solidFill>
                  <a:srgbClr val="4A5563"/>
                </a:solidFill>
              </a:rPr>
              <a:t>企業固有手順、分類情報、顧客固有adapter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E7D749-028C-42FD-9AC7-6CD5F0DB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52900"/>
            <a:ext cx="457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6FD6EE-10D0-4724-A5CD-7ECA5555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529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BD8752-1433-4C56-BE57-925AD0879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767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20242A"/>
                </a:solidFill>
              </a:defRPr>
            </a:pPr>
            <a:r>
              <a:rPr sz="1425" b="1" i="0">
                <a:solidFill>
                  <a:srgbClr val="20242A"/>
                </a:solidFill>
              </a:rPr>
              <a:t>領域専門家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B277B8-18B6-444F-BDC4-503E8538F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9577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 i="0">
                <a:solidFill>
                  <a:srgbClr val="4A5563"/>
                </a:solidFill>
              </a:defRPr>
            </a:pPr>
            <a:r>
              <a:rPr sz="1088" b="0" i="0">
                <a:solidFill>
                  <a:srgbClr val="4A5563"/>
                </a:solidFill>
              </a:rPr>
              <a:t>金融、製造、宇宙、防衛などの専門判断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9046B7-174E-45BE-B6FC-550D895E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38700"/>
            <a:ext cx="457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A"/>
          </a:solidFill>
          <a:ln xmlns:a="http://schemas.openxmlformats.org/drawingml/2006/main" w="9525">
            <a:solidFill>
              <a:srgbClr val="D9D4C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3E4F97-63EC-4DD4-A93B-7E5165126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387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B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F8D65D-837B-4955-842C-E1EE6982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625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共有コア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679E9E-0577-4D89-803B-F8C8611A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98157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 i="0">
                <a:solidFill>
                  <a:srgbClr val="FFFFFF"/>
                </a:solidFill>
              </a:defRPr>
            </a:pPr>
            <a:r>
              <a:rPr sz="1088" b="0" i="0">
                <a:solidFill>
                  <a:srgbClr val="FFFFFF"/>
                </a:solidFill>
              </a:rPr>
              <a:t>日本語、制度理解、横断推論、Tool Use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346425-4226-4379-A099-BF2AE8617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52650"/>
            <a:ext cx="4000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CAFDB4-1F6D-4E77-9D19-A97C5D03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52650"/>
            <a:ext cx="4000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B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C92C2F-77DD-4193-906B-C4C950DE4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622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42A"/>
                </a:solidFill>
              </a:defRPr>
            </a:pPr>
            <a:r>
              <a:rPr sz="1575" b="1" i="0">
                <a:solidFill>
                  <a:srgbClr val="20242A"/>
                </a:solidFill>
              </a:rPr>
              <a:t>設計原則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599A45-EB7E-4EC5-8E96-26ACF432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813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4A5563"/>
                </a:solidFill>
              </a:defRPr>
            </a:pPr>
            <a:r>
              <a:rPr sz="1238" b="0" i="0">
                <a:solidFill>
                  <a:srgbClr val="4A5563"/>
                </a:solidFill>
              </a:rPr>
              <a:t>重みに入れる知識を最小化する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3D4817-3DD7-4A3E-AA07-0BFC249DA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146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4A5563"/>
                </a:solidFill>
              </a:defRPr>
            </a:pPr>
            <a:r>
              <a:rPr sz="1238" b="0" i="0">
                <a:solidFill>
                  <a:srgbClr val="4A5563"/>
                </a:solidFill>
              </a:rPr>
              <a:t>最新状態はregistry / RAGへ置く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062BAF-26EE-494A-9E8C-771AEEE38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480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4A5563"/>
                </a:solidFill>
              </a:defRPr>
            </a:pPr>
            <a:r>
              <a:rPr sz="1238" b="0" i="0">
                <a:solidFill>
                  <a:srgbClr val="4A5563"/>
                </a:solidFill>
              </a:rPr>
              <a:t>機微情報は境界内で学習する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42B6DC-9B3C-4EB5-BA6C-7263E43B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00500"/>
            <a:ext cx="4000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02F08F4-8DC4-40D6-92D4-5526D3E67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00500"/>
            <a:ext cx="4000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7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3AFA41B-3AF0-4F05-BD4C-D1C6B736E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100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42A"/>
                </a:solidFill>
              </a:defRPr>
            </a:pPr>
            <a:r>
              <a:rPr sz="1575" b="1" i="0">
                <a:solidFill>
                  <a:srgbClr val="20242A"/>
                </a:solidFill>
              </a:rPr>
              <a:t>到達状態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2558A31-448B-4A5B-9274-45305B0A5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291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4A5563"/>
                </a:solidFill>
              </a:defRPr>
            </a:pPr>
            <a:r>
              <a:rPr sz="1238" b="0" i="0">
                <a:solidFill>
                  <a:srgbClr val="4A5563"/>
                </a:solidFill>
              </a:rPr>
              <a:t>共有できる能力だけを共有コアへ昇華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C5A0AAF-E03D-4306-B678-55571888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6252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4A5563"/>
                </a:solidFill>
              </a:defRPr>
            </a:pPr>
            <a:r>
              <a:rPr sz="1238" b="0" i="0">
                <a:solidFill>
                  <a:srgbClr val="4A5563"/>
                </a:solidFill>
              </a:rPr>
              <a:t>問題時はmodel versionと寄与データを追跡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86B8FC0-F70D-46DB-851F-806BD172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11125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E0B4B00-480C-4132-B562-05FD9B28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29325"/>
            <a:ext cx="1074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1" i="0">
                <a:solidFill>
                  <a:srgbClr val="FFFFFF"/>
                </a:solidFill>
              </a:defRPr>
            </a:pPr>
            <a:r>
              <a:rPr sz="1238" b="1" i="0">
                <a:solidFill>
                  <a:srgbClr val="FFFFFF"/>
                </a:solidFill>
              </a:rPr>
              <a:t>主権とは、知識をどこへ置き、いつ更新し、どこまで戻せるかを国内で選べることである。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52604CA-6461-4465-B2B7-F01F987E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77808C"/>
                </a:solidFill>
              </a:defRPr>
            </a:pPr>
            <a:r>
              <a:rPr sz="788" b="0" i="0">
                <a:solidFill>
                  <a:srgbClr val="77808C"/>
                </a:solidFill>
              </a:rPr>
              <a:t>Source: Provided KairosAI strategy docs, 2026-07-01</a:t>
            </a:r>
          </a:p>
        </p:txBody>
      </p:sp>
    </p:spTree>
    <p:extLst>
      <p:ext uri="{BB962C8B-B14F-4D97-AF65-F5344CB8AC3E}">
        <p14:creationId xmlns:p14="http://schemas.microsoft.com/office/powerpoint/2010/main" val="21455879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52CCEE-9787-4275-95D4-A255E2A5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B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5A0DB3-B912-4396-ADD9-DADC151B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"/>
            <a:ext cx="9620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20242A"/>
                </a:solidFill>
              </a:defRPr>
            </a:pPr>
            <a:r>
              <a:rPr sz="2250" b="1" i="0">
                <a:solidFill>
                  <a:srgbClr val="20242A"/>
                </a:solidFill>
              </a:rPr>
              <a:t>計算基盤はGPUで始め、専用HWはテレメトリで正当化された時だけ進む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7DE748-5919-4768-8578-3CEB8A8C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001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A5563"/>
                </a:solidFill>
              </a:defRPr>
            </a:pPr>
            <a:r>
              <a:rPr sz="1350" b="0" i="0">
                <a:solidFill>
                  <a:srgbClr val="4A5563"/>
                </a:solidFill>
              </a:rPr>
              <a:t>初期の目的は大規模事前学習ではなく、推論・軽量学習・評価・署名・rollbackを共通スタックで回せる利用者基盤を作ることにある。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84896E-9905-4391-AFFA-BCDAAAEA5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DEA234-E269-4B93-B560-BC8EACEC2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77808C"/>
                </a:solidFill>
              </a:defRPr>
            </a:pPr>
            <a:r>
              <a:rPr sz="788" b="0" i="0">
                <a:solidFill>
                  <a:srgbClr val="77808C"/>
                </a:solidFill>
              </a:rPr>
              <a:t>KairosAI Pitch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26E328-91E8-4821-9D31-87FD0736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62725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 i="0">
                <a:solidFill>
                  <a:srgbClr val="77808C"/>
                </a:solidFill>
              </a:defRPr>
            </a:pPr>
            <a:r>
              <a:rPr sz="788" b="0" i="0">
                <a:solidFill>
                  <a:srgbClr val="77808C"/>
                </a:solidFill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A26C78-1B50-47BE-8580-F1C21A1A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37A6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B06344-1E83-4D25-8B3D-38FB494EB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72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637A68"/>
                </a:solidFill>
              </a:defRPr>
            </a:pPr>
            <a:r>
              <a:rPr sz="788" b="1" i="0">
                <a:solidFill>
                  <a:srgbClr val="637A68"/>
                </a:solidFill>
              </a:rPr>
              <a:t>COMPUTE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6E70A2-AED8-4FDD-8FB1-03EB807D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33625"/>
            <a:ext cx="2857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66C267-6160-4444-90DB-0B6872849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33625"/>
            <a:ext cx="2857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99229E-CDE3-47F3-8875-02BF5194D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717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0242A"/>
                </a:solidFill>
              </a:defRPr>
            </a:pPr>
            <a:r>
              <a:rPr sz="1500" b="1" i="0">
                <a:solidFill>
                  <a:srgbClr val="20242A"/>
                </a:solidFill>
              </a:rPr>
              <a:t>GPU common stack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5E294C-D16D-4411-9B06-EAC1022D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8132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4A5563"/>
                </a:solidFill>
              </a:defRPr>
            </a:pPr>
            <a:r>
              <a:rPr sz="1200" b="0" i="0">
                <a:solidFill>
                  <a:srgbClr val="4A5563"/>
                </a:solidFill>
              </a:rPr>
              <a:t>PyTorch / ONNX / MLIR / Triton / LLVM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E5677E-ABE6-44C9-ACAC-0C8DF3E41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623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77808C"/>
                </a:solidFill>
              </a:defRPr>
            </a:pPr>
            <a:r>
              <a:rPr sz="1163" b="0" i="0">
                <a:solidFill>
                  <a:srgbClr val="77808C"/>
                </a:solidFill>
              </a:rPr>
              <a:t>既存エコシステムで利用者基盤を作る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57A75C-2407-4F83-B770-EABC4D32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048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E45B1B"/>
                </a:solidFill>
              </a:defRPr>
            </a:pPr>
            <a:r>
              <a:rPr sz="1950" b="1" i="0">
                <a:solidFill>
                  <a:srgbClr val="E45B1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F25DA8-D3C0-48F4-8B04-BF5C81443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33625"/>
            <a:ext cx="2857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59AFD9-EDCE-4D60-BA9A-C5498D64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33625"/>
            <a:ext cx="2857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D81BDE-C2BC-46BF-A8FC-6E19EB55C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717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0242A"/>
                </a:solidFill>
              </a:defRPr>
            </a:pPr>
            <a:r>
              <a:rPr sz="1500" b="1" i="0">
                <a:solidFill>
                  <a:srgbClr val="20242A"/>
                </a:solidFill>
              </a:rPr>
              <a:t>Model / Compute Router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D89AFD-88C9-4DFE-B429-DF740E31A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8132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4A5563"/>
                </a:solidFill>
              </a:defRPr>
            </a:pPr>
            <a:r>
              <a:rPr sz="1200" b="0" i="0">
                <a:solidFill>
                  <a:srgbClr val="4A5563"/>
                </a:solidFill>
              </a:rPr>
              <a:t>registry、評価、電力、権利条件で配置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E45D82-6D41-41B9-A09A-16DA600E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5623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77808C"/>
                </a:solidFill>
              </a:defRPr>
            </a:pPr>
            <a:r>
              <a:rPr sz="1163" b="0" i="0">
                <a:solidFill>
                  <a:srgbClr val="77808C"/>
                </a:solidFill>
              </a:rPr>
              <a:t>共有コア・専門家・adapterを最適に選ぶ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2A97A1-C879-4163-8528-738E703A8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048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E45B1B"/>
                </a:solidFill>
              </a:defRPr>
            </a:pPr>
            <a:r>
              <a:rPr sz="1950" b="1" i="0">
                <a:solidFill>
                  <a:srgbClr val="E45B1B"/>
                </a:solidFill>
              </a:rPr>
              <a:t>-&gt;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23082D-02AE-445C-8557-1B8EA5D74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33625"/>
            <a:ext cx="2857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044C86-B847-4E2F-9635-5157A7C9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33625"/>
            <a:ext cx="2857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7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3250DE-B537-41A0-B8A4-B0266061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717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0242A"/>
                </a:solidFill>
              </a:defRPr>
            </a:pPr>
            <a:r>
              <a:rPr sz="1500" b="1" i="0">
                <a:solidFill>
                  <a:srgbClr val="20242A"/>
                </a:solidFill>
              </a:rPr>
              <a:t>Dedicated HW option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B62A18-9A36-4E08-A50A-75E6B0C3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8132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4A5563"/>
                </a:solidFill>
              </a:defRPr>
            </a:pPr>
            <a:r>
              <a:rPr sz="1200" b="0" i="0">
                <a:solidFill>
                  <a:srgbClr val="4A5563"/>
                </a:solidFill>
              </a:rPr>
              <a:t>systolic array + long vector + CXL pool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DCA617-E83B-4901-8DFA-F769812F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623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77808C"/>
                </a:solidFill>
              </a:defRPr>
            </a:pPr>
            <a:r>
              <a:rPr sz="1163" b="0" i="0">
                <a:solidFill>
                  <a:srgbClr val="77808C"/>
                </a:solidFill>
              </a:rPr>
              <a:t>go条件を満たす場合だけASICへ進む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0FA672-28F9-43D7-AB83-76AB0E60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7200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315F7D"/>
                </a:solidFill>
              </a:defRPr>
            </a:pPr>
            <a:r>
              <a:rPr sz="2700" b="1" i="0">
                <a:solidFill>
                  <a:srgbClr val="315F7D"/>
                </a:solidFill>
              </a:rPr>
              <a:t>500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06A13C-1ACE-41CE-8D67-E40A08FCD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38725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4A5563"/>
                </a:solidFill>
              </a:defRPr>
            </a:pPr>
            <a:r>
              <a:rPr sz="1163" b="0" i="0">
                <a:solidFill>
                  <a:srgbClr val="4A5563"/>
                </a:solidFill>
              </a:rPr>
              <a:t>Phase 1 H100台数の目安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983A13-928E-42A0-8FE2-5CFA80C3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57200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C99A2E"/>
                </a:solidFill>
              </a:defRPr>
            </a:pPr>
            <a:r>
              <a:rPr sz="2700" b="1" i="0">
                <a:solidFill>
                  <a:srgbClr val="C99A2E"/>
                </a:solidFill>
              </a:rPr>
              <a:t>5,000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3D4841-5C50-4F17-A2CA-D5DDE8913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038725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4A5563"/>
                </a:solidFill>
              </a:defRPr>
            </a:pPr>
            <a:r>
              <a:rPr sz="1163" b="0" i="0">
                <a:solidFill>
                  <a:srgbClr val="4A5563"/>
                </a:solidFill>
              </a:rPr>
              <a:t>Phase 2 GPU台数の目安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D1C178-DE96-4008-B0B0-FCCAF0C4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5720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A43E3E"/>
                </a:solidFill>
              </a:defRPr>
            </a:pPr>
            <a:r>
              <a:rPr sz="2700" b="1" i="0">
                <a:solidFill>
                  <a:srgbClr val="A43E3E"/>
                </a:solidFill>
              </a:rPr>
              <a:t>5-7年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E9A59D-520B-4CFE-BF7C-DA404F9B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0387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4A5563"/>
                </a:solidFill>
              </a:defRPr>
            </a:pPr>
            <a:r>
              <a:rPr sz="1163" b="0" i="0">
                <a:solidFill>
                  <a:srgbClr val="4A5563"/>
                </a:solidFill>
              </a:rPr>
              <a:t>新チーム + 新アーキのASICリードタイム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946020-E0FB-4861-96B4-BA6025B35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11125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624F8D-61C3-4411-AE7E-FC61EF13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29325"/>
            <a:ext cx="1074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1" i="0">
                <a:solidFill>
                  <a:srgbClr val="FFFFFF"/>
                </a:solidFill>
              </a:defRPr>
            </a:pPr>
            <a:r>
              <a:rPr sz="1238" b="1" i="0">
                <a:solidFill>
                  <a:srgbClr val="FFFFFF"/>
                </a:solidFill>
              </a:rPr>
              <a:t>専用HWは野心ではなくオプション。Phase 2末のテレメトリでTCO・電力支配性を証明できた時だけ進む。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9D4DDA7-A86A-44DC-88DE-547E36695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77808C"/>
                </a:solidFill>
              </a:defRPr>
            </a:pPr>
            <a:r>
              <a:rPr sz="788" b="0" i="0">
                <a:solidFill>
                  <a:srgbClr val="77808C"/>
                </a:solidFill>
              </a:rPr>
              <a:t>Source: Provided KairosAI strategy docs, 2026-07-01</a:t>
            </a:r>
          </a:p>
        </p:txBody>
      </p:sp>
    </p:spTree>
    <p:extLst>
      <p:ext uri="{BB962C8B-B14F-4D97-AF65-F5344CB8AC3E}">
        <p14:creationId xmlns:p14="http://schemas.microsoft.com/office/powerpoint/2010/main" val="19680178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71A094-209E-4399-A697-5962BDA5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B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DB58D5-87F3-4A3F-AF00-AF05D4F70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"/>
            <a:ext cx="9620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0242A"/>
                </a:solidFill>
              </a:defRPr>
            </a:pPr>
            <a:r>
              <a:rPr sz="2550" b="1" i="0">
                <a:solidFill>
                  <a:srgbClr val="20242A"/>
                </a:solidFill>
              </a:rPr>
              <a:t>36ヶ月で現場データループと投資ゲートを成立させる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EEE252-F020-4C06-B7D1-DFC02F27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001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A5563"/>
                </a:solidFill>
              </a:defRPr>
            </a:pPr>
            <a:r>
              <a:rPr sz="1350" b="0" i="0">
                <a:solidFill>
                  <a:srgbClr val="4A5563"/>
                </a:solidFill>
              </a:rPr>
              <a:t>初期はOSSとGPUで時間を買い、Phase 2末に大規模基盤モデルと専用HWの投資可否を判定する。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F63F1C-6488-4D8F-BF71-A850D8133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E3230A-7C26-4CC1-B315-8538E81D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77808C"/>
                </a:solidFill>
              </a:defRPr>
            </a:pPr>
            <a:r>
              <a:rPr sz="788" b="0" i="0">
                <a:solidFill>
                  <a:srgbClr val="77808C"/>
                </a:solidFill>
              </a:rPr>
              <a:t>KairosAI Pitch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BF3628-5753-49CD-9C7D-64574A2A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62725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 i="0">
                <a:solidFill>
                  <a:srgbClr val="77808C"/>
                </a:solidFill>
              </a:defRPr>
            </a:pPr>
            <a:r>
              <a:rPr sz="788" b="0" i="0">
                <a:solidFill>
                  <a:srgbClr val="77808C"/>
                </a:solidFill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7D858A-0975-4C28-9D25-0DBEECF3A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9A2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0D2120-9A4C-4788-8442-78EE3B4DC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72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C99A2E"/>
                </a:solidFill>
              </a:defRPr>
            </a:pPr>
            <a:r>
              <a:rPr sz="788" b="1" i="0">
                <a:solidFill>
                  <a:srgbClr val="C99A2E"/>
                </a:solidFill>
              </a:rPr>
              <a:t>ROADMAP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6CF92B-7081-475A-9F6B-D965F859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43125"/>
            <a:ext cx="24955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9AA234-B181-4709-905D-DAD6D37D2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43125"/>
            <a:ext cx="2495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77FBAF-1D66-4C34-9FA8-AB21BD22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42A"/>
                </a:solidFill>
              </a:defRPr>
            </a:pPr>
            <a:r>
              <a:rPr sz="1575" b="1" i="0">
                <a:solidFill>
                  <a:srgbClr val="20242A"/>
                </a:solidFill>
              </a:rPr>
              <a:t>Phase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4D58DD-AABF-43C9-A3C0-79B5B125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45B1B"/>
                </a:solidFill>
              </a:defRPr>
            </a:pPr>
            <a:r>
              <a:rPr sz="1125" b="1" i="0">
                <a:solidFill>
                  <a:srgbClr val="E45B1B"/>
                </a:solidFill>
              </a:rPr>
              <a:t>0-18ヶ月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8D438C-9F23-4D7C-B5AF-9D33DD6F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2000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4A5563"/>
                </a:solidFill>
              </a:defRPr>
            </a:pPr>
            <a:r>
              <a:rPr sz="1163" b="0" i="0">
                <a:solidFill>
                  <a:srgbClr val="4A5563"/>
                </a:solidFill>
              </a:rPr>
              <a:t>2-3領域実装</a:t>
            </a:r>
          </a:p>
          <a:p xmlns:a="http://schemas.openxmlformats.org/drawingml/2006/main">
            <a:pPr algn="l">
              <a:defRPr sz="1163" b="0" i="0">
                <a:solidFill>
                  <a:srgbClr val="4A5563"/>
                </a:solidFill>
              </a:defRPr>
            </a:pPr>
            <a:r>
              <a:rPr sz="1163" b="0" i="0">
                <a:solidFill>
                  <a:srgbClr val="4A5563"/>
                </a:solidFill>
              </a:rPr>
              <a:t>評価ハーネス</a:t>
            </a:r>
          </a:p>
          <a:p xmlns:a="http://schemas.openxmlformats.org/drawingml/2006/main">
            <a:pPr algn="l">
              <a:defRPr sz="1163" b="0" i="0">
                <a:solidFill>
                  <a:srgbClr val="4A5563"/>
                </a:solidFill>
              </a:defRPr>
            </a:pPr>
            <a:r>
              <a:rPr sz="1163" b="0" i="0">
                <a:solidFill>
                  <a:srgbClr val="4A5563"/>
                </a:solidFill>
              </a:rPr>
              <a:t>H100 x 500</a:t>
            </a:r>
          </a:p>
          <a:p xmlns:a="http://schemas.openxmlformats.org/drawingml/2006/main">
            <a:pPr algn="l">
              <a:defRPr sz="1163" b="0" i="0">
                <a:solidFill>
                  <a:srgbClr val="4A5563"/>
                </a:solidFill>
              </a:defRPr>
            </a:pPr>
            <a:r>
              <a:rPr sz="1163" b="0" i="0">
                <a:solidFill>
                  <a:srgbClr val="4A5563"/>
                </a:solidFill>
              </a:rPr>
              <a:t>状態管理PoC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9001BD-0D45-418F-806E-0FBE7CB7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200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42B6E5-787A-4DEE-BE21-9E798AB8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958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0242A"/>
                </a:solidFill>
              </a:defRPr>
            </a:pPr>
            <a:r>
              <a:rPr sz="1350" b="1" i="0">
                <a:solidFill>
                  <a:srgbClr val="20242A"/>
                </a:solidFill>
              </a:rPr>
              <a:t>$200-300M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61EF81-B239-4A4F-B5AE-0B938E25D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143125"/>
            <a:ext cx="24955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F3"/>
          </a:solidFill>
          <a:ln xmlns:a="http://schemas.openxmlformats.org/drawingml/2006/main" w="9525">
            <a:solidFill>
              <a:srgbClr val="E45B1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FDAAFA-946F-4EA2-8730-F559EE98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143125"/>
            <a:ext cx="2495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B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01EB47-1E1F-49DB-9926-9ACB7B662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3812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42A"/>
                </a:solidFill>
              </a:defRPr>
            </a:pPr>
            <a:r>
              <a:rPr sz="1575" b="1" i="0">
                <a:solidFill>
                  <a:srgbClr val="20242A"/>
                </a:solidFill>
              </a:rPr>
              <a:t>Phase 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7B14AA-D279-4C54-8424-9758D76E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7051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45B1B"/>
                </a:solidFill>
              </a:defRPr>
            </a:pPr>
            <a:r>
              <a:rPr sz="1125" b="1" i="0">
                <a:solidFill>
                  <a:srgbClr val="E45B1B"/>
                </a:solidFill>
              </a:rPr>
              <a:t>18-36ヶ月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316877-780F-492D-8A0C-9D470A7A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105150"/>
            <a:ext cx="2000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4A5563"/>
                </a:solidFill>
              </a:defRPr>
            </a:pPr>
            <a:r>
              <a:rPr sz="1163" b="0" i="0">
                <a:solidFill>
                  <a:srgbClr val="4A5563"/>
                </a:solidFill>
              </a:rPr>
              <a:t>3-6領域展開</a:t>
            </a:r>
          </a:p>
          <a:p xmlns:a="http://schemas.openxmlformats.org/drawingml/2006/main">
            <a:pPr algn="l">
              <a:defRPr sz="1163" b="0" i="0">
                <a:solidFill>
                  <a:srgbClr val="4A5563"/>
                </a:solidFill>
              </a:defRPr>
            </a:pPr>
            <a:r>
              <a:rPr sz="1163" b="0" i="0">
                <a:solidFill>
                  <a:srgbClr val="4A5563"/>
                </a:solidFill>
              </a:rPr>
              <a:t>データループ確立</a:t>
            </a:r>
          </a:p>
          <a:p xmlns:a="http://schemas.openxmlformats.org/drawingml/2006/main">
            <a:pPr algn="l">
              <a:defRPr sz="1163" b="0" i="0">
                <a:solidFill>
                  <a:srgbClr val="4A5563"/>
                </a:solidFill>
              </a:defRPr>
            </a:pPr>
            <a:r>
              <a:rPr sz="1163" b="0" i="0">
                <a:solidFill>
                  <a:srgbClr val="4A5563"/>
                </a:solidFill>
              </a:rPr>
              <a:t>B200/H200 x 5,000</a:t>
            </a:r>
          </a:p>
          <a:p xmlns:a="http://schemas.openxmlformats.org/drawingml/2006/main">
            <a:pPr algn="l">
              <a:defRPr sz="1163" b="0" i="0">
                <a:solidFill>
                  <a:srgbClr val="4A5563"/>
                </a:solidFill>
              </a:defRPr>
            </a:pPr>
            <a:r>
              <a:rPr sz="1163" b="0" i="0">
                <a:solidFill>
                  <a:srgbClr val="4A5563"/>
                </a:solidFill>
              </a:rPr>
              <a:t>go/no-go判定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A4726B-9907-4C16-8328-25D7002F5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324350"/>
            <a:ext cx="200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FBC73F-F6F0-4A41-BF72-FE96ED97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4958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0242A"/>
                </a:solidFill>
              </a:defRPr>
            </a:pPr>
            <a:r>
              <a:rPr sz="1350" b="1" i="0">
                <a:solidFill>
                  <a:srgbClr val="20242A"/>
                </a:solidFill>
              </a:rPr>
              <a:t>$2-3B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80903A-5CF7-49B1-9034-9F82D072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43125"/>
            <a:ext cx="24955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7B6A4F-3631-4F5C-AD0D-FCCE3821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43125"/>
            <a:ext cx="2495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7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DF3D12-4987-47C3-A0E3-137B89B99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812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42A"/>
                </a:solidFill>
              </a:defRPr>
            </a:pPr>
            <a:r>
              <a:rPr sz="1575" b="1" i="0">
                <a:solidFill>
                  <a:srgbClr val="20242A"/>
                </a:solidFill>
              </a:rPr>
              <a:t>Phase 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FD8BCA-886C-4088-98A9-E88E17949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051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45B1B"/>
                </a:solidFill>
              </a:defRPr>
            </a:pPr>
            <a:r>
              <a:rPr sz="1125" b="1" i="0">
                <a:solidFill>
                  <a:srgbClr val="E45B1B"/>
                </a:solidFill>
              </a:rPr>
              <a:t>36-60ヶ月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7B3E5C-1E48-4C33-964B-1764E676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05150"/>
            <a:ext cx="2000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4A5563"/>
                </a:solidFill>
              </a:defRPr>
            </a:pPr>
            <a:r>
              <a:rPr sz="1163" b="0" i="0">
                <a:solidFill>
                  <a:srgbClr val="4A5563"/>
                </a:solidFill>
              </a:rPr>
              <a:t>共有コア継続学習</a:t>
            </a:r>
          </a:p>
          <a:p xmlns:a="http://schemas.openxmlformats.org/drawingml/2006/main">
            <a:pPr algn="l">
              <a:defRPr sz="1163" b="0" i="0">
                <a:solidFill>
                  <a:srgbClr val="4A5563"/>
                </a:solidFill>
              </a:defRPr>
            </a:pPr>
            <a:r>
              <a:rPr sz="1163" b="0" i="0">
                <a:solidFill>
                  <a:srgbClr val="4A5563"/>
                </a:solidFill>
              </a:rPr>
              <a:t>国家計算基盤接続</a:t>
            </a:r>
          </a:p>
          <a:p xmlns:a="http://schemas.openxmlformats.org/drawingml/2006/main">
            <a:pPr algn="l">
              <a:defRPr sz="1163" b="0" i="0">
                <a:solidFill>
                  <a:srgbClr val="4A5563"/>
                </a:solidFill>
              </a:defRPr>
            </a:pPr>
            <a:r>
              <a:rPr sz="1163" b="0" i="0">
                <a:solidFill>
                  <a:srgbClr val="4A5563"/>
                </a:solidFill>
              </a:rPr>
              <a:t>初回テープアウト</a:t>
            </a:r>
          </a:p>
          <a:p xmlns:a="http://schemas.openxmlformats.org/drawingml/2006/main">
            <a:pPr algn="l">
              <a:defRPr sz="1163" b="0" i="0">
                <a:solidFill>
                  <a:srgbClr val="4A5563"/>
                </a:solidFill>
              </a:defRPr>
            </a:pPr>
            <a:r>
              <a:rPr sz="1163" b="0" i="0">
                <a:solidFill>
                  <a:srgbClr val="4A5563"/>
                </a:solidFill>
              </a:rPr>
              <a:t>統合provenance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E01997-C274-4F04-8D58-AAB921B9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24350"/>
            <a:ext cx="200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399E3D-DE7D-49DA-8F51-4EA7FB01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958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0242A"/>
                </a:solidFill>
              </a:defRPr>
            </a:pPr>
            <a:r>
              <a:rPr sz="1350" b="1" i="0">
                <a:solidFill>
                  <a:srgbClr val="20242A"/>
                </a:solidFill>
              </a:rPr>
              <a:t>$1-2B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4CC9F5-BDC7-41B1-A1CF-B766F9A25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143125"/>
            <a:ext cx="24955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6950A0-CF7F-4E5A-864F-EE5538D9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143125"/>
            <a:ext cx="2495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6C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C5A7FA-F175-4241-B64D-77FDF0BA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3812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42A"/>
                </a:solidFill>
              </a:defRPr>
            </a:pPr>
            <a:r>
              <a:rPr sz="1575" b="1" i="0">
                <a:solidFill>
                  <a:srgbClr val="20242A"/>
                </a:solidFill>
              </a:rPr>
              <a:t>Phase 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DE3CFE-6905-4676-8229-D822E4DF8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7051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45B1B"/>
                </a:solidFill>
              </a:defRPr>
            </a:pPr>
            <a:r>
              <a:rPr sz="1125" b="1" i="0">
                <a:solidFill>
                  <a:srgbClr val="E45B1B"/>
                </a:solidFill>
              </a:rPr>
              <a:t>60ヶ月〜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771C737-E51E-476D-870E-414DFB67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105150"/>
            <a:ext cx="2000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4A5563"/>
                </a:solidFill>
              </a:defRPr>
            </a:pPr>
            <a:r>
              <a:rPr sz="1163" b="0" i="0">
                <a:solidFill>
                  <a:srgbClr val="4A5563"/>
                </a:solidFill>
              </a:rPr>
              <a:t>国産共有コアまたはMoE</a:t>
            </a:r>
          </a:p>
          <a:p xmlns:a="http://schemas.openxmlformats.org/drawingml/2006/main">
            <a:pPr algn="l">
              <a:defRPr sz="1163" b="0" i="0">
                <a:solidFill>
                  <a:srgbClr val="4A5563"/>
                </a:solidFill>
              </a:defRPr>
            </a:pPr>
            <a:r>
              <a:rPr sz="1163" b="0" i="0">
                <a:solidFill>
                  <a:srgbClr val="4A5563"/>
                </a:solidFill>
              </a:rPr>
              <a:t>効率HW量産</a:t>
            </a:r>
          </a:p>
          <a:p xmlns:a="http://schemas.openxmlformats.org/drawingml/2006/main">
            <a:pPr algn="l">
              <a:defRPr sz="1163" b="0" i="0">
                <a:solidFill>
                  <a:srgbClr val="4A5563"/>
                </a:solidFill>
              </a:defRPr>
            </a:pPr>
            <a:r>
              <a:rPr sz="1163" b="0" i="0">
                <a:solidFill>
                  <a:srgbClr val="4A5563"/>
                </a:solidFill>
              </a:rPr>
              <a:t>国内台帳・決済運用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22671E2-B53E-4301-815A-9E097833A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324350"/>
            <a:ext cx="200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D473B07-0448-4E24-8BB1-98D7A4FA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4958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0242A"/>
                </a:solidFill>
              </a:defRPr>
            </a:pPr>
            <a:r>
              <a:rPr sz="1350" b="1" i="0">
                <a:solidFill>
                  <a:srgbClr val="20242A"/>
                </a:solidFill>
              </a:rPr>
              <a:t>変動大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BB6E241-1078-4B16-8DBB-7B1A50687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11125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04161F9-A9CC-42D6-81CA-24377FBC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29325"/>
            <a:ext cx="1074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1" i="0">
                <a:solidFill>
                  <a:srgbClr val="FFFFFF"/>
                </a:solidFill>
              </a:defRPr>
            </a:pPr>
            <a:r>
              <a:rPr sz="1238" b="1" i="0">
                <a:solidFill>
                  <a:srgbClr val="FFFFFF"/>
                </a:solidFill>
              </a:rPr>
              <a:t>Phase 1-2の成果物は売上だけでなく、Phase 3以降の国家連携と専用HW判断に必要な証拠である。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F078865-45A2-40C1-B04C-E2410ECD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77808C"/>
                </a:solidFill>
              </a:defRPr>
            </a:pPr>
            <a:r>
              <a:rPr sz="788" b="0" i="0">
                <a:solidFill>
                  <a:srgbClr val="77808C"/>
                </a:solidFill>
              </a:rPr>
              <a:t>Source: Provided KairosAI strategy docs, 2026-07-01</a:t>
            </a:r>
          </a:p>
        </p:txBody>
      </p:sp>
    </p:spTree>
    <p:extLst>
      <p:ext uri="{BB962C8B-B14F-4D97-AF65-F5344CB8AC3E}">
        <p14:creationId xmlns:p14="http://schemas.microsoft.com/office/powerpoint/2010/main" val="113034126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A60F85-9283-46BF-9163-97149C772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B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6CFF45-AE24-44C0-9E3C-FF3D46A98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"/>
            <a:ext cx="9620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20242A"/>
                </a:solidFill>
              </a:defRPr>
            </a:pPr>
            <a:r>
              <a:rPr sz="2325" b="1" i="0">
                <a:solidFill>
                  <a:srgbClr val="20242A"/>
                </a:solidFill>
              </a:rPr>
              <a:t>大規模モデルと専用HWは、信仰ではなく2つのgo/no-goで規律する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56A7E9-5D47-41DB-A048-6AFFEA9D9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001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A5563"/>
                </a:solidFill>
              </a:defRPr>
            </a:pPr>
            <a:r>
              <a:rPr sz="1350" b="0" i="0">
                <a:solidFill>
                  <a:srgbClr val="4A5563"/>
                </a:solidFill>
              </a:rPr>
              <a:t>KairosAIは大きな構想を掲げるが、重大投資はPhase 2末のテレメトリと資金条件を通過した場合に限定する。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C94E82-B425-4036-AFB2-3E34FAE7F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4A8F01-9E17-4EEF-B287-E97F8AE0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77808C"/>
                </a:solidFill>
              </a:defRPr>
            </a:pPr>
            <a:r>
              <a:rPr sz="788" b="0" i="0">
                <a:solidFill>
                  <a:srgbClr val="77808C"/>
                </a:solidFill>
              </a:rPr>
              <a:t>KairosAI Pitch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DEA92C-C770-4F1E-B89A-1A5DE4B5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62725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 i="0">
                <a:solidFill>
                  <a:srgbClr val="77808C"/>
                </a:solidFill>
              </a:defRPr>
            </a:pPr>
            <a:r>
              <a:rPr sz="788" b="0" i="0">
                <a:solidFill>
                  <a:srgbClr val="77808C"/>
                </a:solidFill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7E7FEF-07E8-4700-883E-30370DDE5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9A2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714317-081F-4D7E-BBDE-B350CDF3A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72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C99A2E"/>
                </a:solidFill>
              </a:defRPr>
            </a:pPr>
            <a:r>
              <a:rPr sz="788" b="1" i="0">
                <a:solidFill>
                  <a:srgbClr val="C99A2E"/>
                </a:solidFill>
              </a:rPr>
              <a:t>GATE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77723D-FEDD-4773-89A8-F4A1C51B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52650"/>
            <a:ext cx="4857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C6BD6B-0576-4F3D-B24F-E509E8DF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52650"/>
            <a:ext cx="485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6C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9A6FA8-EF35-455C-ACFB-08BA583AC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42A"/>
                </a:solidFill>
              </a:defRPr>
            </a:pPr>
            <a:r>
              <a:rPr sz="1575" b="1" i="0">
                <a:solidFill>
                  <a:srgbClr val="20242A"/>
                </a:solidFill>
              </a:rPr>
              <a:t>Gate A: 共有コアの汎用化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649F4B-E29F-4DFA-BFF8-EB694CE8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4A5563"/>
                </a:solidFill>
              </a:defRPr>
            </a:pPr>
            <a:r>
              <a:rPr sz="1238" b="0" i="0">
                <a:solidFill>
                  <a:srgbClr val="4A5563"/>
                </a:solidFill>
              </a:rPr>
              <a:t>横断移転性が複数領域で確認された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0FED44-6DFE-4589-9A09-6877C684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14675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4A5563"/>
                </a:solidFill>
              </a:defRPr>
            </a:pPr>
            <a:r>
              <a:rPr sz="1238" b="0" i="0">
                <a:solidFill>
                  <a:srgbClr val="4A5563"/>
                </a:solidFill>
              </a:rPr>
              <a:t>権利処理、削除、rollbackが機械可読に追跡できる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C19854-5CCC-4F4D-9C6E-F6847200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480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4A5563"/>
                </a:solidFill>
              </a:defRPr>
            </a:pPr>
            <a:r>
              <a:rPr sz="1238" b="0" i="0">
                <a:solidFill>
                  <a:srgbClr val="4A5563"/>
                </a:solidFill>
              </a:rPr>
              <a:t>政府計算基盤補助を確保できる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589C88-8661-4CC7-8A36-985619D46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81425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4A5563"/>
                </a:solidFill>
              </a:defRPr>
            </a:pPr>
            <a:r>
              <a:rPr sz="1238" b="0" i="0">
                <a:solidFill>
                  <a:srgbClr val="4A5563"/>
                </a:solidFill>
              </a:rPr>
              <a:t>満たさない場合は領域特化共有コアに留める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AE82D6-0099-4405-8E28-A0C3F3466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152650"/>
            <a:ext cx="4857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320D9C-91EC-4C07-9C25-7F039D89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152650"/>
            <a:ext cx="485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7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235C99-4F38-4637-AA5C-EB0CC6C8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3622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42A"/>
                </a:solidFill>
              </a:defRPr>
            </a:pPr>
            <a:r>
              <a:rPr sz="1575" b="1" i="0">
                <a:solidFill>
                  <a:srgbClr val="20242A"/>
                </a:solidFill>
              </a:rPr>
              <a:t>Gate B: 専用HW / HBM非律速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8E4DE0-0802-4587-9DED-959036A6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813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4A5563"/>
                </a:solidFill>
              </a:defRPr>
            </a:pPr>
            <a:r>
              <a:rPr sz="1238" b="0" i="0">
                <a:solidFill>
                  <a:srgbClr val="4A5563"/>
                </a:solidFill>
              </a:rPr>
              <a:t>対象演算がTCO・電力の支配要因だと実証された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BA93FA-0164-4A43-BFD1-0A0A94CF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114675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4A5563"/>
                </a:solidFill>
              </a:defRPr>
            </a:pPr>
            <a:r>
              <a:rPr sz="1238" b="0" i="0">
                <a:solidFill>
                  <a:srgbClr val="4A5563"/>
                </a:solidFill>
              </a:rPr>
              <a:t>電力・冷却制約で拡張を断念した顧客事例が複数ある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0A10B1-9130-4CB7-9E2F-D3784EB3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4480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4A5563"/>
                </a:solidFill>
              </a:defRPr>
            </a:pPr>
            <a:r>
              <a:rPr sz="1238" b="0" i="0">
                <a:solidFill>
                  <a:srgbClr val="4A5563"/>
                </a:solidFill>
              </a:rPr>
              <a:t>国内製造パートナーと公的資金を確保できる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9DFBE7-1DA1-4DC2-9304-7A4582A66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781425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4A5563"/>
                </a:solidFill>
              </a:defRPr>
            </a:pPr>
            <a:r>
              <a:rPr sz="1238" b="0" i="0">
                <a:solidFill>
                  <a:srgbClr val="4A5563"/>
                </a:solidFill>
              </a:rPr>
              <a:t>満たさない場合はGPU + 代替アクセラレータに留める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AE8347-E04E-45E6-9C66-E7DC9B35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11125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320EF2-EF5C-479C-A9A3-1BA98471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29325"/>
            <a:ext cx="1074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1" i="0">
                <a:solidFill>
                  <a:srgbClr val="FFFFFF"/>
                </a:solidFill>
              </a:defRPr>
            </a:pPr>
            <a:r>
              <a:rPr sz="1238" b="1" i="0">
                <a:solidFill>
                  <a:srgbClr val="FFFFFF"/>
                </a:solidFill>
              </a:rPr>
              <a:t>投資家に見せるべきは夢の大きさだけではなく、夢を途中で止める条件が設計されていること。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94AEBF-1A35-4C2C-860F-66D4462FB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77808C"/>
                </a:solidFill>
              </a:defRPr>
            </a:pPr>
            <a:r>
              <a:rPr sz="788" b="0" i="0">
                <a:solidFill>
                  <a:srgbClr val="77808C"/>
                </a:solidFill>
              </a:rPr>
              <a:t>Source: Provided KairosAI strategy docs, 2026-07-01</a:t>
            </a:r>
          </a:p>
        </p:txBody>
      </p:sp>
    </p:spTree>
    <p:extLst>
      <p:ext uri="{BB962C8B-B14F-4D97-AF65-F5344CB8AC3E}">
        <p14:creationId xmlns:p14="http://schemas.microsoft.com/office/powerpoint/2010/main" val="14325516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3CEC81-A78A-456B-9DB5-C1CEF98EE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B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521A83-8B46-42B0-906D-84BEC958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"/>
            <a:ext cx="9620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20242A"/>
                </a:solidFill>
              </a:defRPr>
            </a:pPr>
            <a:r>
              <a:rPr sz="2325" b="1" i="0">
                <a:solidFill>
                  <a:srgbClr val="20242A"/>
                </a:solidFill>
              </a:rPr>
              <a:t>初期売上は実証フィールドを押さえ、後続のモデル・計算基盤へ拡張する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D8E1A2-B696-4603-A8FA-7F831139E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001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A5563"/>
                </a:solidFill>
              </a:defRPr>
            </a:pPr>
            <a:r>
              <a:rPr sz="1350" b="0" i="0">
                <a:solidFill>
                  <a:srgbClr val="4A5563"/>
                </a:solidFill>
              </a:rPr>
              <a:t>短期の収益化は、完成済み巨大モデル販売ではなく、現場導入・アーキテクチャ設計・主権ランタイム運用から始める。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752A6C-3D13-4EA2-83DF-06C3ED152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B0DF40-2C4B-416A-8680-64D84D384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77808C"/>
                </a:solidFill>
              </a:defRPr>
            </a:pPr>
            <a:r>
              <a:rPr sz="788" b="0" i="0">
                <a:solidFill>
                  <a:srgbClr val="77808C"/>
                </a:solidFill>
              </a:rPr>
              <a:t>KairosAI Pitch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FE52AA-6DFF-4337-9B88-7139C874F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62725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 i="0">
                <a:solidFill>
                  <a:srgbClr val="77808C"/>
                </a:solidFill>
              </a:defRPr>
            </a:pPr>
            <a:r>
              <a:rPr sz="788" b="0" i="0">
                <a:solidFill>
                  <a:srgbClr val="77808C"/>
                </a:solidFill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B7ACF7-9305-495A-A7DA-8F4DC766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9A2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DBB77-5105-4409-B31B-45959938A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72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C99A2E"/>
                </a:solidFill>
              </a:defRPr>
            </a:pPr>
            <a:r>
              <a:rPr sz="788" b="1" i="0">
                <a:solidFill>
                  <a:srgbClr val="C99A2E"/>
                </a:solidFill>
              </a:rPr>
              <a:t>HYPOTHESIS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C11CA5-E0F4-4DDA-9F1B-43A4CF73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C62DFE-643A-4F4A-9D30-D89746A97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7647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1" i="0">
                <a:solidFill>
                  <a:srgbClr val="FFFFFF"/>
                </a:solidFill>
              </a:defRPr>
            </a:pPr>
            <a:r>
              <a:rPr sz="1088" b="1" i="0">
                <a:solidFill>
                  <a:srgbClr val="FFFFFF"/>
                </a:solidFill>
              </a:rPr>
              <a:t>入口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59F96A-248B-42B5-AA86-56D8E956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27647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1" i="0">
                <a:solidFill>
                  <a:srgbClr val="FFFFFF"/>
                </a:solidFill>
              </a:defRPr>
            </a:pPr>
            <a:r>
              <a:rPr sz="1088" b="1" i="0">
                <a:solidFill>
                  <a:srgbClr val="FFFFFF"/>
                </a:solidFill>
              </a:rPr>
              <a:t>提供内容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65A2B5-A01E-452E-A4F6-1A01386FC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7647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1" i="0">
                <a:solidFill>
                  <a:srgbClr val="FFFFFF"/>
                </a:solidFill>
              </a:defRPr>
            </a:pPr>
            <a:r>
              <a:rPr sz="1088" b="1" i="0">
                <a:solidFill>
                  <a:srgbClr val="FFFFFF"/>
                </a:solidFill>
              </a:rPr>
              <a:t>事業上の意味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8DE4A2-5F4F-489B-B4A0-041D96C4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FEC16A-8066-472C-92E4-D8653178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38425"/>
            <a:ext cx="2628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1" i="0">
                <a:solidFill>
                  <a:srgbClr val="20242A"/>
                </a:solidFill>
              </a:defRPr>
            </a:pPr>
            <a:r>
              <a:rPr sz="1065" b="1" i="0">
                <a:solidFill>
                  <a:srgbClr val="20242A"/>
                </a:solidFill>
              </a:rPr>
              <a:t>1. Strategy / PoC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B1CEE0-FE4F-4377-8D91-5E985D33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38425"/>
            <a:ext cx="2628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0" i="0">
                <a:solidFill>
                  <a:srgbClr val="4A5563"/>
                </a:solidFill>
              </a:defRPr>
            </a:pPr>
            <a:r>
              <a:rPr sz="1065" b="0" i="0">
                <a:solidFill>
                  <a:srgbClr val="4A5563"/>
                </a:solidFill>
              </a:rPr>
              <a:t>重点領域の課題定義、現場要件、評価設計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E63E6F-9E21-4B1E-9737-7A98438E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38425"/>
            <a:ext cx="2628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0" i="0">
                <a:solidFill>
                  <a:srgbClr val="4A5563"/>
                </a:solidFill>
              </a:defRPr>
            </a:pPr>
            <a:r>
              <a:rPr sz="1065" b="0" i="0">
                <a:solidFill>
                  <a:srgbClr val="4A5563"/>
                </a:solidFill>
              </a:rPr>
              <a:t>短期売上と実証フィールド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5BA64C-0EAB-4BC0-8237-AE95AB91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24200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2"/>
          </a:solidFill>
          <a:ln xmlns:a="http://schemas.openxmlformats.org/drawingml/2006/main" w="9525">
            <a:solidFill>
              <a:srgbClr val="D9D4C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227C5A-185F-4467-8A77-E344B68D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28975"/>
            <a:ext cx="2628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1" i="0">
                <a:solidFill>
                  <a:srgbClr val="20242A"/>
                </a:solidFill>
              </a:defRPr>
            </a:pPr>
            <a:r>
              <a:rPr sz="1065" b="1" i="0">
                <a:solidFill>
                  <a:srgbClr val="20242A"/>
                </a:solidFill>
              </a:rPr>
              <a:t>2. Sovereign Agent Stack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9EC165-877A-4FCE-AC29-156F88C3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28975"/>
            <a:ext cx="2628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0" i="0">
                <a:solidFill>
                  <a:srgbClr val="4A5563"/>
                </a:solidFill>
              </a:defRPr>
            </a:pPr>
            <a:r>
              <a:rPr sz="1065" b="0" i="0">
                <a:solidFill>
                  <a:srgbClr val="4A5563"/>
                </a:solidFill>
              </a:rPr>
              <a:t>Domain Pack、評価ハーネス、registry / policy運用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A0FB1B-DE14-4158-BFE1-A7BFB8E80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28975"/>
            <a:ext cx="2628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0" i="0">
                <a:solidFill>
                  <a:srgbClr val="4A5563"/>
                </a:solidFill>
              </a:defRPr>
            </a:pPr>
            <a:r>
              <a:rPr sz="1065" b="0" i="0">
                <a:solidFill>
                  <a:srgbClr val="4A5563"/>
                </a:solidFill>
              </a:rPr>
              <a:t>継続利用料とLayer 2資産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5D1A3F-55C0-41A4-ADA1-291AC977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D6E262-C333-4DA4-84DB-A725F7C2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9525"/>
            <a:ext cx="2628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1" i="0">
                <a:solidFill>
                  <a:srgbClr val="20242A"/>
                </a:solidFill>
              </a:defRPr>
            </a:pPr>
            <a:r>
              <a:rPr sz="1065" b="1" i="0">
                <a:solidFill>
                  <a:srgbClr val="20242A"/>
                </a:solidFill>
              </a:rPr>
              <a:t>3. Compute / Routing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AD3957-07C8-4229-8BF0-BAC6EDD6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819525"/>
            <a:ext cx="2628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0" i="0">
                <a:solidFill>
                  <a:srgbClr val="4A5563"/>
                </a:solidFill>
              </a:defRPr>
            </a:pPr>
            <a:r>
              <a:rPr sz="1065" b="0" i="0">
                <a:solidFill>
                  <a:srgbClr val="4A5563"/>
                </a:solidFill>
              </a:rPr>
              <a:t>オンプレ推論、Model/Compute Router、効率基盤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018E8A-6F4B-4748-8D23-85722697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19525"/>
            <a:ext cx="2628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0" i="0">
                <a:solidFill>
                  <a:srgbClr val="4A5563"/>
                </a:solidFill>
              </a:defRPr>
            </a:pPr>
            <a:r>
              <a:rPr sz="1065" b="0" i="0">
                <a:solidFill>
                  <a:srgbClr val="4A5563"/>
                </a:solidFill>
              </a:rPr>
              <a:t>TCO改善とHWゲート証拠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4781BA-AC3C-4B26-9EA3-BCD790CB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05300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2"/>
          </a:solidFill>
          <a:ln xmlns:a="http://schemas.openxmlformats.org/drawingml/2006/main" w="9525">
            <a:solidFill>
              <a:srgbClr val="D9D4C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DE300C-C9E2-458D-9C0D-8DF55C44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10075"/>
            <a:ext cx="2628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1" i="0">
                <a:solidFill>
                  <a:srgbClr val="20242A"/>
                </a:solidFill>
              </a:defRPr>
            </a:pPr>
            <a:r>
              <a:rPr sz="1065" b="1" i="0">
                <a:solidFill>
                  <a:srgbClr val="20242A"/>
                </a:solidFill>
              </a:rPr>
              <a:t>4. National-scale build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08F210-0C7D-490D-84B0-49915AD2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410075"/>
            <a:ext cx="2628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0" i="0">
                <a:solidFill>
                  <a:srgbClr val="4A5563"/>
                </a:solidFill>
              </a:defRPr>
            </a:pPr>
            <a:r>
              <a:rPr sz="1065" b="0" i="0">
                <a:solidFill>
                  <a:srgbClr val="4A5563"/>
                </a:solidFill>
              </a:rPr>
              <a:t>共有コア更新、国家計算基盤、専用HW連携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0BAC60-9EDD-4BA0-ABA4-CBA30DCC8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10075"/>
            <a:ext cx="2628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0" i="0">
                <a:solidFill>
                  <a:srgbClr val="4A5563"/>
                </a:solidFill>
              </a:defRPr>
            </a:pPr>
            <a:r>
              <a:rPr sz="1065" b="0" i="0">
                <a:solidFill>
                  <a:srgbClr val="4A5563"/>
                </a:solidFill>
              </a:rPr>
              <a:t>大規模化時のアップサイド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1520E1-BE17-4AD3-8D3C-ACD1EE8BC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11125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4A6557-35F3-4F17-BB25-61B551F4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29325"/>
            <a:ext cx="1074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1" i="0">
                <a:solidFill>
                  <a:srgbClr val="FFFFFF"/>
                </a:solidFill>
              </a:defRPr>
            </a:pPr>
            <a:r>
              <a:rPr sz="1238" b="1" i="0">
                <a:solidFill>
                  <a:srgbClr val="FFFFFF"/>
                </a:solidFill>
              </a:rPr>
              <a:t>最初に売るべきは、導入現場・データループ・評価基準を押さえる権利である。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9FBFB6-72DB-4226-84CE-0593D43BB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77808C"/>
                </a:solidFill>
              </a:defRPr>
            </a:pPr>
            <a:r>
              <a:rPr sz="788" b="0" i="0">
                <a:solidFill>
                  <a:srgbClr val="77808C"/>
                </a:solidFill>
              </a:rPr>
              <a:t>Source: Provided docs; business lane packaging is Codex synthesis from implementation approach.</a:t>
            </a:r>
          </a:p>
        </p:txBody>
      </p:sp>
    </p:spTree>
    <p:extLst>
      <p:ext uri="{BB962C8B-B14F-4D97-AF65-F5344CB8AC3E}">
        <p14:creationId xmlns:p14="http://schemas.microsoft.com/office/powerpoint/2010/main" val="126283520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B5B5C4-220C-4319-9FE6-870BBDB1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B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6EB3F1-5F78-4B97-8A51-83080841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"/>
            <a:ext cx="9620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20242A"/>
                </a:solidFill>
              </a:defRPr>
            </a:pPr>
            <a:r>
              <a:rPr sz="2250" b="1" i="0">
                <a:solidFill>
                  <a:srgbClr val="20242A"/>
                </a:solidFill>
              </a:rPr>
              <a:t>KairosAIは既存エコシステムを束ね、重点領域への実装と垂直統合を担う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2B059A-846C-49D7-B2F2-975163A5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001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A5563"/>
                </a:solidFill>
              </a:defRPr>
            </a:pPr>
            <a:r>
              <a:rPr sz="1350" b="0" i="0">
                <a:solidFill>
                  <a:srgbClr val="4A5563"/>
                </a:solidFill>
              </a:rPr>
              <a:t>日本には計算基盤、民間投資、日本語モデル、半導体施策がある。KairosAIはそれらを現場実装と主権更新ループへ接続するハブになる。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C8E754-527D-4236-BE8F-E8002654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C16449-6D35-45E1-AC08-B52E5ECFD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77808C"/>
                </a:solidFill>
              </a:defRPr>
            </a:pPr>
            <a:r>
              <a:rPr sz="788" b="0" i="0">
                <a:solidFill>
                  <a:srgbClr val="77808C"/>
                </a:solidFill>
              </a:rPr>
              <a:t>KairosAI Pitch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F635E0-5211-4D32-ADB9-22BCDD8DB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62725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 i="0">
                <a:solidFill>
                  <a:srgbClr val="77808C"/>
                </a:solidFill>
              </a:defRPr>
            </a:pPr>
            <a:r>
              <a:rPr sz="788" b="0" i="0">
                <a:solidFill>
                  <a:srgbClr val="77808C"/>
                </a:solidFill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419A19-42B7-4122-BECD-B48CD572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7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BBD92F-1C59-4017-83B0-E0A087689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72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315F7D"/>
                </a:solidFill>
              </a:defRPr>
            </a:pPr>
            <a:r>
              <a:rPr sz="788" b="1" i="0">
                <a:solidFill>
                  <a:srgbClr val="315F7D"/>
                </a:solidFill>
              </a:rPr>
              <a:t>POSITION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46026B-F93E-46F9-BAC8-5C34B9771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10572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650D7F-713F-4B10-99D0-3DDCC9DF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81225"/>
            <a:ext cx="2247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1" i="0">
                <a:solidFill>
                  <a:srgbClr val="FFFFFF"/>
                </a:solidFill>
              </a:defRPr>
            </a:pPr>
            <a:r>
              <a:rPr sz="1088" b="1" i="0">
                <a:solidFill>
                  <a:srgbClr val="FFFFFF"/>
                </a:solidFill>
              </a:rPr>
              <a:t>既存資産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C879C2-BBC4-4507-A6F6-A6030AC6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181225"/>
            <a:ext cx="2819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1" i="0">
                <a:solidFill>
                  <a:srgbClr val="FFFFFF"/>
                </a:solidFill>
              </a:defRPr>
            </a:pPr>
            <a:r>
              <a:rPr sz="1088" b="1" i="0">
                <a:solidFill>
                  <a:srgbClr val="FFFFFF"/>
                </a:solidFill>
              </a:rPr>
              <a:t>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0E4F20-0A40-4FCA-89E5-75EDDD51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81225"/>
            <a:ext cx="320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1" i="0">
                <a:solidFill>
                  <a:srgbClr val="FFFFFF"/>
                </a:solidFill>
              </a:defRPr>
            </a:pPr>
            <a:r>
              <a:rPr sz="1088" b="1" i="0">
                <a:solidFill>
                  <a:srgbClr val="FFFFFF"/>
                </a:solidFill>
              </a:rPr>
              <a:t>KairosAIでの使い方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42D7D7-EB44-46F6-A746-24E22667B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181225"/>
            <a:ext cx="1390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1" i="0">
                <a:solidFill>
                  <a:srgbClr val="FFFFFF"/>
                </a:solidFill>
              </a:defRPr>
            </a:pPr>
            <a:r>
              <a:rPr sz="1088" b="1" i="0">
                <a:solidFill>
                  <a:srgbClr val="FFFFFF"/>
                </a:solidFill>
              </a:rPr>
              <a:t>役割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DE306-96CF-45E2-93F0-1EC7C6DAB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1057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2D2BF0-7EE8-46D1-93D2-9AB252D6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43175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35" b="1" i="0">
                <a:solidFill>
                  <a:srgbClr val="20242A"/>
                </a:solidFill>
              </a:defRPr>
            </a:pPr>
            <a:r>
              <a:rPr sz="1035" b="1" i="0">
                <a:solidFill>
                  <a:srgbClr val="20242A"/>
                </a:solidFill>
              </a:rPr>
              <a:t>政府計算基盤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0B65F8-4546-4285-A6FE-A2F9C334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43175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35" b="0" i="0">
                <a:solidFill>
                  <a:srgbClr val="4A5563"/>
                </a:solidFill>
              </a:defRPr>
            </a:pPr>
            <a:r>
              <a:rPr sz="1035" b="0" i="0">
                <a:solidFill>
                  <a:srgbClr val="4A5563"/>
                </a:solidFill>
              </a:rPr>
              <a:t>GENIAC、ABCI、さくら等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AB1804-9BD4-4038-8B9C-9C811CA89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43175"/>
            <a:ext cx="320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35" b="0" i="0">
                <a:solidFill>
                  <a:srgbClr val="4A5563"/>
                </a:solidFill>
              </a:defRPr>
            </a:pPr>
            <a:r>
              <a:rPr sz="1035" b="0" i="0">
                <a:solidFill>
                  <a:srgbClr val="4A5563"/>
                </a:solidFill>
              </a:rPr>
              <a:t>Phase 3以降の共有コア更新基盤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F21017-6A95-4FDB-8493-140FDFE5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543175"/>
            <a:ext cx="1390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35" b="0" i="0">
                <a:solidFill>
                  <a:srgbClr val="4A5563"/>
                </a:solidFill>
              </a:defRPr>
            </a:pPr>
            <a:r>
              <a:rPr sz="1035" b="0" i="0">
                <a:solidFill>
                  <a:srgbClr val="4A5563"/>
                </a:solidFill>
              </a:rPr>
              <a:t>Partner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998389-3303-498B-9CB8-25A5437F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1057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2"/>
          </a:solidFill>
          <a:ln xmlns:a="http://schemas.openxmlformats.org/drawingml/2006/main" w="9525">
            <a:solidFill>
              <a:srgbClr val="D9D4C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9B9ACC-55CD-4179-B36B-8FF498262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57525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35" b="1" i="0">
                <a:solidFill>
                  <a:srgbClr val="20242A"/>
                </a:solidFill>
              </a:defRPr>
            </a:pPr>
            <a:r>
              <a:rPr sz="1035" b="1" i="0">
                <a:solidFill>
                  <a:srgbClr val="20242A"/>
                </a:solidFill>
              </a:rPr>
              <a:t>民間AI投資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037AA0-AF6B-4F4B-AA7E-768FB2BF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057525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35" b="0" i="0">
                <a:solidFill>
                  <a:srgbClr val="4A5563"/>
                </a:solidFill>
              </a:defRPr>
            </a:pPr>
            <a:r>
              <a:rPr sz="1035" b="0" i="0">
                <a:solidFill>
                  <a:srgbClr val="4A5563"/>
                </a:solidFill>
              </a:rPr>
              <a:t>SoftBank、NTT、KDDI等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F6EB23-F5E0-45D8-882C-9E1A2389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57525"/>
            <a:ext cx="320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35" b="0" i="0">
                <a:solidFill>
                  <a:srgbClr val="4A5563"/>
                </a:solidFill>
              </a:defRPr>
            </a:pPr>
            <a:r>
              <a:rPr sz="1035" b="0" i="0">
                <a:solidFill>
                  <a:srgbClr val="4A5563"/>
                </a:solidFill>
              </a:rPr>
              <a:t>GPU、人材、通信、国内DC基盤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A6EF6D-7B6B-481D-9035-4C6E96366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057525"/>
            <a:ext cx="1390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35" b="0" i="0">
                <a:solidFill>
                  <a:srgbClr val="4A5563"/>
                </a:solidFill>
              </a:defRPr>
            </a:pPr>
            <a:r>
              <a:rPr sz="1035" b="0" i="0">
                <a:solidFill>
                  <a:srgbClr val="4A5563"/>
                </a:solidFill>
              </a:rPr>
              <a:t>Partner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FBEF7D-F7BB-4023-B6E8-0E6356AA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67100"/>
            <a:ext cx="1057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DD2EBE-6429-422E-9EA3-E15E2A11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71875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35" b="1" i="0">
                <a:solidFill>
                  <a:srgbClr val="20242A"/>
                </a:solidFill>
              </a:defRPr>
            </a:pPr>
            <a:r>
              <a:rPr sz="1035" b="1" i="0">
                <a:solidFill>
                  <a:srgbClr val="20242A"/>
                </a:solidFill>
              </a:rPr>
              <a:t>日本語モデル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EC0DEF-FA8C-4F8D-BECD-3F6043C2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571875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35" b="0" i="0">
                <a:solidFill>
                  <a:srgbClr val="4A5563"/>
                </a:solidFill>
              </a:defRPr>
            </a:pPr>
            <a:r>
              <a:rPr sz="1035" b="0" i="0">
                <a:solidFill>
                  <a:srgbClr val="4A5563"/>
                </a:solidFill>
              </a:rPr>
              <a:t>PFN、CyberAgent、東工大/NII等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6289F6-04E8-4942-B710-D0DE8162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571875"/>
            <a:ext cx="320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35" b="0" i="0">
                <a:solidFill>
                  <a:srgbClr val="4A5563"/>
                </a:solidFill>
              </a:defRPr>
            </a:pPr>
            <a:r>
              <a:rPr sz="1035" b="0" i="0">
                <a:solidFill>
                  <a:srgbClr val="4A5563"/>
                </a:solidFill>
              </a:rPr>
              <a:t>初期共有コア・領域専門家の加速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45C647-0169-47F8-9404-66EC52199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571875"/>
            <a:ext cx="1390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35" b="0" i="0">
                <a:solidFill>
                  <a:srgbClr val="4A5563"/>
                </a:solidFill>
              </a:defRPr>
            </a:pPr>
            <a:r>
              <a:rPr sz="1035" b="0" i="0">
                <a:solidFill>
                  <a:srgbClr val="4A5563"/>
                </a:solidFill>
              </a:rPr>
              <a:t>Build/Partner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A8EB75-0633-44D9-BDF5-2A83A501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81450"/>
            <a:ext cx="1057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2"/>
          </a:solidFill>
          <a:ln xmlns:a="http://schemas.openxmlformats.org/drawingml/2006/main" w="9525">
            <a:solidFill>
              <a:srgbClr val="D9D4C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D2E47E-0D24-486C-9BB5-31C3E05F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86225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35" b="1" i="0">
                <a:solidFill>
                  <a:srgbClr val="20242A"/>
                </a:solidFill>
              </a:defRPr>
            </a:pPr>
            <a:r>
              <a:rPr sz="1035" b="1" i="0">
                <a:solidFill>
                  <a:srgbClr val="20242A"/>
                </a:solidFill>
              </a:rPr>
              <a:t>半導体基盤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639C9E-6F62-484D-AF2F-E0DCED11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086225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35" b="0" i="0">
                <a:solidFill>
                  <a:srgbClr val="4A5563"/>
                </a:solidFill>
              </a:defRPr>
            </a:pPr>
            <a:r>
              <a:rPr sz="1035" b="0" i="0">
                <a:solidFill>
                  <a:srgbClr val="4A5563"/>
                </a:solidFill>
              </a:rPr>
              <a:t>ラピダス、JASM、周辺サプライチェーン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E72FCC-8A28-4240-9AA8-BAFB8B37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86225"/>
            <a:ext cx="320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35" b="0" i="0">
                <a:solidFill>
                  <a:srgbClr val="4A5563"/>
                </a:solidFill>
              </a:defRPr>
            </a:pPr>
            <a:r>
              <a:rPr sz="1035" b="0" i="0">
                <a:solidFill>
                  <a:srgbClr val="4A5563"/>
                </a:solidFill>
              </a:rPr>
              <a:t>専用HWゲート通過後の製造接続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3E5285-D647-4663-8C27-FFF5A8AC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086225"/>
            <a:ext cx="1390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35" b="0" i="0">
                <a:solidFill>
                  <a:srgbClr val="4A5563"/>
                </a:solidFill>
              </a:defRPr>
            </a:pPr>
            <a:r>
              <a:rPr sz="1035" b="0" i="0">
                <a:solidFill>
                  <a:srgbClr val="4A5563"/>
                </a:solidFill>
              </a:rPr>
              <a:t>Partner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C4248C-2A46-4A3C-815C-39270A8B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1057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86D1E0-6375-4270-A5F1-8A84C169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00575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35" b="1" i="0">
                <a:solidFill>
                  <a:srgbClr val="20242A"/>
                </a:solidFill>
              </a:defRPr>
            </a:pPr>
            <a:r>
              <a:rPr sz="1035" b="1" i="0">
                <a:solidFill>
                  <a:srgbClr val="20242A"/>
                </a:solidFill>
              </a:rPr>
              <a:t>KairosAI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EC7EBF5-1BC3-4004-9A65-08D93F3F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600575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35" b="0" i="0">
                <a:solidFill>
                  <a:srgbClr val="4A5563"/>
                </a:solidFill>
              </a:defRPr>
            </a:pPr>
            <a:r>
              <a:rPr sz="1035" b="0" i="0">
                <a:solidFill>
                  <a:srgbClr val="4A5563"/>
                </a:solidFill>
              </a:rPr>
              <a:t>Domain Pack + 実行基盤 + 更新ループ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6D1A4FD-3D2A-412D-A9C7-F266676E1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00575"/>
            <a:ext cx="320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35" b="0" i="0">
                <a:solidFill>
                  <a:srgbClr val="4A5563"/>
                </a:solidFill>
              </a:defRPr>
            </a:pPr>
            <a:r>
              <a:rPr sz="1035" b="0" i="0">
                <a:solidFill>
                  <a:srgbClr val="4A5563"/>
                </a:solidFill>
              </a:rPr>
              <a:t>重点領域へ実装し、資産を全体戦略へ昇華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BD78BC3-74C3-4852-86E6-D653B92DC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600575"/>
            <a:ext cx="1390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35" b="0" i="0">
                <a:solidFill>
                  <a:srgbClr val="4A5563"/>
                </a:solidFill>
              </a:defRPr>
            </a:pPr>
            <a:r>
              <a:rPr sz="1035" b="0" i="0">
                <a:solidFill>
                  <a:srgbClr val="4A5563"/>
                </a:solidFill>
              </a:rPr>
              <a:t>Lead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1D22869-9D7B-4CB0-BB0D-21B7F7267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11125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0FBEDCE-1809-4734-AD41-DF4B92DF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29325"/>
            <a:ext cx="1074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1" i="0">
                <a:solidFill>
                  <a:srgbClr val="FFFFFF"/>
                </a:solidFill>
              </a:defRPr>
            </a:pPr>
            <a:r>
              <a:rPr sz="1238" b="1" i="0">
                <a:solidFill>
                  <a:srgbClr val="FFFFFF"/>
                </a:solidFill>
              </a:rPr>
              <a:t>ゼロから全てを抱えない。KairosAIが持つべき核は、重点領域の実装・評価・更新ループの所有である。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338C5CD-00BE-46FD-8ABC-0579D77E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77808C"/>
                </a:solidFill>
              </a:defRPr>
            </a:pPr>
            <a:r>
              <a:rPr sz="788" b="0" i="0">
                <a:solidFill>
                  <a:srgbClr val="77808C"/>
                </a:solidFill>
              </a:rPr>
              <a:t>Source: Provided KairosAI strategy docs, 2026-07-01</a:t>
            </a:r>
          </a:p>
        </p:txBody>
      </p:sp>
    </p:spTree>
    <p:extLst>
      <p:ext uri="{BB962C8B-B14F-4D97-AF65-F5344CB8AC3E}">
        <p14:creationId xmlns:p14="http://schemas.microsoft.com/office/powerpoint/2010/main" val="127070209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202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9D9131-8F24-43CB-BB15-6779A08C8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7191695c1c480f"/>
          <a:stretch xmlns:a="http://schemas.openxmlformats.org/drawingml/2006/main"/>
        </p:blipFill>
        <p:spPr>
          <a:xfrm xmlns:a="http://schemas.openxmlformats.org/drawingml/2006/main">
            <a:off x="685800" y="53340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27775E-A071-4B1B-8345-003FB7A58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90550"/>
            <a:ext cx="885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</a:defRPr>
            </a:pPr>
            <a:r>
              <a:rPr sz="2850" b="1" i="0">
                <a:solidFill>
                  <a:srgbClr val="FFFFFF"/>
                </a:solidFill>
              </a:rPr>
              <a:t>次に決めるべきは、最初の2〜3領域とPhase 1の実行条件である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CC5C5A-060B-495D-8A64-A2FA8161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19250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1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9837EA-860E-46C8-AECC-3C753B00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3333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7"/>
          </a:solidFill>
          <a:ln xmlns:a="http://schemas.openxmlformats.org/drawingml/2006/main" w="9525">
            <a:solidFill>
              <a:srgbClr val="5B616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2823A8-9D22-4535-9997-F65A7710B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3333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B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B048D4-ED33-4035-8989-B9E623910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00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今日決めること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8405B8-E8BD-4725-8F40-1EC4FAB7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6DCE3"/>
                </a:solidFill>
              </a:defRPr>
            </a:pPr>
            <a:r>
              <a:rPr sz="1200" b="0" i="0">
                <a:solidFill>
                  <a:srgbClr val="D6DCE3"/>
                </a:solidFill>
              </a:rPr>
              <a:t>最初に入る重点領域と顧客候補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105203-D2F4-47EF-96A6-B3741D9AE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527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6DCE3"/>
                </a:solidFill>
              </a:defRPr>
            </a:pPr>
            <a:r>
              <a:rPr sz="1200" b="0" i="0">
                <a:solidFill>
                  <a:srgbClr val="D6DCE3"/>
                </a:solidFill>
              </a:rPr>
              <a:t>Phase 1のPoC予算と成功指標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36CE7F-787A-4CF5-BF04-4E592C5F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6DCE3"/>
                </a:solidFill>
              </a:defRPr>
            </a:pPr>
            <a:r>
              <a:rPr sz="1200" b="0" i="0">
                <a:solidFill>
                  <a:srgbClr val="D6DCE3"/>
                </a:solidFill>
              </a:rPr>
              <a:t>Layer 2テレメトリの契約方針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51BC06-F855-4860-87FE-1F6833B9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90750"/>
            <a:ext cx="3333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7"/>
          </a:solidFill>
          <a:ln xmlns:a="http://schemas.openxmlformats.org/drawingml/2006/main" w="9525">
            <a:solidFill>
              <a:srgbClr val="5B616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0E5EDD-84B9-4B11-A612-745767BB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90750"/>
            <a:ext cx="3333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8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2179A2-F683-4E00-B9A1-BC342B2D8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00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今日決めないこと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457D6D-2A18-43C5-94D9-DFEA1E1A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194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6DCE3"/>
                </a:solidFill>
              </a:defRPr>
            </a:pPr>
            <a:r>
              <a:rPr sz="1200" b="0" i="0">
                <a:solidFill>
                  <a:srgbClr val="D6DCE3"/>
                </a:solidFill>
              </a:rPr>
              <a:t>国産汎用モデルのスクラッチ学習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1B4751-7994-45B1-B5E2-595638A4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1527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6DCE3"/>
                </a:solidFill>
              </a:defRPr>
            </a:pPr>
            <a:r>
              <a:rPr sz="1200" b="0" i="0">
                <a:solidFill>
                  <a:srgbClr val="D6DCE3"/>
                </a:solidFill>
              </a:rPr>
              <a:t>フルカスタムASICの着手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276842-CB3F-42B6-BC05-E9187D00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4861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6DCE3"/>
                </a:solidFill>
              </a:defRPr>
            </a:pPr>
            <a:r>
              <a:rPr sz="1200" b="0" i="0">
                <a:solidFill>
                  <a:srgbClr val="D6DCE3"/>
                </a:solidFill>
              </a:rPr>
              <a:t>全領域への一斉展開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61BA9D-0901-4D5F-A0B6-AF6974A2A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333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7"/>
          </a:solidFill>
          <a:ln xmlns:a="http://schemas.openxmlformats.org/drawingml/2006/main" w="9525">
            <a:solidFill>
              <a:srgbClr val="5B616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1FE5C9-B44F-4542-B080-7B663146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333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89FD80-0041-4D0F-8AF5-CFE4F50CE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00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次のゲート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D5BBAE-74FE-4550-A911-C4C3A56B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194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6DCE3"/>
                </a:solidFill>
              </a:defRPr>
            </a:pPr>
            <a:r>
              <a:rPr sz="1200" b="0" i="0">
                <a:solidFill>
                  <a:srgbClr val="D6DCE3"/>
                </a:solidFill>
              </a:rPr>
              <a:t>18ヶ月: 2〜3領域の評価ループ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478E04-89BB-4B5C-A1E6-221069541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527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6DCE3"/>
                </a:solidFill>
              </a:defRPr>
            </a:pPr>
            <a:r>
              <a:rPr sz="1200" b="0" i="0">
                <a:solidFill>
                  <a:srgbClr val="D6DCE3"/>
                </a:solidFill>
              </a:rPr>
              <a:t>36ヶ月: 共有コア・専用HWのgo/no-go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B89313-A285-46CC-90F9-7D4ED2D91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861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6DCE3"/>
                </a:solidFill>
              </a:defRPr>
            </a:pPr>
            <a:r>
              <a:rPr sz="1200" b="0" i="0">
                <a:solidFill>
                  <a:srgbClr val="D6DCE3"/>
                </a:solidFill>
              </a:rPr>
              <a:t>60ヶ月: 国家連携と量産判断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46657A-4B35-4F15-BE51-DC9A242B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B8BEC6"/>
                </a:solidFill>
              </a:defRPr>
            </a:pPr>
            <a:r>
              <a:rPr sz="863" b="0" i="0">
                <a:solidFill>
                  <a:srgbClr val="B8BEC6"/>
                </a:solidFill>
              </a:rPr>
              <a:t>KairosAI Pitch Deck v0.1 | Confidential draft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7FB7B9-E3E2-4AC1-9AB2-4079F23E2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1912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63" b="0" i="0">
                <a:solidFill>
                  <a:srgbClr val="B8BEC6"/>
                </a:solidFill>
              </a:defRPr>
            </a:pPr>
            <a:r>
              <a:rPr sz="863" b="0" i="0">
                <a:solidFill>
                  <a:srgbClr val="B8BEC6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3611983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2026-07-01T02:32:31.4570000Z</dcterms:created>
  <dcterms:modified xsi:type="dcterms:W3CDTF">2026-07-01T02:32:31.4570000Z</dcterms:modified>
</coreProperties>
</file>