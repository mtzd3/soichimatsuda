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a162a460fe4cd3" /><Relationship Type="http://schemas.openxmlformats.org/officeDocument/2006/relationships/extended-properties" Target="/docProps/app.xml" Id="R607b5fa615214244" /><Relationship Type="http://schemas.openxmlformats.org/officeDocument/2006/relationships/officeDocument" Target="/ppt/presentation.xml" Id="Reb0dfb66819d4e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bdc2ab1c2f4d26"/>
  </p:sldMasterIdLst>
  <p:notesMasterIdLst>
    <p:notesMasterId xmlns:r="http://schemas.openxmlformats.org/officeDocument/2006/relationships" r:id="R9553db71855d4a8c"/>
  </p:notesMasterIdLst>
  <p:sldIdLst>
    <p:sldId xmlns:r="http://schemas.openxmlformats.org/officeDocument/2006/relationships" id="256" r:id="Rd01f738d909b4d28"/>
    <p:sldId xmlns:r="http://schemas.openxmlformats.org/officeDocument/2006/relationships" id="257" r:id="Rd8b975271f804437"/>
    <p:sldId xmlns:r="http://schemas.openxmlformats.org/officeDocument/2006/relationships" id="258" r:id="R224ccac0914f4f7b"/>
    <p:sldId xmlns:r="http://schemas.openxmlformats.org/officeDocument/2006/relationships" id="259" r:id="R180d665ac5454627"/>
    <p:sldId xmlns:r="http://schemas.openxmlformats.org/officeDocument/2006/relationships" id="260" r:id="Rd1c91c38b74248ef"/>
    <p:sldId xmlns:r="http://schemas.openxmlformats.org/officeDocument/2006/relationships" id="261" r:id="Ra6f00cbb97e04e67"/>
    <p:sldId xmlns:r="http://schemas.openxmlformats.org/officeDocument/2006/relationships" id="262" r:id="R28fdf9f0ea36472c"/>
    <p:sldId xmlns:r="http://schemas.openxmlformats.org/officeDocument/2006/relationships" id="263" r:id="Rb7b6b56d1f8f4b30"/>
    <p:sldId xmlns:r="http://schemas.openxmlformats.org/officeDocument/2006/relationships" id="264" r:id="R5621d7746fcb4c4b"/>
    <p:sldId xmlns:r="http://schemas.openxmlformats.org/officeDocument/2006/relationships" id="265" r:id="R479da620f1564d9f"/>
    <p:sldId xmlns:r="http://schemas.openxmlformats.org/officeDocument/2006/relationships" id="266" r:id="R9bf13aac3afd4bbc"/>
    <p:sldId xmlns:r="http://schemas.openxmlformats.org/officeDocument/2006/relationships" id="267" r:id="R99b3ab80cc2842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bdb406b9ec4628" /><Relationship Type="http://schemas.openxmlformats.org/officeDocument/2006/relationships/slideMaster" Target="/ppt/slideMasters/slideMaster1.xml" Id="R89bdc2ab1c2f4d26" /><Relationship Type="http://schemas.openxmlformats.org/officeDocument/2006/relationships/notesMaster" Target="/ppt/notesMasters/notesMaster1.xml" Id="R9553db71855d4a8c" /><Relationship Type="http://schemas.openxmlformats.org/officeDocument/2006/relationships/presProps" Target="/ppt/presProps.xml" Id="R530fa5bb0be9481a" /><Relationship Type="http://schemas.openxmlformats.org/officeDocument/2006/relationships/viewProps" Target="/ppt/viewProps.xml" Id="Ra1d064157ca94de0" /><Relationship Type="http://schemas.openxmlformats.org/officeDocument/2006/relationships/tableStyles" Target="/ppt/tableStyles.xml" Id="R20de0d3e3bae4f2d" /><Relationship Type="http://schemas.openxmlformats.org/officeDocument/2006/relationships/slide" Target="/ppt/slides/slide1.xml" Id="Rd01f738d909b4d28" /><Relationship Type="http://schemas.openxmlformats.org/officeDocument/2006/relationships/slide" Target="/ppt/slides/slide2.xml" Id="Rd8b975271f804437" /><Relationship Type="http://schemas.openxmlformats.org/officeDocument/2006/relationships/slide" Target="/ppt/slides/slide3.xml" Id="R224ccac0914f4f7b" /><Relationship Type="http://schemas.openxmlformats.org/officeDocument/2006/relationships/slide" Target="/ppt/slides/slide4.xml" Id="R180d665ac5454627" /><Relationship Type="http://schemas.openxmlformats.org/officeDocument/2006/relationships/slide" Target="/ppt/slides/slide5.xml" Id="Rd1c91c38b74248ef" /><Relationship Type="http://schemas.openxmlformats.org/officeDocument/2006/relationships/slide" Target="/ppt/slides/slide6.xml" Id="Ra6f00cbb97e04e67" /><Relationship Type="http://schemas.openxmlformats.org/officeDocument/2006/relationships/slide" Target="/ppt/slides/slide7.xml" Id="R28fdf9f0ea36472c" /><Relationship Type="http://schemas.openxmlformats.org/officeDocument/2006/relationships/slide" Target="/ppt/slides/slide8.xml" Id="Rb7b6b56d1f8f4b30" /><Relationship Type="http://schemas.openxmlformats.org/officeDocument/2006/relationships/slide" Target="/ppt/slides/slide9.xml" Id="R5621d7746fcb4c4b" /><Relationship Type="http://schemas.openxmlformats.org/officeDocument/2006/relationships/slide" Target="/ppt/slides/slide10.xml" Id="R479da620f1564d9f" /><Relationship Type="http://schemas.openxmlformats.org/officeDocument/2006/relationships/slide" Target="/ppt/slides/slide11.xml" Id="R9bf13aac3afd4bbc" /><Relationship Type="http://schemas.openxmlformats.org/officeDocument/2006/relationships/slide" Target="/ppt/slides/slide12.xml" Id="R99b3ab80cc28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1b9bc73352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d7f45a39c34a6a" /><Relationship Type="http://schemas.openxmlformats.org/officeDocument/2006/relationships/notesMaster" Target="/ppt/notesMasters/notesMaster1.xml" Id="R8c825f428c8546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583df5d3b24248" /><Relationship Type="http://schemas.openxmlformats.org/officeDocument/2006/relationships/notesMaster" Target="/ppt/notesMasters/notesMaster1.xml" Id="Rbd708853073649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a26b7f85a14f2f" /><Relationship Type="http://schemas.openxmlformats.org/officeDocument/2006/relationships/notesMaster" Target="/ppt/notesMasters/notesMaster1.xml" Id="R1619a5db5f6248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89bcd7e2604c21" /><Relationship Type="http://schemas.openxmlformats.org/officeDocument/2006/relationships/notesMaster" Target="/ppt/notesMasters/notesMaster1.xml" Id="Ra5c86764cedf46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18c04161b64efc" /><Relationship Type="http://schemas.openxmlformats.org/officeDocument/2006/relationships/notesMaster" Target="/ppt/notesMasters/notesMaster1.xml" Id="R4570843dc8ee4f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aafccc2c304d7e" /><Relationship Type="http://schemas.openxmlformats.org/officeDocument/2006/relationships/notesMaster" Target="/ppt/notesMasters/notesMaster1.xml" Id="Rc0232306fd0449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8707e416ed4ee8" /><Relationship Type="http://schemas.openxmlformats.org/officeDocument/2006/relationships/notesMaster" Target="/ppt/notesMasters/notesMaster1.xml" Id="R95be9434d2c94a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4d69ba1d9f409e" /><Relationship Type="http://schemas.openxmlformats.org/officeDocument/2006/relationships/notesMaster" Target="/ppt/notesMasters/notesMaster1.xml" Id="Rebdf5a8dce394bf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863db027794747" /><Relationship Type="http://schemas.openxmlformats.org/officeDocument/2006/relationships/notesMaster" Target="/ppt/notesMasters/notesMaster1.xml" Id="R93c200cff88a41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f73d3993254684" /><Relationship Type="http://schemas.openxmlformats.org/officeDocument/2006/relationships/notesMaster" Target="/ppt/notesMasters/notesMaster1.xml" Id="R7059be10a2604ee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ed45c4543547b9" /><Relationship Type="http://schemas.openxmlformats.org/officeDocument/2006/relationships/notesMaster" Target="/ppt/notesMasters/notesMaster1.xml" Id="R0f7aea7ba8ef4a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86496d77834709" /><Relationship Type="http://schemas.openxmlformats.org/officeDocument/2006/relationships/notesMaster" Target="/ppt/notesMasters/notesMaster1.xml" Id="R5524bb1516b8436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503e0e472944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6ffb152e94a5b" /><Relationship Type="http://schemas.openxmlformats.org/officeDocument/2006/relationships/slideLayout" Target="/ppt/slideLayouts/slideLayout1.xml" Id="R604a5c5539bd41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4a5c5539bd41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ba431ed5d4770" /><Relationship Type="http://schemas.openxmlformats.org/officeDocument/2006/relationships/notesSlide" Target="/ppt/notesSlides/notesSlide1.xml" Id="R86c81bd31f3d48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95c315d604bda" /><Relationship Type="http://schemas.openxmlformats.org/officeDocument/2006/relationships/notesSlide" Target="/ppt/notesSlides/notesSlide2.xml" Id="Rd7ca14f3599b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44edbcf21456d" /><Relationship Type="http://schemas.openxmlformats.org/officeDocument/2006/relationships/notesSlide" Target="/ppt/notesSlides/notesSlide3.xml" Id="Rd7f5b0d0ea3e4e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b129c665f43c7" /><Relationship Type="http://schemas.openxmlformats.org/officeDocument/2006/relationships/notesSlide" Target="/ppt/notesSlides/notesSlide4.xml" Id="Rf0ab772c85394f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d13939be44e97" /><Relationship Type="http://schemas.openxmlformats.org/officeDocument/2006/relationships/notesSlide" Target="/ppt/notesSlides/notesSlide5.xml" Id="R9b941645b2fe49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3c12e58d7482d" /><Relationship Type="http://schemas.openxmlformats.org/officeDocument/2006/relationships/notesSlide" Target="/ppt/notesSlides/notesSlide6.xml" Id="R90f289e138524e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c905925564395" /><Relationship Type="http://schemas.openxmlformats.org/officeDocument/2006/relationships/notesSlide" Target="/ppt/notesSlides/notesSlide7.xml" Id="R2a5d46ab729e4c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691dc6c5b40e4" /><Relationship Type="http://schemas.openxmlformats.org/officeDocument/2006/relationships/notesSlide" Target="/ppt/notesSlides/notesSlide8.xml" Id="Rf7773adc920c47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824198926484c" /><Relationship Type="http://schemas.openxmlformats.org/officeDocument/2006/relationships/notesSlide" Target="/ppt/notesSlides/notesSlide9.xml" Id="R6a40421eba7646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03a1f18984970" /><Relationship Type="http://schemas.openxmlformats.org/officeDocument/2006/relationships/notesSlide" Target="/ppt/notesSlides/notesSlide10.xml" Id="Rca8d0609a6f844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4dbce490843bb" /><Relationship Type="http://schemas.openxmlformats.org/officeDocument/2006/relationships/notesSlide" Target="/ppt/notesSlides/notesSlide11.xml" Id="R49876688388e4bb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6f550dd734147" /><Relationship Type="http://schemas.openxmlformats.org/officeDocument/2006/relationships/notesSlide" Target="/ppt/notesSlides/notesSlide12.xml" Id="R6612932f11d542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DD81EB2-5D5B-4379-80E1-B8C34041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688A77B-6C51-488C-AD16-F74BBFFC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E5998B-0DB2-4184-8662-5AAB3467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DEMAND-DRIVEN AI INDUSTRIAL STRATEGY / 2026.06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19B53A6B-4634-41A9-A5BC-74087B44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0125"/>
            <a:ext cx="6667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アプリケーションから始め、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3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国産AI・HW基盤へ遡る。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EABDD1-C209-4D69-9C1F-2E0B92D8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647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KairosAIを起点とする需要起点型AI・HW産業戦略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E9D53-0B8C-4904-B39E-AFA149E3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47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企業実装で需要と評価をつくり、その需要からソフトウェア、</a:t>
            </a:r>
          </a:p>
          <a:p xmlns:a="http://schemas.openxmlformats.org/drawingml/2006/main">
            <a:pPr algn="l">
              <a:defRPr sz="12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計算インフラ、国産モデル、次世代ハードウェアを育てる。</a:t>
            </a:r>
          </a:p>
        </p:txBody>
      </p:sp>
      <p:sp>
        <p:nvSpPr>
          <p:cNvPr id="7" name="pill-STRATEGY DRAFT">
            <a:extLst xmlns:a="http://schemas.openxmlformats.org/drawingml/2006/main">
              <a:ext uri="{FF2B5EF4-FFF2-40B4-BE49-F238E27FC236}">
                <a16:creationId xmlns:a16="http://schemas.microsoft.com/office/drawing/2014/main" id="{95D932A7-8604-4066-B552-AFE7AE5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16D254-3532-4342-B25A-A38D10C4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STRATEGY DRAFT</a:t>
            </a:r>
          </a:p>
        </p:txBody>
      </p:sp>
      <p:sp>
        <p:nvSpPr>
          <p:cNvPr id="9" name="strategy-rail">
            <a:extLst xmlns:a="http://schemas.openxmlformats.org/drawingml/2006/main">
              <a:ext uri="{FF2B5EF4-FFF2-40B4-BE49-F238E27FC236}">
                <a16:creationId xmlns:a16="http://schemas.microsoft.com/office/drawing/2014/main" id="{ED99A92D-0462-454E-904E-15D7B48A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04875"/>
            <a:ext cx="37338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B9A2A-6BF9-48D9-9B1C-CDD219CEF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APPLICATION → INFRASTRUCTURE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52539-D5BC-4CBA-B47B-216E7014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1D60F-ABA5-4D10-AEDB-B9FF4C0B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525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企業・行政への実装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9E272F-E7ED-4CA7-BC8C-32471B27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EE978-E857-4FE7-91C6-B9F46252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955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D7377-01FC-4F08-A9AA-F587A524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統合ソフトウェア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FBA108-E465-4710-9E90-0F8D0FD4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955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8645D-6DCC-45C2-AC38-86EF8A69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194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15721-195D-4258-967C-60E3388E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国内計算インフラ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0A138-A0D1-4112-BF62-80CD1851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94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03291E-DB92-41E7-8CA2-4E069ABD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5DC8E-4DEB-49A4-9B26-14255C0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242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国産モデル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1E24E0-C3FD-4793-9A3D-CC913826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43375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F3B126-017B-42BE-914C-0989791F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67225"/>
            <a:ext cx="36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F655E8-DE64-46FF-983B-AA7DFE99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48175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AI・HW協調設計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0B48A-5CD2-4252-9D6A-B6C3B827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86375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需要と評価が、次の投資判断を決める</a:t>
            </a:r>
          </a:p>
        </p:txBody>
      </p:sp>
      <p:sp>
        <p:nvSpPr>
          <p:cNvPr id="2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167AB5EE-B62D-4F07-9287-7E134EF8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8D32AEC-D2C6-48C1-8687-A1663E34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2026-06-09.</a:t>
            </a:r>
          </a:p>
        </p:txBody>
      </p:sp>
      <p:sp>
        <p:nvSpPr>
          <p:cNvPr id="2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03D2748-81C4-4B68-A693-FB887ACB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528587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9E8079B-C84A-4844-AE30-EEBA869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5A01040-06B0-41B7-ADF3-78D26901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36BB5C4-D150-46F4-9DDF-3F5F5C20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THE PROBLEM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04BA08CD-ED17-4EFC-957A-8FF451A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モデルを先に作っても、企業の業務には届かない。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87CD6-9DCC-4605-9A0B-3395C916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SUPPLY-FIRST</a:t>
            </a:r>
          </a:p>
        </p:txBody>
      </p:sp>
      <p:sp>
        <p:nvSpPr>
          <p:cNvPr id="6" name="node-汎用LLM">
            <a:extLst xmlns:a="http://schemas.openxmlformats.org/drawingml/2006/main">
              <a:ext uri="{FF2B5EF4-FFF2-40B4-BE49-F238E27FC236}">
                <a16:creationId xmlns:a16="http://schemas.microsoft.com/office/drawing/2014/main" id="{DB291BE8-7652-4023-91C2-1B6C616CF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汎用LLM-accent">
            <a:extLst xmlns:a="http://schemas.openxmlformats.org/drawingml/2006/main">
              <a:ext uri="{FF2B5EF4-FFF2-40B4-BE49-F238E27FC236}">
                <a16:creationId xmlns:a16="http://schemas.microsoft.com/office/drawing/2014/main" id="{CFB330F2-56C9-44D1-BCC0-EF403853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7431D-9127-4F00-A982-2D0232FF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AAB1C-E50C-46C9-855B-13121A4F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汎用LLM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6F5B5-F773-4CFE-AB51-FC3730C2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高い能力を持つが、業務責任は持たない</a:t>
            </a:r>
          </a:p>
        </p:txBody>
      </p:sp>
      <p:sp>
        <p:nvSpPr>
          <p:cNvPr id="11" name="node-計算インフラ">
            <a:extLst xmlns:a="http://schemas.openxmlformats.org/drawingml/2006/main">
              <a:ext uri="{FF2B5EF4-FFF2-40B4-BE49-F238E27FC236}">
                <a16:creationId xmlns:a16="http://schemas.microsoft.com/office/drawing/2014/main" id="{B430A7B6-E7CA-4441-82EA-2B272AAA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計算インフラ-accent">
            <a:extLst xmlns:a="http://schemas.openxmlformats.org/drawingml/2006/main">
              <a:ext uri="{FF2B5EF4-FFF2-40B4-BE49-F238E27FC236}">
                <a16:creationId xmlns:a16="http://schemas.microsoft.com/office/drawing/2014/main" id="{66A3342E-5F34-4B58-A51E-51919A31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76F9B-CC6C-4C56-9A4D-B3CA3EA5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COMPUTE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0FBA2-ADA4-4B9A-8EDC-A3CE0ED1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計算インフラ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EFA99-3EA0-442B-AF0E-225B7E7F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供給能力はあるが、実需要が見えない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55EE1B-7713-4B98-A9EA-8F9D3832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526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THE IMPLEMENTATION GAP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C79827-5B27-4CB8-8D0F-79856B8B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62250"/>
            <a:ext cx="147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E9CC3-5460-4EB7-AF9F-0285C21E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62250"/>
            <a:ext cx="1476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implementation-gap">
            <a:extLst xmlns:a="http://schemas.openxmlformats.org/drawingml/2006/main">
              <a:ext uri="{FF2B5EF4-FFF2-40B4-BE49-F238E27FC236}">
                <a16:creationId xmlns:a16="http://schemas.microsoft.com/office/drawing/2014/main" id="{C12E2D01-D93F-4E73-A82B-6B7E0931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764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C27C4-9AA4-4B5D-B909-B7781BA2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企業実装に必要な層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67C16-5CB3-4A37-82A9-2757204F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66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業務文脈  /  根拠  /  権限</a:t>
            </a:r>
          </a:p>
          <a:p xmlns:a="http://schemas.openxmlformats.org/drawingml/2006/main">
            <a:pPr algn="ctr">
              <a:defRPr sz="120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Policy  /  Workflow  /  監査</a:t>
            </a:r>
          </a:p>
          <a:p xmlns:a="http://schemas.openxmlformats.org/drawingml/2006/main">
            <a:pPr algn="ctr">
              <a:defRPr sz="120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ROI・品質・電力の評価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A4F953-568F-4371-80A4-6DDC3E3B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333875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欠けたままでは、モデルはPoCで止まる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321C4E-95B8-42EF-B648-06A47652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145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BUSINESS EXECUTION</a:t>
            </a:r>
          </a:p>
        </p:txBody>
      </p:sp>
      <p:sp>
        <p:nvSpPr>
          <p:cNvPr id="24" name="node-企業固有の業務">
            <a:extLst xmlns:a="http://schemas.openxmlformats.org/drawingml/2006/main">
              <a:ext uri="{FF2B5EF4-FFF2-40B4-BE49-F238E27FC236}">
                <a16:creationId xmlns:a16="http://schemas.microsoft.com/office/drawing/2014/main" id="{78120744-52EF-403A-9CB2-A990D8D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企業固有の業務-accent">
            <a:extLst xmlns:a="http://schemas.openxmlformats.org/drawingml/2006/main">
              <a:ext uri="{FF2B5EF4-FFF2-40B4-BE49-F238E27FC236}">
                <a16:creationId xmlns:a16="http://schemas.microsoft.com/office/drawing/2014/main" id="{A20E9F23-459E-45C4-95FC-3C6B604B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716A0E-243F-4A80-949B-9D01E956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526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ENTERPRISE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79B28-0E3F-438E-A7A5-3C9FA0AC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7172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企業固有の業務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BEEBC4-97B1-4148-A7D5-EBE94271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責任・監査・既存システムと接続</a:t>
            </a:r>
          </a:p>
        </p:txBody>
      </p:sp>
      <p:sp>
        <p:nvSpPr>
          <p:cNvPr id="29" name="node-継続利用と成果">
            <a:extLst xmlns:a="http://schemas.openxmlformats.org/drawingml/2006/main">
              <a:ext uri="{FF2B5EF4-FFF2-40B4-BE49-F238E27FC236}">
                <a16:creationId xmlns:a16="http://schemas.microsoft.com/office/drawing/2014/main" id="{61B26FC0-149D-4D31-B845-1F695E63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2286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継続利用と成果-accent">
            <a:extLst xmlns:a="http://schemas.openxmlformats.org/drawingml/2006/main">
              <a:ext uri="{FF2B5EF4-FFF2-40B4-BE49-F238E27FC236}">
                <a16:creationId xmlns:a16="http://schemas.microsoft.com/office/drawing/2014/main" id="{B725BBE3-59E0-4FEB-910B-E1976750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81375"/>
            <a:ext cx="571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F9DB3-5433-4BF3-84D5-60E63ADE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8615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OUTCOME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E0CF48-BFEB-43C7-87D5-367563A2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05225"/>
            <a:ext cx="1981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継続利用と成果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8F8F0A-A2DB-407B-81CB-621D9CF7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14800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利用量と価値が国内に蓄積する</a:t>
            </a:r>
          </a:p>
        </p:txBody>
      </p:sp>
      <p:sp>
        <p:nvSpPr>
          <p:cNvPr id="34" name="bottom-claim">
            <a:extLst xmlns:a="http://schemas.openxmlformats.org/drawingml/2006/main">
              <a:ext uri="{FF2B5EF4-FFF2-40B4-BE49-F238E27FC236}">
                <a16:creationId xmlns:a16="http://schemas.microsoft.com/office/drawing/2014/main" id="{FB553D68-A07D-4E3A-B354-FC772428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91B967-DE83-4E59-8D19-73C7F9B4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供給能力を作る前に、利用される条件と需要を作る。</a:t>
            </a:r>
          </a:p>
        </p:txBody>
      </p:sp>
      <p:sp>
        <p:nvSpPr>
          <p:cNvPr id="3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10F6CF9-82AF-40CD-9005-A44FB521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5C0A8FA-BF13-4F50-9E6B-62BCEAEE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sections 2–3.</a:t>
            </a:r>
          </a:p>
        </p:txBody>
      </p:sp>
      <p:sp>
        <p:nvSpPr>
          <p:cNvPr id="3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0C892E-1D93-44F6-A2C2-F417B079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388110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A3B260C-6158-47C0-BB4A-45B9B0E2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585293-A078-4264-BE5A-6D1A11D4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67DE578-87B2-4C05-B5BE-5A690BE6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SYSTEM THESIS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02F77B3-C067-400E-86D5-AB6BD214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AIとHWは、業務成果まで含む一つのシステムである。</a:t>
            </a:r>
          </a:p>
        </p:txBody>
      </p:sp>
      <p:sp>
        <p:nvSpPr>
          <p:cNvPr id="5" name="governing-metric">
            <a:extLst xmlns:a="http://schemas.openxmlformats.org/drawingml/2006/main">
              <a:ext uri="{FF2B5EF4-FFF2-40B4-BE49-F238E27FC236}">
                <a16:creationId xmlns:a16="http://schemas.microsoft.com/office/drawing/2014/main" id="{77158E7C-93F7-497B-9FDD-5556D4E8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A8DBD-8791-4C36-AC71-A8A2D1C7A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GOVERNING 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AB1659-7186-4D51-AD05-28773795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81175"/>
            <a:ext cx="581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business outcome per joule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CE99E-4A82-438A-8693-EF1A2851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478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品質・時間・コスト・電力を、業務成果で統合評価</a:t>
            </a:r>
          </a:p>
        </p:txBody>
      </p:sp>
      <p:sp>
        <p:nvSpPr>
          <p:cNvPr id="9" name="system-layer-1">
            <a:extLst xmlns:a="http://schemas.openxmlformats.org/drawingml/2006/main">
              <a:ext uri="{FF2B5EF4-FFF2-40B4-BE49-F238E27FC236}">
                <a16:creationId xmlns:a16="http://schemas.microsoft.com/office/drawing/2014/main" id="{EBC923CA-A5FE-4E2A-A4F6-1860B7F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ystem-layer-1-accent">
            <a:extLst xmlns:a="http://schemas.openxmlformats.org/drawingml/2006/main">
              <a:ext uri="{FF2B5EF4-FFF2-40B4-BE49-F238E27FC236}">
                <a16:creationId xmlns:a16="http://schemas.microsoft.com/office/drawing/2014/main" id="{B0EBA440-AAF7-4060-AAFF-3C191402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14625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61244-AA2E-48CB-B979-6141DA2D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業務成果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7EC6E-FBDD-4F62-9DC7-7D8835C2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813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例外解決 / 承認 / 点検 / 意思決定</a:t>
            </a:r>
          </a:p>
        </p:txBody>
      </p:sp>
      <p:sp>
        <p:nvSpPr>
          <p:cNvPr id="13" name="system-layer-2">
            <a:extLst xmlns:a="http://schemas.openxmlformats.org/drawingml/2006/main">
              <a:ext uri="{FF2B5EF4-FFF2-40B4-BE49-F238E27FC236}">
                <a16:creationId xmlns:a16="http://schemas.microsoft.com/office/drawing/2014/main" id="{F9031486-EA6C-4052-9377-FD787BF9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ystem-layer-2-accent">
            <a:extLst xmlns:a="http://schemas.openxmlformats.org/drawingml/2006/main">
              <a:ext uri="{FF2B5EF4-FFF2-40B4-BE49-F238E27FC236}">
                <a16:creationId xmlns:a16="http://schemas.microsoft.com/office/drawing/2014/main" id="{B6AF2C90-68D6-4CAE-9446-6BE0B8E7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1CC094-5D08-410B-9309-A21FE47F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アプリケーション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FE800-5C64-41A5-93CA-DA8947A7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Domain Pack / Policy / Workflow</a:t>
            </a:r>
          </a:p>
        </p:txBody>
      </p:sp>
      <p:sp>
        <p:nvSpPr>
          <p:cNvPr id="17" name="system-layer-3">
            <a:extLst xmlns:a="http://schemas.openxmlformats.org/drawingml/2006/main">
              <a:ext uri="{FF2B5EF4-FFF2-40B4-BE49-F238E27FC236}">
                <a16:creationId xmlns:a16="http://schemas.microsoft.com/office/drawing/2014/main" id="{11997125-35EE-4995-83DB-49D2B2E8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ystem-layer-3-accent">
            <a:extLst xmlns:a="http://schemas.openxmlformats.org/drawingml/2006/main">
              <a:ext uri="{FF2B5EF4-FFF2-40B4-BE49-F238E27FC236}">
                <a16:creationId xmlns:a16="http://schemas.microsoft.com/office/drawing/2014/main" id="{6C421273-14E3-4401-96E7-3980C016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CC204-8D92-4E1F-848F-2AA6A4CD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モデル・ソフトウェア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310D48-CF2C-4338-9561-E51BB175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862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Model Gateway / Compiler / Runtime</a:t>
            </a:r>
          </a:p>
        </p:txBody>
      </p:sp>
      <p:sp>
        <p:nvSpPr>
          <p:cNvPr id="21" name="system-layer-4">
            <a:extLst xmlns:a="http://schemas.openxmlformats.org/drawingml/2006/main">
              <a:ext uri="{FF2B5EF4-FFF2-40B4-BE49-F238E27FC236}">
                <a16:creationId xmlns:a16="http://schemas.microsoft.com/office/drawing/2014/main" id="{1677796B-BCCB-4B6A-9860-879221A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ystem-layer-4-accent">
            <a:extLst xmlns:a="http://schemas.openxmlformats.org/drawingml/2006/main">
              <a:ext uri="{FF2B5EF4-FFF2-40B4-BE49-F238E27FC236}">
                <a16:creationId xmlns:a16="http://schemas.microsoft.com/office/drawing/2014/main" id="{08535899-63C8-4C21-B15F-323E534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71975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D5FE8-5DBC-469C-B215-6F9AC97D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386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計算インフラ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3C9D4-2BB4-41DA-8BD5-6C8D077D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Cloud / On-prem / Edge / Network</a:t>
            </a:r>
          </a:p>
        </p:txBody>
      </p:sp>
      <p:sp>
        <p:nvSpPr>
          <p:cNvPr id="25" name="system-layer-5">
            <a:extLst xmlns:a="http://schemas.openxmlformats.org/drawingml/2006/main">
              <a:ext uri="{FF2B5EF4-FFF2-40B4-BE49-F238E27FC236}">
                <a16:creationId xmlns:a16="http://schemas.microsoft.com/office/drawing/2014/main" id="{6E81FBB8-BFC3-4198-BF1C-5A06BDC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ystem-layer-5-accent">
            <a:extLst xmlns:a="http://schemas.openxmlformats.org/drawingml/2006/main">
              <a:ext uri="{FF2B5EF4-FFF2-40B4-BE49-F238E27FC236}">
                <a16:creationId xmlns:a16="http://schemas.microsoft.com/office/drawing/2014/main" id="{090025E1-0A19-45C5-B135-78499DE9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24425"/>
            <a:ext cx="95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24678F-4994-49CA-9953-E552888B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ハードウェア・電力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AC73F-B455-4E26-BE27-1FB2B71C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911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Accelerator / Memory / Cooling / Power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D9DE0-48FD-4A6F-A133-4F543B9F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8654D4-FCC1-4A86-9949-B9412359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85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最適化単位を「モデル」から「業務を完了するシステム全体」へ広げる。</a:t>
            </a:r>
          </a:p>
        </p:txBody>
      </p:sp>
      <p:sp>
        <p:nvSpPr>
          <p:cNvPr id="3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20AA9A3-0B48-4EFF-A5E8-7A15AE40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4F5AD910-B1CE-4571-B096-21562EA8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Source: AI+HW 2035; KairosAI Demand-driven AI &amp; HW Strategy, sections 2 and 6.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B101020-9380-4F5E-996E-336BBE6B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144509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88636ED-83FE-4AA5-A5C6-570426BA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E086A1C-3E51-4362-B607-8B3D5038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943181D-D83A-41C5-A3F2-BF394863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KAIROSAI'S ROLE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D67EC637-1761-4D40-BD45-4415AAFF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KairosAIは、企業実装と計算基盤をつなぐ制御面になる。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25752-FC85-4103-ABE7-2157CB79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EXISTING PRODUCT ASSETS</a:t>
            </a:r>
          </a:p>
        </p:txBody>
      </p:sp>
      <p:sp>
        <p:nvSpPr>
          <p:cNvPr id="6" name="node-Canonical Event">
            <a:extLst xmlns:a="http://schemas.openxmlformats.org/drawingml/2006/main">
              <a:ext uri="{FF2B5EF4-FFF2-40B4-BE49-F238E27FC236}">
                <a16:creationId xmlns:a16="http://schemas.microsoft.com/office/drawing/2014/main" id="{7F80CDEC-CE98-45F2-AB56-96E108BE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Canonical Event-accent">
            <a:extLst xmlns:a="http://schemas.openxmlformats.org/drawingml/2006/main">
              <a:ext uri="{FF2B5EF4-FFF2-40B4-BE49-F238E27FC236}">
                <a16:creationId xmlns:a16="http://schemas.microsoft.com/office/drawing/2014/main" id="{3A570CB1-6226-48D6-AC53-08A6818A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D5339-407D-40AA-87BF-F88E4170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Canonical Event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834920-B9A3-4206-86C1-757370C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業務とAI実行を共通形式で記録</a:t>
            </a:r>
          </a:p>
        </p:txBody>
      </p:sp>
      <p:sp>
        <p:nvSpPr>
          <p:cNvPr id="10" name="node-Knowledge Graph">
            <a:extLst xmlns:a="http://schemas.openxmlformats.org/drawingml/2006/main">
              <a:ext uri="{FF2B5EF4-FFF2-40B4-BE49-F238E27FC236}">
                <a16:creationId xmlns:a16="http://schemas.microsoft.com/office/drawing/2014/main" id="{9986C6D2-0D49-48CC-9E29-D0268AAC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Knowledge Graph-accent">
            <a:extLst xmlns:a="http://schemas.openxmlformats.org/drawingml/2006/main">
              <a:ext uri="{FF2B5EF4-FFF2-40B4-BE49-F238E27FC236}">
                <a16:creationId xmlns:a16="http://schemas.microsoft.com/office/drawing/2014/main" id="{0D60BA85-C829-441E-A3D4-022C3A0F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EF1D78-811E-43A7-8818-056D1ACA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76575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Knowledge 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40243-72B8-4959-A2B2-48DFD67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根拠・関係・Outcomeを保存</a:t>
            </a:r>
          </a:p>
        </p:txBody>
      </p:sp>
      <p:sp>
        <p:nvSpPr>
          <p:cNvPr id="14" name="node-Evaluation Bus">
            <a:extLst xmlns:a="http://schemas.openxmlformats.org/drawingml/2006/main">
              <a:ext uri="{FF2B5EF4-FFF2-40B4-BE49-F238E27FC236}">
                <a16:creationId xmlns:a16="http://schemas.microsoft.com/office/drawing/2014/main" id="{2979FF5E-B127-4788-9C74-CA84CD36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Evaluation Bus-accent">
            <a:extLst xmlns:a="http://schemas.openxmlformats.org/drawingml/2006/main">
              <a:ext uri="{FF2B5EF4-FFF2-40B4-BE49-F238E27FC236}">
                <a16:creationId xmlns:a16="http://schemas.microsoft.com/office/drawing/2014/main" id="{B460589C-BEB1-446A-93A9-6307F9B8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D969F-57F1-4167-995C-D4EA2F45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Evaluation Bus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93D350-FCF8-4334-8B93-F457D146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053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品質・コスト・成果を評価</a:t>
            </a:r>
          </a:p>
        </p:txBody>
      </p:sp>
      <p:sp>
        <p:nvSpPr>
          <p:cNvPr id="18" name="kairos-control-plane">
            <a:extLst xmlns:a="http://schemas.openxmlformats.org/drawingml/2006/main">
              <a:ext uri="{FF2B5EF4-FFF2-40B4-BE49-F238E27FC236}">
                <a16:creationId xmlns:a16="http://schemas.microsoft.com/office/drawing/2014/main" id="{DFE713CC-1294-4DA9-86D4-EEC183F4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4476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7FF90-835D-41A3-AA70-342B43FB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71700"/>
            <a:ext cx="3714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D9180-A13B-4EE5-98BE-01B741B2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43175"/>
            <a:ext cx="371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Execution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Control Plane</a:t>
            </a:r>
          </a:p>
        </p:txBody>
      </p:sp>
      <p:sp>
        <p:nvSpPr>
          <p:cNvPr id="21" name="control-module-1">
            <a:extLst xmlns:a="http://schemas.openxmlformats.org/drawingml/2006/main">
              <a:ext uri="{FF2B5EF4-FFF2-40B4-BE49-F238E27FC236}">
                <a16:creationId xmlns:a16="http://schemas.microsoft.com/office/drawing/2014/main" id="{A3B19A17-76D7-4C03-BA22-6188FF1F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052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control-module-1-accent">
            <a:extLst xmlns:a="http://schemas.openxmlformats.org/drawingml/2006/main">
              <a:ext uri="{FF2B5EF4-FFF2-40B4-BE49-F238E27FC236}">
                <a16:creationId xmlns:a16="http://schemas.microsoft.com/office/drawing/2014/main" id="{E2C80A02-6677-4933-BBBC-014B4780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05225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C7342-1FD0-4074-846B-D6A777D1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957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Policy Engine</a:t>
            </a:r>
          </a:p>
        </p:txBody>
      </p:sp>
      <p:sp>
        <p:nvSpPr>
          <p:cNvPr id="24" name="control-module-2">
            <a:extLst xmlns:a="http://schemas.openxmlformats.org/drawingml/2006/main">
              <a:ext uri="{FF2B5EF4-FFF2-40B4-BE49-F238E27FC236}">
                <a16:creationId xmlns:a16="http://schemas.microsoft.com/office/drawing/2014/main" id="{D627CB4A-A3D5-4FE9-A330-CDA17F7A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7052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control-module-2-accent">
            <a:extLst xmlns:a="http://schemas.openxmlformats.org/drawingml/2006/main">
              <a:ext uri="{FF2B5EF4-FFF2-40B4-BE49-F238E27FC236}">
                <a16:creationId xmlns:a16="http://schemas.microsoft.com/office/drawing/2014/main" id="{661734A0-E29B-46AB-B996-29605265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705225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493D7-EF7C-4637-A40E-20EDA84C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8957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511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Model / Compute Router</a:t>
            </a:r>
          </a:p>
        </p:txBody>
      </p:sp>
      <p:sp>
        <p:nvSpPr>
          <p:cNvPr id="27" name="control-module-3">
            <a:extLst xmlns:a="http://schemas.openxmlformats.org/drawingml/2006/main">
              <a:ext uri="{FF2B5EF4-FFF2-40B4-BE49-F238E27FC236}">
                <a16:creationId xmlns:a16="http://schemas.microsoft.com/office/drawing/2014/main" id="{3B9591D0-A2B4-48BC-AA4B-AE26E0A8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05225"/>
            <a:ext cx="11239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control-module-3-accent">
            <a:extLst xmlns:a="http://schemas.openxmlformats.org/drawingml/2006/main">
              <a:ext uri="{FF2B5EF4-FFF2-40B4-BE49-F238E27FC236}">
                <a16:creationId xmlns:a16="http://schemas.microsoft.com/office/drawing/2014/main" id="{47E5C88C-EE73-4718-9655-D8462297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705225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EE4F00-2C14-4D0E-9EBA-D31DB620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895725"/>
            <a:ext cx="971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Workflow Engine</a:t>
            </a:r>
          </a:p>
        </p:txBody>
      </p:sp>
      <p:sp>
        <p:nvSpPr>
          <p:cNvPr id="30" name="pill-監査可能な判断と実行">
            <a:extLst xmlns:a="http://schemas.openxmlformats.org/drawingml/2006/main">
              <a:ext uri="{FF2B5EF4-FFF2-40B4-BE49-F238E27FC236}">
                <a16:creationId xmlns:a16="http://schemas.microsoft.com/office/drawing/2014/main" id="{A48A282D-59A6-4E58-A5A3-B19DA35E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72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7ABD20-BDF3-4EE1-90D0-184458D8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58152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監査可能な判断と実行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64DC3A-253D-492C-A09F-374B0A40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5735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EXPANDED CONTROL SCOPE</a:t>
            </a:r>
          </a:p>
        </p:txBody>
      </p:sp>
      <p:sp>
        <p:nvSpPr>
          <p:cNvPr id="33" name="node-モデル選択">
            <a:extLst xmlns:a="http://schemas.openxmlformats.org/drawingml/2006/main">
              <a:ext uri="{FF2B5EF4-FFF2-40B4-BE49-F238E27FC236}">
                <a16:creationId xmlns:a16="http://schemas.microsoft.com/office/drawing/2014/main" id="{552518FF-9CD4-482F-9B77-45289685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モデル選択-accent">
            <a:extLst xmlns:a="http://schemas.openxmlformats.org/drawingml/2006/main">
              <a:ext uri="{FF2B5EF4-FFF2-40B4-BE49-F238E27FC236}">
                <a16:creationId xmlns:a16="http://schemas.microsoft.com/office/drawing/2014/main" id="{1E2FE282-26EA-44B0-9D1D-F4C954E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002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E2A225-AD22-4599-8A11-4179A01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162175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モデル選択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464650-5AEA-4C75-B397-57876239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4765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精度・機密性・コストで選ぶ</a:t>
            </a:r>
          </a:p>
        </p:txBody>
      </p:sp>
      <p:sp>
        <p:nvSpPr>
          <p:cNvPr id="37" name="node-実行場所選択">
            <a:extLst xmlns:a="http://schemas.openxmlformats.org/drawingml/2006/main">
              <a:ext uri="{FF2B5EF4-FFF2-40B4-BE49-F238E27FC236}">
                <a16:creationId xmlns:a16="http://schemas.microsoft.com/office/drawing/2014/main" id="{F6C056FB-F7C3-40C5-8159-4A2CF046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1465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実行場所選択-accent">
            <a:extLst xmlns:a="http://schemas.openxmlformats.org/drawingml/2006/main">
              <a:ext uri="{FF2B5EF4-FFF2-40B4-BE49-F238E27FC236}">
                <a16:creationId xmlns:a16="http://schemas.microsoft.com/office/drawing/2014/main" id="{338D9CA9-B772-413E-83BF-A8304544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146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C79602-3CDF-4BEB-B098-EBCFB3C1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076575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実行場所選択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6D24BA-3E7A-43D7-9010-67D43739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3909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Cloud / On-prem / Edge</a:t>
            </a:r>
          </a:p>
        </p:txBody>
      </p:sp>
      <p:sp>
        <p:nvSpPr>
          <p:cNvPr id="41" name="node-資源効率の学習">
            <a:extLst xmlns:a="http://schemas.openxmlformats.org/drawingml/2006/main">
              <a:ext uri="{FF2B5EF4-FFF2-40B4-BE49-F238E27FC236}">
                <a16:creationId xmlns:a16="http://schemas.microsoft.com/office/drawing/2014/main" id="{43F48607-3F82-4AE0-8028-16DB1A08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2333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2" name="資源効率の学習-accent">
            <a:extLst xmlns:a="http://schemas.openxmlformats.org/drawingml/2006/main">
              <a:ext uri="{FF2B5EF4-FFF2-40B4-BE49-F238E27FC236}">
                <a16:creationId xmlns:a16="http://schemas.microsoft.com/office/drawing/2014/main" id="{D982BF35-F2FC-4A23-BB01-9B563566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29050"/>
            <a:ext cx="57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F0E66F-8027-4F80-80B1-3B60D2CE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990975"/>
            <a:ext cx="20288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資源効率の学習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F7C5CB-6AB2-4EB5-819B-35183223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05300"/>
            <a:ext cx="20288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業務成果までフィードバック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000375" y="2371725"/>
            <a:ext cx="85725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6B6B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000375" y="3286125"/>
            <a:ext cx="8572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5C84C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3000375" y="3429000"/>
            <a:ext cx="85725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9D98E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18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8334375" y="2371725"/>
            <a:ext cx="85725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7D3C4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18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8334375" y="3286125"/>
            <a:ext cx="8572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8A4C"/>
            </a:solidFill>
            <a:prstDash val="solid"/>
          </a:ln>
        </p:spPr>
      </p:cxnSp>
      <p:cxnSp>
        <p:nvCxnSpPr>
          <p:cNvPr id="50" name=""/>
          <p:cNvCxnSpPr>
            <a:stCxn xmlns:a="http://schemas.openxmlformats.org/drawingml/2006/main" id="1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334375" y="3429000"/>
            <a:ext cx="857250" cy="771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9D98E"/>
            </a:solidFill>
            <a:prstDash val="solid"/>
          </a:ln>
        </p:spPr>
      </p:cxnSp>
      <p:sp>
        <p:nvSpPr>
          <p:cNvPr id="51" name="role-claim">
            <a:extLst xmlns:a="http://schemas.openxmlformats.org/drawingml/2006/main">
              <a:ext uri="{FF2B5EF4-FFF2-40B4-BE49-F238E27FC236}">
                <a16:creationId xmlns:a16="http://schemas.microsoft.com/office/drawing/2014/main" id="{E09C290C-A774-43A6-B7C5-EC5A52D7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F8600E-2BC2-46BB-8631-69AAB7EB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34025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アプリケーション企業の位置から、国内AIエコシステムの需要・評価・実行を統合する。</a:t>
            </a:r>
          </a:p>
        </p:txBody>
      </p:sp>
      <p:sp>
        <p:nvSpPr>
          <p:cNvPr id="5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D0208585-A3E5-4C38-B62C-4739B70E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9901498-7B7C-4096-AC04-FB30086D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sections 4–5.</a:t>
            </a:r>
          </a:p>
        </p:txBody>
      </p:sp>
      <p:sp>
        <p:nvSpPr>
          <p:cNvPr id="5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0C69E5C-9470-4E05-B5E1-FF3301C7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30788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00159B-D760-45BE-835D-1AE4973E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216D555-65EB-47A6-B8FC-EAB3612D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9FE90DE-71FE-44B4-B668-C0C9D27D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DEMAND FLYWHEEL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214E5B6-703C-4DA4-883D-FC0135A6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企業実装が、国産AI基盤を育てる需要循環を生む。</a:t>
            </a:r>
          </a:p>
        </p:txBody>
      </p:sp>
      <p:sp>
        <p:nvSpPr>
          <p:cNvPr id="5" name="flywheel-center">
            <a:extLst xmlns:a="http://schemas.openxmlformats.org/drawingml/2006/main">
              <a:ext uri="{FF2B5EF4-FFF2-40B4-BE49-F238E27FC236}">
                <a16:creationId xmlns:a16="http://schemas.microsoft.com/office/drawing/2014/main" id="{C60480C1-F958-466C-B676-5AF14990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667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77EC7-5703-40FB-8D95-4266D73C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FB5D6-C361-4F00-998E-B8F05226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90875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需要・評価・実行を</a:t>
            </a:r>
          </a:p>
          <a:p xmlns:a="http://schemas.openxmlformats.org/drawingml/2006/main">
            <a:pPr algn="ctr">
              <a:def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一つのループにする</a:t>
            </a:r>
          </a:p>
        </p:txBody>
      </p:sp>
      <p:sp>
        <p:nvSpPr>
          <p:cNvPr id="8" name="flywheel-1">
            <a:extLst xmlns:a="http://schemas.openxmlformats.org/drawingml/2006/main">
              <a:ext uri="{FF2B5EF4-FFF2-40B4-BE49-F238E27FC236}">
                <a16:creationId xmlns:a16="http://schemas.microsoft.com/office/drawing/2014/main" id="{EC169D95-A6F5-4F32-BAF2-C96364E8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tage-1">
            <a:extLst xmlns:a="http://schemas.openxmlformats.org/drawingml/2006/main">
              <a:ext uri="{FF2B5EF4-FFF2-40B4-BE49-F238E27FC236}">
                <a16:creationId xmlns:a16="http://schemas.microsoft.com/office/drawing/2014/main" id="{EBC6350A-360C-4CE5-A4B9-EFD480BC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6E76FE-6D75-46A5-9B68-B73F5093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289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39474-D8F7-4233-9B75-F8E47D43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289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企業・行政への実装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1B42C-66E4-40C2-9C08-23373CA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業務成果を生む</a:t>
            </a:r>
          </a:p>
        </p:txBody>
      </p:sp>
      <p:sp>
        <p:nvSpPr>
          <p:cNvPr id="13" name="flywheel-2">
            <a:extLst xmlns:a="http://schemas.openxmlformats.org/drawingml/2006/main">
              <a:ext uri="{FF2B5EF4-FFF2-40B4-BE49-F238E27FC236}">
                <a16:creationId xmlns:a16="http://schemas.microsoft.com/office/drawing/2014/main" id="{908EF047-30B1-4126-A317-EAF517C8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240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tage-2">
            <a:extLst xmlns:a="http://schemas.openxmlformats.org/drawingml/2006/main">
              <a:ext uri="{FF2B5EF4-FFF2-40B4-BE49-F238E27FC236}">
                <a16:creationId xmlns:a16="http://schemas.microsoft.com/office/drawing/2014/main" id="{C9239643-DE68-4D7D-9149-182CB225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66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4635C-5472-4249-ABCA-F12E1871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764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9BC3E-DD78-4BDD-9B5D-5A64CFE1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764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実需要・評価データ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880FE7-47DE-46ED-A83E-6FD4CE10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47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必要能力を知る</a:t>
            </a:r>
          </a:p>
        </p:txBody>
      </p:sp>
      <p:sp>
        <p:nvSpPr>
          <p:cNvPr id="18" name="flywheel-3">
            <a:extLst xmlns:a="http://schemas.openxmlformats.org/drawingml/2006/main">
              <a:ext uri="{FF2B5EF4-FFF2-40B4-BE49-F238E27FC236}">
                <a16:creationId xmlns:a16="http://schemas.microsoft.com/office/drawing/2014/main" id="{9F650B77-B83F-4576-BECC-23E91355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81125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tage-3">
            <a:extLst xmlns:a="http://schemas.openxmlformats.org/drawingml/2006/main">
              <a:ext uri="{FF2B5EF4-FFF2-40B4-BE49-F238E27FC236}">
                <a16:creationId xmlns:a16="http://schemas.microsoft.com/office/drawing/2014/main" id="{EEC47E76-1CF6-4BC9-8D47-62BAE1B2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24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ACC7C-5C20-43D0-9C4B-82B8494E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335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036B9A-5D4D-46C6-A8C4-E711217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33525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共通ソフトウェア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9B56A-81A2-4A06-B9E8-83849042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050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モデルとHWを統合</a:t>
            </a:r>
          </a:p>
        </p:txBody>
      </p:sp>
      <p:sp>
        <p:nvSpPr>
          <p:cNvPr id="23" name="flywheel-4">
            <a:extLst xmlns:a="http://schemas.openxmlformats.org/drawingml/2006/main">
              <a:ext uri="{FF2B5EF4-FFF2-40B4-BE49-F238E27FC236}">
                <a16:creationId xmlns:a16="http://schemas.microsoft.com/office/drawing/2014/main" id="{E1A93A43-6D88-4EB4-A47F-024CD772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tage-4">
            <a:extLst xmlns:a="http://schemas.openxmlformats.org/drawingml/2006/main">
              <a:ext uri="{FF2B5EF4-FFF2-40B4-BE49-F238E27FC236}">
                <a16:creationId xmlns:a16="http://schemas.microsoft.com/office/drawing/2014/main" id="{2CA460C5-5F9C-4F07-8748-CF1C260E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FF8A4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73258-6FEB-4791-AE7D-AA25A6F9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764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5577FC-F3BA-4170-B37A-0E128248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764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国内計算インフラ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665512-0F00-45E3-8A98-17DF144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47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需要を束ねて整備</a:t>
            </a:r>
          </a:p>
        </p:txBody>
      </p:sp>
      <p:sp>
        <p:nvSpPr>
          <p:cNvPr id="28" name="flywheel-5">
            <a:extLst xmlns:a="http://schemas.openxmlformats.org/drawingml/2006/main">
              <a:ext uri="{FF2B5EF4-FFF2-40B4-BE49-F238E27FC236}">
                <a16:creationId xmlns:a16="http://schemas.microsoft.com/office/drawing/2014/main" id="{D1CCFC89-37FC-4FB8-941D-24CE8746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tage-5">
            <a:extLst xmlns:a="http://schemas.openxmlformats.org/drawingml/2006/main">
              <a:ext uri="{FF2B5EF4-FFF2-40B4-BE49-F238E27FC236}">
                <a16:creationId xmlns:a16="http://schemas.microsoft.com/office/drawing/2014/main" id="{B3E2FD6B-BDDF-434E-8B3B-9E78CB8F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03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5CFD0-0C3F-4B64-A04E-C4D16A4E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099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4DD309-3876-4A6E-9FC5-DE1629A8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0099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国産モデル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800866-5B69-44F1-B04A-0120C2E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3813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実需要から開発</a:t>
            </a:r>
          </a:p>
        </p:txBody>
      </p:sp>
      <p:sp>
        <p:nvSpPr>
          <p:cNvPr id="33" name="flywheel-6">
            <a:extLst xmlns:a="http://schemas.openxmlformats.org/drawingml/2006/main">
              <a:ext uri="{FF2B5EF4-FFF2-40B4-BE49-F238E27FC236}">
                <a16:creationId xmlns:a16="http://schemas.microsoft.com/office/drawing/2014/main" id="{68BDCA95-4E5B-45D7-93C0-99D3289C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tage-6">
            <a:extLst xmlns:a="http://schemas.openxmlformats.org/drawingml/2006/main">
              <a:ext uri="{FF2B5EF4-FFF2-40B4-BE49-F238E27FC236}">
                <a16:creationId xmlns:a16="http://schemas.microsoft.com/office/drawing/2014/main" id="{2B7B0D60-8F7B-47FB-ADDC-A959B898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14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E4D583-9FF6-4E2F-A5FF-58ACE72A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7244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F867E4-EBA4-49FE-84F1-EEEE4CD5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244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AI・HW協調設計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7EA2C5-8899-4BCD-8AE6-1834478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095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実ワークロードを還流</a:t>
            </a:r>
          </a:p>
        </p:txBody>
      </p:sp>
      <p:sp>
        <p:nvSpPr>
          <p:cNvPr id="38" name="flywheel-7">
            <a:extLst xmlns:a="http://schemas.openxmlformats.org/drawingml/2006/main">
              <a:ext uri="{FF2B5EF4-FFF2-40B4-BE49-F238E27FC236}">
                <a16:creationId xmlns:a16="http://schemas.microsoft.com/office/drawing/2014/main" id="{4F771B23-92BB-4AC1-97FE-E5B4D5DB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720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tage-7">
            <a:extLst xmlns:a="http://schemas.openxmlformats.org/drawingml/2006/main">
              <a:ext uri="{FF2B5EF4-FFF2-40B4-BE49-F238E27FC236}">
                <a16:creationId xmlns:a16="http://schemas.microsoft.com/office/drawing/2014/main" id="{BAB092B4-8923-4799-9A87-2522F214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148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3B347F-6172-45F7-958F-BB5A04E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7244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94586F-1729-44D1-A0B2-202B0461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24400"/>
            <a:ext cx="1238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次の企業実装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B42FF8-DEAF-439C-9175-40A537EE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95875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性能と経済性を検証</a:t>
            </a:r>
          </a:p>
        </p:txBody>
      </p:sp>
      <p:cxnSp>
        <p:nvCxnSpPr>
          <p:cNvPr id="43" name=""/>
          <p:cNvCxnSpPr>
            <a:stCxn xmlns:a="http://schemas.openxmlformats.org/drawingml/2006/main" id="8" idx="0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714500" y="1952625"/>
            <a:ext cx="857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C84C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13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476750" y="1809750"/>
            <a:ext cx="38100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D3C4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18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6762750" y="1809750"/>
            <a:ext cx="104775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A4C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23" idx="2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763000" y="2381250"/>
            <a:ext cx="76200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C84C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28" idx="1"/>
            <a:endCxn xmlns:a="http://schemas.openxmlformats.org/drawingml/2006/main" id="33" idx="0"/>
          </p:cNvCxnSpPr>
          <p:nvPr/>
        </p:nvCxnSpPr>
        <p:spPr>
          <a:xfrm xmlns:a="http://schemas.openxmlformats.org/drawingml/2006/main" flipH="1">
            <a:off x="8477250" y="3286125"/>
            <a:ext cx="1047750" cy="1285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D98E"/>
            </a:solidFill>
            <a:prstDash val="solid"/>
          </a:ln>
        </p:spPr>
      </p:cxnSp>
      <p:cxnSp>
        <p:nvCxnSpPr>
          <p:cNvPr id="48" name=""/>
          <p:cNvCxnSpPr>
            <a:stCxn xmlns:a="http://schemas.openxmlformats.org/drawingml/2006/main" id="33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4381500" y="5000625"/>
            <a:ext cx="314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</a:ln>
        </p:spPr>
      </p:cxnSp>
      <p:cxnSp>
        <p:nvCxnSpPr>
          <p:cNvPr id="49" name=""/>
          <p:cNvCxnSpPr>
            <a:stCxn xmlns:a="http://schemas.openxmlformats.org/drawingml/2006/main" id="38" idx="0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2667000" y="2905125"/>
            <a:ext cx="762000" cy="1666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B2A89C-032E-4EFB-81F5-AF5D3F40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025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供給を先に作るのではなく、需要が次の供給投資を正当化する。</a:t>
            </a:r>
          </a:p>
        </p:txBody>
      </p:sp>
      <p:sp>
        <p:nvSpPr>
          <p:cNvPr id="5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862CDC7-00F4-4BCE-A5CE-BF491DCD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303DE58-274F-4375-8A74-29D7F384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sections 3 and 7.</a:t>
            </a:r>
          </a:p>
        </p:txBody>
      </p:sp>
      <p:sp>
        <p:nvSpPr>
          <p:cNvPr id="5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25A4002-B266-4EB1-9E92-E9E486A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6699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1DAC936-B9F8-4F98-A1BB-0B2E35E1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414412-7892-4EC4-BF1F-AA76CFFF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7C2F268-63F7-40C3-84C6-C23F2F53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EXECUTION 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74633814-634E-4364-8F31-B8CC2FA9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各業務を、最適なモデルと実行場所へ振り分ける。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B3CED-A84F-49BA-A635-77FFCA65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BUSINESS TASKS</a:t>
            </a:r>
          </a:p>
        </p:txBody>
      </p:sp>
      <p:sp>
        <p:nvSpPr>
          <p:cNvPr id="6" name="node-経理例外">
            <a:extLst xmlns:a="http://schemas.openxmlformats.org/drawingml/2006/main">
              <a:ext uri="{FF2B5EF4-FFF2-40B4-BE49-F238E27FC236}">
                <a16:creationId xmlns:a16="http://schemas.microsoft.com/office/drawing/2014/main" id="{7A7DE8F8-11E0-41BB-BE66-C0B41AB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" name="経理例外-accent">
            <a:extLst xmlns:a="http://schemas.openxmlformats.org/drawingml/2006/main">
              <a:ext uri="{FF2B5EF4-FFF2-40B4-BE49-F238E27FC236}">
                <a16:creationId xmlns:a16="http://schemas.microsoft.com/office/drawing/2014/main" id="{A114EEE8-6BBE-4A78-9111-393A7F4F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BC6E7-5312-44D3-AB81-1B55076E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経理例外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401F1-AD7A-4F08-A7A5-232D545C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根拠整理・承認</a:t>
            </a:r>
          </a:p>
        </p:txBody>
      </p:sp>
      <p:sp>
        <p:nvSpPr>
          <p:cNvPr id="10" name="node-意思決定支援">
            <a:extLst xmlns:a="http://schemas.openxmlformats.org/drawingml/2006/main">
              <a:ext uri="{FF2B5EF4-FFF2-40B4-BE49-F238E27FC236}">
                <a16:creationId xmlns:a16="http://schemas.microsoft.com/office/drawing/2014/main" id="{16E82395-51BC-45F3-911D-FFA6A12C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意思決定支援-accent">
            <a:extLst xmlns:a="http://schemas.openxmlformats.org/drawingml/2006/main">
              <a:ext uri="{FF2B5EF4-FFF2-40B4-BE49-F238E27FC236}">
                <a16:creationId xmlns:a16="http://schemas.microsoft.com/office/drawing/2014/main" id="{EBAC0E8D-246C-461C-8AD7-1EE80FC6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3349F-48E1-4942-91F1-0FCABB88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3847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意思決定支援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3D741-BF27-4229-8760-984142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履歴・論点・KPI</a:t>
            </a:r>
          </a:p>
        </p:txBody>
      </p:sp>
      <p:sp>
        <p:nvSpPr>
          <p:cNvPr id="14" name="node-現場・エッジ業務">
            <a:extLst xmlns:a="http://schemas.openxmlformats.org/drawingml/2006/main">
              <a:ext uri="{FF2B5EF4-FFF2-40B4-BE49-F238E27FC236}">
                <a16:creationId xmlns:a16="http://schemas.microsoft.com/office/drawing/2014/main" id="{B7F43E67-020E-4EEC-B403-A042A52A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現場・エッジ業務-accent">
            <a:extLst xmlns:a="http://schemas.openxmlformats.org/drawingml/2006/main">
              <a:ext uri="{FF2B5EF4-FFF2-40B4-BE49-F238E27FC236}">
                <a16:creationId xmlns:a16="http://schemas.microsoft.com/office/drawing/2014/main" id="{0DEBB758-646A-4639-8E67-D21E254A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6D740-65ED-4FC6-B955-961144CF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95725"/>
            <a:ext cx="17907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現場・エッジ業務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7E4175-9DA7-4BD7-B690-EAE75141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1790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点検・製造・自治体</a:t>
            </a:r>
          </a:p>
        </p:txBody>
      </p:sp>
      <p:sp>
        <p:nvSpPr>
          <p:cNvPr id="18" name="router-boundary">
            <a:extLst xmlns:a="http://schemas.openxmlformats.org/drawingml/2006/main">
              <a:ext uri="{FF2B5EF4-FFF2-40B4-BE49-F238E27FC236}">
                <a16:creationId xmlns:a16="http://schemas.microsoft.com/office/drawing/2014/main" id="{F883E60F-FA95-4E0B-BCBD-CC539D4D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05000"/>
            <a:ext cx="3714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C44FF-4CD6-4628-81F5-E9DA035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336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KAIROSAI CONTROL PLANE</a:t>
            </a:r>
          </a:p>
        </p:txBody>
      </p:sp>
      <p:sp>
        <p:nvSpPr>
          <p:cNvPr id="20" name="node-Policy Engine">
            <a:extLst xmlns:a="http://schemas.openxmlformats.org/drawingml/2006/main">
              <a:ext uri="{FF2B5EF4-FFF2-40B4-BE49-F238E27FC236}">
                <a16:creationId xmlns:a16="http://schemas.microsoft.com/office/drawing/2014/main" id="{2AAFAD6A-A401-4821-B699-CF19A65F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172238"/>
            </a:solidFill>
            <a:prstDash val="solid"/>
          </a:ln>
        </p:spPr>
      </p:sp>
      <p:sp>
        <p:nvSpPr>
          <p:cNvPr id="21" name="Policy Engine-accent">
            <a:extLst xmlns:a="http://schemas.openxmlformats.org/drawingml/2006/main">
              <a:ext uri="{FF2B5EF4-FFF2-40B4-BE49-F238E27FC236}">
                <a16:creationId xmlns:a16="http://schemas.microsoft.com/office/drawing/2014/main" id="{3CD0804C-D7C1-4BE8-AA79-925F3E46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2657D-9A92-4771-945E-001BA975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33675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Policy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7F301-8510-44F2-8F80-D645BD16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28950"/>
            <a:ext cx="2647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機密性 / 精度 / 遅延 / 国内処理</a:t>
            </a:r>
          </a:p>
        </p:txBody>
      </p:sp>
      <p:sp>
        <p:nvSpPr>
          <p:cNvPr id="24" name="node-Model / Compute Router">
            <a:extLst xmlns:a="http://schemas.openxmlformats.org/drawingml/2006/main">
              <a:ext uri="{FF2B5EF4-FFF2-40B4-BE49-F238E27FC236}">
                <a16:creationId xmlns:a16="http://schemas.microsoft.com/office/drawing/2014/main" id="{F8DE65D9-5BB9-4193-A279-D1225815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27D3C4"/>
            </a:solidFill>
            <a:prstDash val="solid"/>
          </a:ln>
        </p:spPr>
      </p:sp>
      <p:sp>
        <p:nvSpPr>
          <p:cNvPr id="25" name="Model / Compute Router-accent">
            <a:extLst xmlns:a="http://schemas.openxmlformats.org/drawingml/2006/main">
              <a:ext uri="{FF2B5EF4-FFF2-40B4-BE49-F238E27FC236}">
                <a16:creationId xmlns:a16="http://schemas.microsoft.com/office/drawing/2014/main" id="{329B0149-3D50-4677-9812-32FD6581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76625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A4E28-8633-42D1-8985-C6B310A7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2647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Model / Compute Router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1FDD3-C1EF-4B8C-B868-D954E023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33825"/>
            <a:ext cx="2647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モデル・実行場所・時間帯を選択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20BCB-74CD-43E3-BD14-A4E01700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EXECUTION ENVIRONMENTS</a:t>
            </a:r>
          </a:p>
        </p:txBody>
      </p:sp>
      <p:sp>
        <p:nvSpPr>
          <p:cNvPr id="29" name="node-Cloud GPU / Managed Model">
            <a:extLst xmlns:a="http://schemas.openxmlformats.org/drawingml/2006/main">
              <a:ext uri="{FF2B5EF4-FFF2-40B4-BE49-F238E27FC236}">
                <a16:creationId xmlns:a16="http://schemas.microsoft.com/office/drawing/2014/main" id="{10E2B07E-2E2B-4DA1-9A74-63BE4871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0" name="Cloud GPU / Managed Model-accent">
            <a:extLst xmlns:a="http://schemas.openxmlformats.org/drawingml/2006/main">
              <a:ext uri="{FF2B5EF4-FFF2-40B4-BE49-F238E27FC236}">
                <a16:creationId xmlns:a16="http://schemas.microsoft.com/office/drawing/2014/main" id="{31B0FB6F-2AC7-474E-AE13-9E497E56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FB64D-ACBF-42C3-8264-B3CABEA5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81225"/>
            <a:ext cx="2838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Cloud GPU / Managed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B954E1-477C-4F58-AD21-CA3AC77F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38400"/>
            <a:ext cx="283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高能力・弾力性</a:t>
            </a:r>
          </a:p>
        </p:txBody>
      </p:sp>
      <p:sp>
        <p:nvSpPr>
          <p:cNvPr id="33" name="node-Domestic / On-prem Compute">
            <a:extLst xmlns:a="http://schemas.openxmlformats.org/drawingml/2006/main">
              <a:ext uri="{FF2B5EF4-FFF2-40B4-BE49-F238E27FC236}">
                <a16:creationId xmlns:a16="http://schemas.microsoft.com/office/drawing/2014/main" id="{874FD394-E077-4988-AC37-06DC5BFB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Domestic / On-prem Compute-accent">
            <a:extLst xmlns:a="http://schemas.openxmlformats.org/drawingml/2006/main">
              <a:ext uri="{FF2B5EF4-FFF2-40B4-BE49-F238E27FC236}">
                <a16:creationId xmlns:a16="http://schemas.microsoft.com/office/drawing/2014/main" id="{40023702-F569-4D25-B357-1613A474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3C7D9C-C0AF-4C06-A5E9-40A14E62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38475"/>
            <a:ext cx="2838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Domestic / On-prem Compute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4FF6D-7583-4688-A992-7F2F5E1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95650"/>
            <a:ext cx="283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機密性・データ主権</a:t>
            </a:r>
          </a:p>
        </p:txBody>
      </p:sp>
      <p:sp>
        <p:nvSpPr>
          <p:cNvPr id="37" name="node-Edge / NPU / AI Semiconductor">
            <a:extLst xmlns:a="http://schemas.openxmlformats.org/drawingml/2006/main">
              <a:ext uri="{FF2B5EF4-FFF2-40B4-BE49-F238E27FC236}">
                <a16:creationId xmlns:a16="http://schemas.microsoft.com/office/drawing/2014/main" id="{9E43D2EA-0020-4EAA-B559-7BD7E047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8" name="Edge / NPU / AI Semiconductor-accent">
            <a:extLst xmlns:a="http://schemas.openxmlformats.org/drawingml/2006/main">
              <a:ext uri="{FF2B5EF4-FFF2-40B4-BE49-F238E27FC236}">
                <a16:creationId xmlns:a16="http://schemas.microsoft.com/office/drawing/2014/main" id="{57679101-8806-4BCF-B12E-0C032571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4560CF-6CE5-4A5D-ABC0-DCC11EBB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95725"/>
            <a:ext cx="28384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Edge / NPU / AI Semiconductor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569E35-EE64-43F2-A577-E683F367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52900"/>
            <a:ext cx="2838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低遅延・低消費電力</a:t>
            </a:r>
          </a:p>
        </p:txBody>
      </p: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762250" y="2362200"/>
            <a:ext cx="133350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6B6B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762250" y="2933700"/>
            <a:ext cx="133350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6B6B"/>
            </a:solidFill>
            <a:prstDash val="solid"/>
          </a:ln>
        </p:spPr>
      </p:cxnSp>
      <p:cxnSp>
        <p:nvCxnSpPr>
          <p:cNvPr id="43" name=""/>
          <p:cNvCxnSpPr>
            <a:stCxn xmlns:a="http://schemas.openxmlformats.org/drawingml/2006/main" id="14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2762250" y="2933700"/>
            <a:ext cx="133350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6B6B"/>
            </a:solidFill>
            <a:prstDash val="solid"/>
          </a:ln>
        </p:spPr>
      </p:cxnSp>
      <p:cxnSp>
        <p:nvCxnSpPr>
          <p:cNvPr id="44" name=""/>
          <p:cNvCxnSpPr>
            <a:stCxn xmlns:a="http://schemas.openxmlformats.org/drawingml/2006/main" id="20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572125" y="32956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D3C4"/>
            </a:solidFill>
            <a:prstDash val="solid"/>
          </a:ln>
        </p:spPr>
      </p:cxnSp>
      <p:cxnSp>
        <p:nvCxnSpPr>
          <p:cNvPr id="45" name=""/>
          <p:cNvCxnSpPr>
            <a:stCxn xmlns:a="http://schemas.openxmlformats.org/drawingml/2006/main" id="24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7048500" y="2362200"/>
            <a:ext cx="133350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FF8A4C"/>
            </a:solidFill>
            <a:prstDash val="solid"/>
          </a:ln>
        </p:spPr>
      </p:cxnSp>
      <p:cxnSp>
        <p:nvCxnSpPr>
          <p:cNvPr id="46" name=""/>
          <p:cNvCxnSpPr>
            <a:stCxn xmlns:a="http://schemas.openxmlformats.org/drawingml/2006/main" id="24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 flipV="1">
            <a:off x="7048500" y="3219450"/>
            <a:ext cx="133350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7D3C4"/>
            </a:solidFill>
            <a:prstDash val="solid"/>
          </a:ln>
        </p:spPr>
      </p:cxnSp>
      <p:cxnSp>
        <p:nvCxnSpPr>
          <p:cNvPr id="47" name=""/>
          <p:cNvCxnSpPr>
            <a:stCxn xmlns:a="http://schemas.openxmlformats.org/drawingml/2006/main" id="2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048500" y="3838575"/>
            <a:ext cx="13335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59D98E"/>
            </a:solidFill>
            <a:prstDash val="solid"/>
          </a:ln>
        </p:spPr>
      </p:cxnSp>
      <p:sp>
        <p:nvSpPr>
          <p:cNvPr id="48" name="feedback-bus">
            <a:extLst xmlns:a="http://schemas.openxmlformats.org/drawingml/2006/main">
              <a:ext uri="{FF2B5EF4-FFF2-40B4-BE49-F238E27FC236}">
                <a16:creationId xmlns:a16="http://schemas.microsoft.com/office/drawing/2014/main" id="{77CF8D4F-38E3-4474-8087-796DF40D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10858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8B6001-FE55-4081-8C0E-75BF1959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67325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OUTCOME &amp; TELEMETRY FEEDBACK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6444565-8795-4725-9C9E-D7E437FF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38750"/>
            <a:ext cx="752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品質・遅延・コスト・電力・業務成果をCanonical Eventとして記録し、次のルーティングへ戻す。</a:t>
            </a:r>
          </a:p>
        </p:txBody>
      </p:sp>
      <p:sp>
        <p:nvSpPr>
          <p:cNvPr id="5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80C08E9-63EE-49E1-BB31-BF9AF95D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49D32DF-A042-4869-BC4C-497AF907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sections 4–5.</a:t>
            </a:r>
          </a:p>
        </p:txBody>
      </p:sp>
      <p:sp>
        <p:nvSpPr>
          <p:cNvPr id="5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E70FFA-E382-4816-9FC1-C2828592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29974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62ABB07A-B718-4F6F-8F11-4E32D2FD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A14090-6B26-42D1-8D7D-DF999BC2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CFA1803-1B8B-4468-BDEE-C4FA9F2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MEASUREMENT ADVANTAGE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0E8D01B-D791-438E-9AC1-71D8056D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KairosAIは、計算量ではなく業務成果を学習する。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C72C8E-5135-4F73-A2ED-200AF13C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EXECUTION TELEMETRY</a:t>
            </a:r>
          </a:p>
        </p:txBody>
      </p:sp>
      <p:sp>
        <p:nvSpPr>
          <p:cNvPr id="6" name="telemetry-1">
            <a:extLst xmlns:a="http://schemas.openxmlformats.org/drawingml/2006/main">
              <a:ext uri="{FF2B5EF4-FFF2-40B4-BE49-F238E27FC236}">
                <a16:creationId xmlns:a16="http://schemas.microsoft.com/office/drawing/2014/main" id="{75A9825D-4583-47BF-A0D3-0647A69D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lemetry-1-accent">
            <a:extLst xmlns:a="http://schemas.openxmlformats.org/drawingml/2006/main">
              <a:ext uri="{FF2B5EF4-FFF2-40B4-BE49-F238E27FC236}">
                <a16:creationId xmlns:a16="http://schemas.microsoft.com/office/drawing/2014/main" id="{61C9C3C8-0469-4914-AEDF-90C3AF01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AB1D7-0E8B-476B-9401-4F07DC26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model_id / version</a:t>
            </a:r>
          </a:p>
        </p:txBody>
      </p:sp>
      <p:sp>
        <p:nvSpPr>
          <p:cNvPr id="9" name="telemetry-2">
            <a:extLst xmlns:a="http://schemas.openxmlformats.org/drawingml/2006/main">
              <a:ext uri="{FF2B5EF4-FFF2-40B4-BE49-F238E27FC236}">
                <a16:creationId xmlns:a16="http://schemas.microsoft.com/office/drawing/2014/main" id="{0D28BB0F-925C-4CC3-9EBC-02308A47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lemetry-2-accent">
            <a:extLst xmlns:a="http://schemas.openxmlformats.org/drawingml/2006/main">
              <a:ext uri="{FF2B5EF4-FFF2-40B4-BE49-F238E27FC236}">
                <a16:creationId xmlns:a16="http://schemas.microsoft.com/office/drawing/2014/main" id="{C3A85C63-0BAC-4A8C-830B-59B9493C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924569-133A-4B1F-83A7-FAC7651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hardware_type / location</a:t>
            </a:r>
          </a:p>
        </p:txBody>
      </p:sp>
      <p:sp>
        <p:nvSpPr>
          <p:cNvPr id="12" name="telemetry-3">
            <a:extLst xmlns:a="http://schemas.openxmlformats.org/drawingml/2006/main">
              <a:ext uri="{FF2B5EF4-FFF2-40B4-BE49-F238E27FC236}">
                <a16:creationId xmlns:a16="http://schemas.microsoft.com/office/drawing/2014/main" id="{95704082-E0DF-4159-A17B-424BFC80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elemetry-3-accent">
            <a:extLst xmlns:a="http://schemas.openxmlformats.org/drawingml/2006/main">
              <a:ext uri="{FF2B5EF4-FFF2-40B4-BE49-F238E27FC236}">
                <a16:creationId xmlns:a16="http://schemas.microsoft.com/office/drawing/2014/main" id="{F28DD952-0FAE-4C7C-8F74-A193BEA3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A751F-225F-4B77-A852-94E0E227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latency / cost / energy</a:t>
            </a:r>
          </a:p>
        </p:txBody>
      </p:sp>
      <p:sp>
        <p:nvSpPr>
          <p:cNvPr id="15" name="evaluation-core">
            <a:extLst xmlns:a="http://schemas.openxmlformats.org/drawingml/2006/main">
              <a:ext uri="{FF2B5EF4-FFF2-40B4-BE49-F238E27FC236}">
                <a16:creationId xmlns:a16="http://schemas.microsoft.com/office/drawing/2014/main" id="{9BC573AB-794E-478B-B39E-06602F77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52625"/>
            <a:ext cx="38100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88916D-D7D3-4612-8890-CB1A143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KAIROSAI EVALUATION BUS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8CA51-5B05-4422-9518-28375D2C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19375"/>
            <a:ext cx="2952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AI実行を</a:t>
            </a:r>
          </a:p>
          <a:p xmlns:a="http://schemas.openxmlformats.org/drawingml/2006/main">
            <a:pPr algn="ctr">
              <a:defRPr sz="20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0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業務Outcomeへ接続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C4162-EB15-4840-84EF-E69120FE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242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2A966-CD55-44A6-98E4-ACE616FF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957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Knowledge Graph + Workflow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8FFF79-A34E-4E58-815B-55A7FC82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BUSINESS OUTCOMES</a:t>
            </a:r>
          </a:p>
        </p:txBody>
      </p:sp>
      <p:sp>
        <p:nvSpPr>
          <p:cNvPr id="21" name="outcome-1">
            <a:extLst xmlns:a="http://schemas.openxmlformats.org/drawingml/2006/main">
              <a:ext uri="{FF2B5EF4-FFF2-40B4-BE49-F238E27FC236}">
                <a16:creationId xmlns:a16="http://schemas.microsoft.com/office/drawing/2014/main" id="{69670AA8-DA3C-41DB-ACC9-B1069F3B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outcome-1-accent">
            <a:extLst xmlns:a="http://schemas.openxmlformats.org/drawingml/2006/main">
              <a:ext uri="{FF2B5EF4-FFF2-40B4-BE49-F238E27FC236}">
                <a16:creationId xmlns:a16="http://schemas.microsoft.com/office/drawing/2014/main" id="{C0331A60-C55B-41AE-AAB3-352D5E4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955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7E40F-9808-4EA7-A49B-E93E474F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288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例外解決・承認完了</a:t>
            </a:r>
          </a:p>
        </p:txBody>
      </p:sp>
      <p:sp>
        <p:nvSpPr>
          <p:cNvPr id="24" name="outcome-2">
            <a:extLst xmlns:a="http://schemas.openxmlformats.org/drawingml/2006/main">
              <a:ext uri="{FF2B5EF4-FFF2-40B4-BE49-F238E27FC236}">
                <a16:creationId xmlns:a16="http://schemas.microsoft.com/office/drawing/2014/main" id="{B59ED611-04F9-43EA-8794-F39B1A0F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622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outcome-2-accent">
            <a:extLst xmlns:a="http://schemas.openxmlformats.org/drawingml/2006/main">
              <a:ext uri="{FF2B5EF4-FFF2-40B4-BE49-F238E27FC236}">
                <a16:creationId xmlns:a16="http://schemas.microsoft.com/office/drawing/2014/main" id="{89D56B50-4DF8-4709-92F7-C213452A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76225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66EC84-15FA-44AB-B96C-A84A11C0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956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業務時間・品質改善</a:t>
            </a:r>
          </a:p>
        </p:txBody>
      </p:sp>
      <p:sp>
        <p:nvSpPr>
          <p:cNvPr id="27" name="outcome-3">
            <a:extLst xmlns:a="http://schemas.openxmlformats.org/drawingml/2006/main">
              <a:ext uri="{FF2B5EF4-FFF2-40B4-BE49-F238E27FC236}">
                <a16:creationId xmlns:a16="http://schemas.microsoft.com/office/drawing/2014/main" id="{7B2C9DBA-BD85-4C88-BB6F-275C4DB4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utcome-3-accent">
            <a:extLst xmlns:a="http://schemas.openxmlformats.org/drawingml/2006/main">
              <a:ext uri="{FF2B5EF4-FFF2-40B4-BE49-F238E27FC236}">
                <a16:creationId xmlns:a16="http://schemas.microsoft.com/office/drawing/2014/main" id="{0517533B-328E-4554-B57D-CB7997E9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429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0BE92C-2938-4E79-A577-BA5C69BD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自動実行率・監査結果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4FF1A6-1D93-46E1-B168-7F37BC35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146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B4B1BD-729D-4B25-B78E-D82BA2DC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14675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ormula">
            <a:extLst xmlns:a="http://schemas.openxmlformats.org/drawingml/2006/main">
              <a:ext uri="{FF2B5EF4-FFF2-40B4-BE49-F238E27FC236}">
                <a16:creationId xmlns:a16="http://schemas.microsoft.com/office/drawing/2014/main" id="{7F10E834-7CE7-4A30-A5AE-25322524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4CC2D8-EE7F-447F-B5F2-69270A40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19675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business outcome per joule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1F324A-AA2E-43AA-9F5F-DF685819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38725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=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4DEC8-B8B3-494E-AFB0-FFE222AF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完了した業務成果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54E46-6450-4E5F-B4C7-56A64F88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578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5646A8-44A9-4B72-9129-247D4C1A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530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消費電力・計算資源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AFB9A8-8CB4-4F3C-B6EE-1C941DA4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48250"/>
            <a:ext cx="2143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企業需要とHW要件を結ぶ共通言語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63080FD-DEC8-41BB-8556-299B7200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7CE0E8D0-2D88-4226-B2E6-6D095B9A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Source: AI+HW 2035; KairosAI Demand-driven AI &amp; HW Strategy, sections 5–6.</a:t>
            </a:r>
          </a:p>
        </p:txBody>
      </p:sp>
      <p:sp>
        <p:nvSpPr>
          <p:cNvPr id="4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B14CF8C-9B84-448C-9E05-6FADEE50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231051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BFEDC75-3565-4B5F-8B80-A6187DDA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B43F8D8-3A10-4E72-B8D7-8EB4C957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74526A-8394-4270-9E5A-4ACBCD1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EXPANSION LOGIC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07CB367-1C36-4D30-BF33-D0062520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実装で得た需要が、次の事業領域への進出条件になる。</a:t>
            </a:r>
          </a:p>
        </p:txBody>
      </p:sp>
      <p:sp>
        <p:nvSpPr>
          <p:cNvPr id="5" name="phase-01">
            <a:extLst xmlns:a="http://schemas.openxmlformats.org/drawingml/2006/main">
              <a:ext uri="{FF2B5EF4-FFF2-40B4-BE49-F238E27FC236}">
                <a16:creationId xmlns:a16="http://schemas.microsoft.com/office/drawing/2014/main" id="{8CA7F36F-221E-448F-9800-5B6D93C3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809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BAFA0-77F0-4CF2-8A21-32320713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812B2-9102-4362-9350-9A47D792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企業・行政実装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3D441-74D2-4E5D-8298-408459F9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768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Domain Pack / SaaS</a:t>
            </a:r>
          </a:p>
        </p:txBody>
      </p:sp>
      <p:sp>
        <p:nvSpPr>
          <p:cNvPr id="9" name="phase-02">
            <a:extLst xmlns:a="http://schemas.openxmlformats.org/drawingml/2006/main">
              <a:ext uri="{FF2B5EF4-FFF2-40B4-BE49-F238E27FC236}">
                <a16:creationId xmlns:a16="http://schemas.microsoft.com/office/drawing/2014/main" id="{BAE8056E-5482-473D-B77C-27DC3F37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57625"/>
            <a:ext cx="1809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D7091-13C5-437B-A1E4-F39FC054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1002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0913B-851E-49C8-B9B9-C4243232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33387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AI実行基盤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86DFDD-07F9-41B3-9DFC-302926B5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768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Model / Compute Router</a:t>
            </a:r>
          </a:p>
        </p:txBody>
      </p:sp>
      <p:sp>
        <p:nvSpPr>
          <p:cNvPr id="13" name="pill-比較可能な実行量">
            <a:extLst xmlns:a="http://schemas.openxmlformats.org/drawingml/2006/main">
              <a:ext uri="{FF2B5EF4-FFF2-40B4-BE49-F238E27FC236}">
                <a16:creationId xmlns:a16="http://schemas.microsoft.com/office/drawing/2014/main" id="{DC0E5630-9F72-413A-B95D-17F56A31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2442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ABCFC-9CBB-4B53-9AC3-D8E9477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339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比較可能な実行量</a:t>
            </a:r>
          </a:p>
        </p:txBody>
      </p:sp>
      <p:sp>
        <p:nvSpPr>
          <p:cNvPr id="15" name="phase-03">
            <a:extLst xmlns:a="http://schemas.openxmlformats.org/drawingml/2006/main">
              <a:ext uri="{FF2B5EF4-FFF2-40B4-BE49-F238E27FC236}">
                <a16:creationId xmlns:a16="http://schemas.microsoft.com/office/drawing/2014/main" id="{3D2EF341-8F61-46C5-B127-31070F6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90875"/>
            <a:ext cx="1809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CB3B6-304C-495A-ACF8-EB72ACC8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34327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13EBF4-B08B-4787-88F6-BD63CA75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67125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計算需要の集約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189A2A-D1E1-4C74-92CB-82C6663D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2768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Domestic / Edge</a:t>
            </a:r>
          </a:p>
        </p:txBody>
      </p:sp>
      <p:sp>
        <p:nvSpPr>
          <p:cNvPr id="19" name="pill-継続需要を束ねる">
            <a:extLst xmlns:a="http://schemas.openxmlformats.org/drawingml/2006/main">
              <a:ext uri="{FF2B5EF4-FFF2-40B4-BE49-F238E27FC236}">
                <a16:creationId xmlns:a16="http://schemas.microsoft.com/office/drawing/2014/main" id="{658B6A3F-3EAA-46A8-AA74-A72E523D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57675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8CAAEC-6D80-4C8E-8903-C277D988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6720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継続需要を束ねる</a:t>
            </a:r>
          </a:p>
        </p:txBody>
      </p:sp>
      <p:sp>
        <p:nvSpPr>
          <p:cNvPr id="21" name="phase-04">
            <a:extLst xmlns:a="http://schemas.openxmlformats.org/drawingml/2006/main">
              <a:ext uri="{FF2B5EF4-FFF2-40B4-BE49-F238E27FC236}">
                <a16:creationId xmlns:a16="http://schemas.microsoft.com/office/drawing/2014/main" id="{B8E2330B-7BCC-468E-946C-3BC8233E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8097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EFA5A-A1C8-4BBB-AA49-F8FF7569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F49606-870D-4A46-8B13-49B388A8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1504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国産モデル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9CA7B-9021-458F-8465-1C1461335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2768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業務特化 → 大規模</a:t>
            </a:r>
          </a:p>
        </p:txBody>
      </p:sp>
      <p:sp>
        <p:nvSpPr>
          <p:cNvPr id="25" name="pill-開発合理性を確認">
            <a:extLst xmlns:a="http://schemas.openxmlformats.org/drawingml/2006/main">
              <a:ext uri="{FF2B5EF4-FFF2-40B4-BE49-F238E27FC236}">
                <a16:creationId xmlns:a16="http://schemas.microsoft.com/office/drawing/2014/main" id="{D8F76201-C12F-47AD-A580-6D60C827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1504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72C8F8-C576-40D5-961D-EFFE60B7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52825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開発合理性を確認</a:t>
            </a:r>
          </a:p>
        </p:txBody>
      </p:sp>
      <p:sp>
        <p:nvSpPr>
          <p:cNvPr id="27" name="phase-05">
            <a:extLst xmlns:a="http://schemas.openxmlformats.org/drawingml/2006/main">
              <a:ext uri="{FF2B5EF4-FFF2-40B4-BE49-F238E27FC236}">
                <a16:creationId xmlns:a16="http://schemas.microsoft.com/office/drawing/2014/main" id="{0A79FAE4-349C-4C24-9CD5-6094EF1C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857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31B49-E0AA-445D-BA80-44983097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14525"/>
            <a:ext cx="381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83309E-14D3-4F0A-831B-B5275B0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38375"/>
            <a:ext cx="2552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AI・HW協調設計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145270-92CD-41A8-898B-69670901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76850"/>
            <a:ext cx="255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実ワークロード起点</a:t>
            </a:r>
          </a:p>
        </p:txBody>
      </p:sp>
      <p:sp>
        <p:nvSpPr>
          <p:cNvPr id="31" name="pill-HW要件を還流">
            <a:extLst xmlns:a="http://schemas.openxmlformats.org/drawingml/2006/main">
              <a:ext uri="{FF2B5EF4-FFF2-40B4-BE49-F238E27FC236}">
                <a16:creationId xmlns:a16="http://schemas.microsoft.com/office/drawing/2014/main" id="{74A9B810-5CFC-46F0-B211-FAC595B2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828925"/>
            <a:ext cx="2552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1FC50-5E8D-4B8D-AF58-50470DDD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384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HW要件を還流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B89B4-4E30-490C-9840-F5EA0698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ENTRY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99098F-FEF7-4342-ADA2-32502B1C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781675"/>
            <a:ext cx="962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次段階へ進む条件は「技術が作れるか」ではなく、「実需要と評価が確認できたか」。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99527B-D2EA-487E-93A4-02F7F793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37A192A-57C5-41F1-997B-8904390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 7.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8E02DE-E20F-45BC-90B1-F6BB93C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41506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18C388C-BD6F-458F-AB00-30933C68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8088CB-F8D0-4D96-834B-0EB955463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F480AE-30A6-4982-A49E-93B8D1D0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BUSINESS MODEL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E6BAF3AC-6F17-4FEC-8364-8FD6B1EF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収益はSaaSから、制御・計算・モデルへ積み上がる。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D75E5E-649C-4240-9FE0-6C3EFFF3A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REVENUE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C1095-3A69-40FA-B0E7-B530FA7B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954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CUSTOMER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45A32-7DA8-4658-AA71-D7F4E11B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STRATEGIC ASSET</a:t>
            </a:r>
          </a:p>
        </p:txBody>
      </p:sp>
      <p:sp>
        <p:nvSpPr>
          <p:cNvPr id="8" name="revenue-1">
            <a:extLst xmlns:a="http://schemas.openxmlformats.org/drawingml/2006/main">
              <a:ext uri="{FF2B5EF4-FFF2-40B4-BE49-F238E27FC236}">
                <a16:creationId xmlns:a16="http://schemas.microsoft.com/office/drawing/2014/main" id="{5FFBC905-2FDD-4AF6-83AE-06BD2E1E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venue-1-accent">
            <a:extLst xmlns:a="http://schemas.openxmlformats.org/drawingml/2006/main">
              <a:ext uri="{FF2B5EF4-FFF2-40B4-BE49-F238E27FC236}">
                <a16:creationId xmlns:a16="http://schemas.microsoft.com/office/drawing/2014/main" id="{FB6E4291-9811-4677-B69B-AE754338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expansion-span-1">
            <a:extLst xmlns:a="http://schemas.openxmlformats.org/drawingml/2006/main">
              <a:ext uri="{FF2B5EF4-FFF2-40B4-BE49-F238E27FC236}">
                <a16:creationId xmlns:a16="http://schemas.microsoft.com/office/drawing/2014/main" id="{83AC9250-BC75-4946-9E63-1C3C48B6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5BCD3-0509-4A74-91CA-E0B3CC94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Core Platform + Domain Pack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7C39A-EECB-46C5-8427-BE12FA9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431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業務実装・監査可能な自動化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2BB4-0362-4E7A-B4B0-FAC1A222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顧客接点と業務評価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F423CC-C38F-4CCA-A697-1C8B3829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764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3C1A34-7C54-4889-A3D0-91F62F817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764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venue-2">
            <a:extLst xmlns:a="http://schemas.openxmlformats.org/drawingml/2006/main">
              <a:ext uri="{FF2B5EF4-FFF2-40B4-BE49-F238E27FC236}">
                <a16:creationId xmlns:a16="http://schemas.microsoft.com/office/drawing/2014/main" id="{7AA039D2-4963-43C4-91DE-A11E883C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venue-2-accent">
            <a:extLst xmlns:a="http://schemas.openxmlformats.org/drawingml/2006/main">
              <a:ext uri="{FF2B5EF4-FFF2-40B4-BE49-F238E27FC236}">
                <a16:creationId xmlns:a16="http://schemas.microsoft.com/office/drawing/2014/main" id="{A418BFB0-8379-4344-8DED-44697833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expansion-span-2">
            <a:extLst xmlns:a="http://schemas.openxmlformats.org/drawingml/2006/main">
              <a:ext uri="{FF2B5EF4-FFF2-40B4-BE49-F238E27FC236}">
                <a16:creationId xmlns:a16="http://schemas.microsoft.com/office/drawing/2014/main" id="{781D17FF-A940-4A8D-A842-3B6E4DF6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76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5AD14-69D7-4308-A5B8-0821FAC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289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AI Control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F0F82F-2C1B-4BA5-AD7E-00214B57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289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モデル・実行先・コスト最適化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A7E46-58EB-4114-A2C2-5CEC066A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289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実ワークロード特性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BEAC95-AD1A-496D-879E-7F4D9BA9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FD5E21-9329-470E-8F94-B6BC3CD8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622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venue-3">
            <a:extLst xmlns:a="http://schemas.openxmlformats.org/drawingml/2006/main">
              <a:ext uri="{FF2B5EF4-FFF2-40B4-BE49-F238E27FC236}">
                <a16:creationId xmlns:a16="http://schemas.microsoft.com/office/drawing/2014/main" id="{0138F37A-A747-4816-B2A3-60F5FBDB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venue-3-accent">
            <a:extLst xmlns:a="http://schemas.openxmlformats.org/drawingml/2006/main">
              <a:ext uri="{FF2B5EF4-FFF2-40B4-BE49-F238E27FC236}">
                <a16:creationId xmlns:a16="http://schemas.microsoft.com/office/drawing/2014/main" id="{25A94241-9892-4AA2-90FB-B49DC306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expansion-span-3">
            <a:extLst xmlns:a="http://schemas.openxmlformats.org/drawingml/2006/main">
              <a:ext uri="{FF2B5EF4-FFF2-40B4-BE49-F238E27FC236}">
                <a16:creationId xmlns:a16="http://schemas.microsoft.com/office/drawing/2014/main" id="{3684B258-0ACB-4989-98F4-1A389E02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2905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79CCBE-CDA4-45AB-A362-D66A45293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147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Sovereign / Dedicated Compute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12235-E546-477C-B73A-23F9F82B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5147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機密性・国内処理・専用環境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464844-B8C1-449A-97C9-82DD7920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147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国内計算需要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AC9DC7-D827-4CF1-865D-18977529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480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5C1BF-804F-4308-9AF1-1E79C49A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480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venue-4">
            <a:extLst xmlns:a="http://schemas.openxmlformats.org/drawingml/2006/main">
              <a:ext uri="{FF2B5EF4-FFF2-40B4-BE49-F238E27FC236}">
                <a16:creationId xmlns:a16="http://schemas.microsoft.com/office/drawing/2014/main" id="{F6600B33-5EC3-4606-93BE-6A49F4D2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venue-4-accent">
            <a:extLst xmlns:a="http://schemas.openxmlformats.org/drawingml/2006/main">
              <a:ext uri="{FF2B5EF4-FFF2-40B4-BE49-F238E27FC236}">
                <a16:creationId xmlns:a16="http://schemas.microsoft.com/office/drawing/2014/main" id="{7404A88C-DF8C-4203-ADEB-EF3EB58B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expansion-span-4">
            <a:extLst xmlns:a="http://schemas.openxmlformats.org/drawingml/2006/main">
              <a:ext uri="{FF2B5EF4-FFF2-40B4-BE49-F238E27FC236}">
                <a16:creationId xmlns:a16="http://schemas.microsoft.com/office/drawing/2014/main" id="{DF93AD56-F712-498E-9758-45CD14A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7524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ABB477E-AE87-4532-9FF6-810DDF6C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005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Compute Partnership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C1BD9F-A702-4D9C-94CB-391DBB84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005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需要集約・予約・共同提供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14E4C3-662C-4BA8-AE41-3A40F772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005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インフラ運用知見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B14582-D90D-4226-B90B-240ABA1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0D302D-5789-4555-AE1C-B1C99A2B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venue-5">
            <a:extLst xmlns:a="http://schemas.openxmlformats.org/drawingml/2006/main">
              <a:ext uri="{FF2B5EF4-FFF2-40B4-BE49-F238E27FC236}">
                <a16:creationId xmlns:a16="http://schemas.microsoft.com/office/drawing/2014/main" id="{E493101F-7760-46C1-B34A-378909B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venue-5-accent">
            <a:extLst xmlns:a="http://schemas.openxmlformats.org/drawingml/2006/main">
              <a:ext uri="{FF2B5EF4-FFF2-40B4-BE49-F238E27FC236}">
                <a16:creationId xmlns:a16="http://schemas.microsoft.com/office/drawing/2014/main" id="{390FAF51-6A28-45AA-A4A8-63FF74EF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666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expansion-span-5">
            <a:extLst xmlns:a="http://schemas.openxmlformats.org/drawingml/2006/main">
              <a:ext uri="{FF2B5EF4-FFF2-40B4-BE49-F238E27FC236}">
                <a16:creationId xmlns:a16="http://schemas.microsoft.com/office/drawing/2014/main" id="{27B4132E-9F75-4A73-ACCB-A1D45B5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885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97CFF5-1C0E-4053-A590-0EFEA896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86325"/>
            <a:ext cx="361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Domestic Model / HW Ecosystem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FA55D83-EA7B-4FC9-AB8A-3FE2F6A8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863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業務特化性能と資源効率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0EA00CF-52F5-412F-9611-FEDB36F7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863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モデル・HW要件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35B6C9-6F56-4007-BCC1-8C97041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96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B219832-387D-4DB8-A37F-66537B9F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19675"/>
            <a:ext cx="17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business-model-claim">
            <a:extLst xmlns:a="http://schemas.openxmlformats.org/drawingml/2006/main">
              <a:ext uri="{FF2B5EF4-FFF2-40B4-BE49-F238E27FC236}">
                <a16:creationId xmlns:a16="http://schemas.microsoft.com/office/drawing/2014/main" id="{9AE59289-A1E6-4BD4-B8D0-F7BA7884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858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A65DB4-6713-43A0-8F55-A81C9467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810250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最初の顧客価値は業務自動化。長期の堀は、需要・評価・実行を握ること。</a:t>
            </a:r>
          </a:p>
        </p:txBody>
      </p:sp>
      <p:sp>
        <p:nvSpPr>
          <p:cNvPr id="5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C720448-B309-4D06-90D8-3B2F2A56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5986796-1517-4F53-A4AF-68E76213F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 8.</a:t>
            </a:r>
          </a:p>
        </p:txBody>
      </p:sp>
      <p:sp>
        <p:nvSpPr>
          <p:cNvPr id="5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BD420AD-8DAE-4965-A99B-3CD08540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360644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8ED2457-7EE3-41ED-8AE2-CF1F9952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24495CB-7C82-4FA2-8C5D-C3216F19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3C8B36-BA5C-45D0-A4FC-39795E96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GOVERNMENT &amp; INDUSTRY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CEA09C82-002B-4364-9C79-AF5F5248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政府施策を、共通評価と企業需要で一つにつなぐ。</a:t>
            </a:r>
          </a:p>
        </p:txBody>
      </p:sp>
      <p:sp>
        <p:nvSpPr>
          <p:cNvPr id="5" name="common-layer">
            <a:extLst xmlns:a="http://schemas.openxmlformats.org/drawingml/2006/main">
              <a:ext uri="{FF2B5EF4-FFF2-40B4-BE49-F238E27FC236}">
                <a16:creationId xmlns:a16="http://schemas.microsoft.com/office/drawing/2014/main" id="{3DBAA4BD-D23E-49CE-942A-C475B40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4000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9618E-FCE1-4139-825F-9182F991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90800"/>
            <a:ext cx="323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KAIROSAI COMMON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8C36E-16DC-40F5-84FB-26660F19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238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共通評価 + オーケストレーション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D42C0-5D3F-4B88-96B8-FF0CA552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業務成果 / 品質 / コスト / 電力 / 国内処理</a:t>
            </a:r>
          </a:p>
        </p:txBody>
      </p:sp>
      <p:sp>
        <p:nvSpPr>
          <p:cNvPr id="9" name="node-政府・NEDO">
            <a:extLst xmlns:a="http://schemas.openxmlformats.org/drawingml/2006/main">
              <a:ext uri="{FF2B5EF4-FFF2-40B4-BE49-F238E27FC236}">
                <a16:creationId xmlns:a16="http://schemas.microsoft.com/office/drawing/2014/main" id="{D4D69919-A3F9-4A78-A56B-549DA46A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" name="政府・NEDO-accent">
            <a:extLst xmlns:a="http://schemas.openxmlformats.org/drawingml/2006/main">
              <a:ext uri="{FF2B5EF4-FFF2-40B4-BE49-F238E27FC236}">
                <a16:creationId xmlns:a16="http://schemas.microsoft.com/office/drawing/2014/main" id="{5FAEF283-71F5-40DF-8EB2-57DCA28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B80C-B416-4F0D-AC1B-2A00FBE6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D2AA80-73D7-44AB-B1EE-8CFDBFBF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76475"/>
            <a:ext cx="2266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政府・NEDO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01002E-2BFA-47B8-9E21-DAA58296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AI基本計画 / GENIAC / 省エネAI</a:t>
            </a:r>
          </a:p>
        </p:txBody>
      </p:sp>
      <p:sp>
        <p:nvSpPr>
          <p:cNvPr id="14" name="node-企業・自治体">
            <a:extLst xmlns:a="http://schemas.openxmlformats.org/drawingml/2006/main">
              <a:ext uri="{FF2B5EF4-FFF2-40B4-BE49-F238E27FC236}">
                <a16:creationId xmlns:a16="http://schemas.microsoft.com/office/drawing/2014/main" id="{8B0D4574-6B78-40E7-8770-D0AED6B7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企業・自治体-accent">
            <a:extLst xmlns:a="http://schemas.openxmlformats.org/drawingml/2006/main">
              <a:ext uri="{FF2B5EF4-FFF2-40B4-BE49-F238E27FC236}">
                <a16:creationId xmlns:a16="http://schemas.microsoft.com/office/drawing/2014/main" id="{85A1041A-C0EE-48BA-A17C-4998A32D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B06AF-F403-47E6-BBDE-241117B6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11B77-A475-4150-A9A6-01571BCC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266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企業・自治体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592FE-64A4-47A1-AE9A-37D24A41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52925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実業務 / 調達 / 共同実証</a:t>
            </a:r>
          </a:p>
        </p:txBody>
      </p:sp>
      <p:sp>
        <p:nvSpPr>
          <p:cNvPr id="19" name="node-計算基盤・半導体">
            <a:extLst xmlns:a="http://schemas.openxmlformats.org/drawingml/2006/main">
              <a:ext uri="{FF2B5EF4-FFF2-40B4-BE49-F238E27FC236}">
                <a16:creationId xmlns:a16="http://schemas.microsoft.com/office/drawing/2014/main" id="{931F3BB4-1965-4BFF-8A79-E98BDA0A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計算基盤・半導体-accent">
            <a:extLst xmlns:a="http://schemas.openxmlformats.org/drawingml/2006/main">
              <a:ext uri="{FF2B5EF4-FFF2-40B4-BE49-F238E27FC236}">
                <a16:creationId xmlns:a16="http://schemas.microsoft.com/office/drawing/2014/main" id="{F4E0CFBE-AE3F-4706-A29C-69BE8E7C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526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88F94A-C1E7-4A7F-8281-843661FF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574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INFRA &amp; HW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CBC9EA-E494-4FC6-A19C-7F195E51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76475"/>
            <a:ext cx="2266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計算基盤・半導体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4F6E89-D7C8-46FD-ABC2-9FB766E4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38425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Cloud / DC / Edge / AI HW</a:t>
            </a:r>
          </a:p>
        </p:txBody>
      </p:sp>
      <p:sp>
        <p:nvSpPr>
          <p:cNvPr id="24" name="node-大学・AI企業">
            <a:extLst xmlns:a="http://schemas.openxmlformats.org/drawingml/2006/main">
              <a:ext uri="{FF2B5EF4-FFF2-40B4-BE49-F238E27FC236}">
                <a16:creationId xmlns:a16="http://schemas.microsoft.com/office/drawing/2014/main" id="{81EFA3F1-A402-4858-91EE-87969766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5" name="大学・AI企業-accent">
            <a:extLst xmlns:a="http://schemas.openxmlformats.org/drawingml/2006/main">
              <a:ext uri="{FF2B5EF4-FFF2-40B4-BE49-F238E27FC236}">
                <a16:creationId xmlns:a16="http://schemas.microsoft.com/office/drawing/2014/main" id="{E7CAC634-433F-4EDF-8D54-626AFF1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67125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DFF25-389C-4998-B682-95AD889B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719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MODEL &amp; R&amp;D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F791C2-8CCF-4D7D-9247-B3791C55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90975"/>
            <a:ext cx="22669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大学・AI企業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0A2874-7415-4B3F-A699-F6FB93C9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52925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モデル / Compiler / Runtime</a:t>
            </a:r>
          </a:p>
        </p:txBody>
      </p: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2428875"/>
            <a:ext cx="8572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5C84C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1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238500" y="3190875"/>
            <a:ext cx="857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6B6B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96250" y="2428875"/>
            <a:ext cx="85725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8A4C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96250" y="3190875"/>
            <a:ext cx="857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9D98E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EE5B8E-168D-48C5-A7F8-F1CD3FF5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95875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JOINT PILOT THEMES</a:t>
            </a:r>
          </a:p>
        </p:txBody>
      </p:sp>
      <p:sp>
        <p:nvSpPr>
          <p:cNvPr id="34" name="pilot-theme-1">
            <a:extLst xmlns:a="http://schemas.openxmlformats.org/drawingml/2006/main">
              <a:ext uri="{FF2B5EF4-FFF2-40B4-BE49-F238E27FC236}">
                <a16:creationId xmlns:a16="http://schemas.microsoft.com/office/drawing/2014/main" id="{5672F525-AF49-44BF-95C3-C1D202AF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E48F90-1999-48C2-8B16-1D87F02D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61D501-DD4E-473E-B048-FB71ED6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1857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複数モデル・HWの共通評価</a:t>
            </a:r>
          </a:p>
        </p:txBody>
      </p:sp>
      <p:sp>
        <p:nvSpPr>
          <p:cNvPr id="37" name="pilot-theme-2">
            <a:extLst xmlns:a="http://schemas.openxmlformats.org/drawingml/2006/main">
              <a:ext uri="{FF2B5EF4-FFF2-40B4-BE49-F238E27FC236}">
                <a16:creationId xmlns:a16="http://schemas.microsoft.com/office/drawing/2014/main" id="{8DA3FE3C-CB9A-4423-927D-3228654C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292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8D84A2-2E64-470C-AAF8-85AFA8DB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55721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A6E2AF-0E9F-49DD-9105-A62B1A7A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524500"/>
            <a:ext cx="1857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公共業務での最適配置</a:t>
            </a:r>
          </a:p>
        </p:txBody>
      </p:sp>
      <p:sp>
        <p:nvSpPr>
          <p:cNvPr id="40" name="pilot-theme-3">
            <a:extLst xmlns:a="http://schemas.openxmlformats.org/drawingml/2006/main">
              <a:ext uri="{FF2B5EF4-FFF2-40B4-BE49-F238E27FC236}">
                <a16:creationId xmlns:a16="http://schemas.microsoft.com/office/drawing/2014/main" id="{15C32F24-D732-47FB-AA80-15F06405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292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7D8718-4CFF-4D37-9E30-D610FD58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721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8A4C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908ED37-FB34-49F6-9AB1-47E6F28B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24500"/>
            <a:ext cx="1857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国内計算需要の集約</a:t>
            </a:r>
          </a:p>
        </p:txBody>
      </p:sp>
      <p:sp>
        <p:nvSpPr>
          <p:cNvPr id="43" name="pilot-theme-4">
            <a:extLst xmlns:a="http://schemas.openxmlformats.org/drawingml/2006/main">
              <a:ext uri="{FF2B5EF4-FFF2-40B4-BE49-F238E27FC236}">
                <a16:creationId xmlns:a16="http://schemas.microsoft.com/office/drawing/2014/main" id="{91189B61-0727-47ED-89A4-BCA5E813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29250"/>
            <a:ext cx="2476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10BF85-F11F-493E-85F3-3342A535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572125"/>
            <a:ext cx="28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5277BA-417C-488B-ADB5-0D80FF8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524500"/>
            <a:ext cx="18573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国産AI半導体の実業務検証</a:t>
            </a:r>
          </a:p>
        </p:txBody>
      </p:sp>
      <p:sp>
        <p:nvSpPr>
          <p:cNvPr id="4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B6CB751-4D4E-4C91-B100-15E99634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EE6F8FCC-69EA-41F8-AA7F-399C5DC0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AI Basic Plan; GENIAC; NEDO; KairosAI Demand-driven AI &amp; HW Strategy, section 9.</a:t>
            </a:r>
          </a:p>
        </p:txBody>
      </p:sp>
      <p:sp>
        <p:nvSpPr>
          <p:cNvPr id="4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24A4984-D3E6-45D0-BD6E-F1CE1B68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01686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50E0761-8784-4EA9-A3D5-90720A59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C579228-2450-4E93-ABD1-3152C427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DD71C4-AC9B-4626-8644-90095C75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FIRST 90 DAYS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25C4F031-4B94-49E5-B883-B03AA0F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896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最初の90日で、戦略を測定可能な共同実証へ変える。</a:t>
            </a:r>
          </a:p>
        </p:txBody>
      </p:sp>
      <p:sp>
        <p:nvSpPr>
          <p:cNvPr id="5" name="timeline">
            <a:extLst xmlns:a="http://schemas.openxmlformats.org/drawingml/2006/main">
              <a:ext uri="{FF2B5EF4-FFF2-40B4-BE49-F238E27FC236}">
                <a16:creationId xmlns:a16="http://schemas.microsoft.com/office/drawing/2014/main" id="{5F382685-DB48-4AB2-9AFD-C67BD046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print-01">
            <a:extLst xmlns:a="http://schemas.openxmlformats.org/drawingml/2006/main">
              <a:ext uri="{FF2B5EF4-FFF2-40B4-BE49-F238E27FC236}">
                <a16:creationId xmlns:a16="http://schemas.microsoft.com/office/drawing/2014/main" id="{7FF091C2-4A02-4F5C-AC40-2497EF8C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970F1-DD3A-497C-B4A1-9C654171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5B8E1-4A89-431D-B779-6531AF8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47875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DAY 0–30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38946-6D64-4E97-B32B-D2D40DC5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336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MEASURE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CF7A0-8C29-41E8-A092-67D35750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1475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テレメトリ定義</a:t>
            </a:r>
          </a:p>
          <a:p xmlns:a="http://schemas.openxmlformats.org/drawingml/2006/main">
            <a:pPr algn="ctr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代表タスクと評価軸を固定</a:t>
            </a:r>
          </a:p>
        </p:txBody>
      </p:sp>
      <p:sp>
        <p:nvSpPr>
          <p:cNvPr id="11" name="sprint-02">
            <a:extLst xmlns:a="http://schemas.openxmlformats.org/drawingml/2006/main">
              <a:ext uri="{FF2B5EF4-FFF2-40B4-BE49-F238E27FC236}">
                <a16:creationId xmlns:a16="http://schemas.microsoft.com/office/drawing/2014/main" id="{8564A7F3-5584-43F8-B852-40F45825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F5C84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85357-249D-4B3C-93C9-389A02AA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46168-A4FD-41A1-90A6-9C74999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47875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DAY 31–60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567AE-95DC-4457-B6E9-5FBD9406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876557-5AED-4FA7-A206-13752E9D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1475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Cloud / Local比較</a:t>
            </a:r>
          </a:p>
          <a:p xmlns:a="http://schemas.openxmlformats.org/drawingml/2006/main">
            <a:pPr algn="ctr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Model・Compute Router実証</a:t>
            </a:r>
          </a:p>
        </p:txBody>
      </p:sp>
      <p:sp>
        <p:nvSpPr>
          <p:cNvPr id="16" name="sprint-03">
            <a:extLst xmlns:a="http://schemas.openxmlformats.org/drawingml/2006/main">
              <a:ext uri="{FF2B5EF4-FFF2-40B4-BE49-F238E27FC236}">
                <a16:creationId xmlns:a16="http://schemas.microsoft.com/office/drawing/2014/main" id="{8D25ED17-D345-47A6-8BBB-4EA38787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38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59D98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6B239-5DA2-4584-B580-0CF965E6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609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B4E4F-8C55-45A4-9518-682B7AE2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47875"/>
            <a:ext cx="14763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DAY 61–90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79A82-34C6-4A79-8A06-7E2FCE74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33625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4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1B9AB-8B55-4F1A-9105-5B6ECFD6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14750"/>
            <a:ext cx="2619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成果・電力を評価</a:t>
            </a:r>
          </a:p>
          <a:p xmlns:a="http://schemas.openxmlformats.org/drawingml/2006/main">
            <a:pPr algn="ctr">
              <a:def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共同提案書と次段階判断</a:t>
            </a:r>
          </a:p>
        </p:txBody>
      </p:sp>
      <p:sp>
        <p:nvSpPr>
          <p:cNvPr id="21" name="decision-outputs">
            <a:extLst xmlns:a="http://schemas.openxmlformats.org/drawingml/2006/main">
              <a:ext uri="{FF2B5EF4-FFF2-40B4-BE49-F238E27FC236}">
                <a16:creationId xmlns:a16="http://schemas.microsoft.com/office/drawing/2014/main" id="{33E1AEF3-987D-4E91-B2F5-0CA74FAF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85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2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ABEB2-3A69-43CE-ABC1-341DD714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DECISION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2BA3E-2B00-4D72-9F92-B6DC7A91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6B6B"/>
                </a:solidFill>
                <a:latin typeface="Hiragino Sans"/>
                <a:ea typeface="Hiragino Sans"/>
                <a:cs typeface="Hiragino Sans"/>
              </a:rPr>
              <a:t>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E0B694-51DD-462F-BCE2-39793DBB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530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business outcome per joule の測定方法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BBF64-0E1B-4E2B-9F88-2A5F64EE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00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5C84C"/>
                </a:solidFill>
                <a:latin typeface="Hiragino Sans"/>
                <a:ea typeface="Hiragino Sans"/>
                <a:cs typeface="Hiragino Sans"/>
              </a:rPr>
              <a:t>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1FF0E-B6FA-4950-9544-4886FB13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国産計算・HWを使う条件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880CD-CBF5-457F-8EBC-431815E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006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59D98E"/>
                </a:solidFill>
                <a:latin typeface="Hiragino Sans"/>
                <a:ea typeface="Hiragino Sans"/>
                <a:cs typeface="Hiragino Sans"/>
              </a:rPr>
              <a:t>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7D971D-C35F-4381-81D9-B0E08716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953000"/>
            <a:ext cx="209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次段階へ進む共同実証テーマ</a:t>
            </a:r>
          </a:p>
        </p:txBody>
      </p:sp>
      <p:sp>
        <p:nvSpPr>
          <p:cNvPr id="2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5CE6080-2F1A-4EE8-858F-3FF92D21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F3ABF3D-F81D-42E7-90A0-741A87F7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99A5BA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 10.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B8920D-3C4C-4CED-9023-6B9F539F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40464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31D2648-DEBD-4C02-9A70-88641C6D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791D42-CC38-4EB5-86D6-F7932059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783CC79-1AD2-4B93-8D24-8D779639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THE PROPOSITION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9E2DA14-67C7-4D7E-ADB0-A888C1EA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32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日本のAI競争力は、利用される仕組みからつくる。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6B273A-5872-4628-B55D-5F3C8431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1085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27D3C4"/>
                </a:solidFill>
                <a:latin typeface="Hiragino Sans"/>
                <a:ea typeface="Hiragino Sans"/>
                <a:cs typeface="Hiragino Sans"/>
              </a:rPr>
              <a:t>アプリケーション → ソフトウェア → 計算インフラ → 国産モデル → HW</a:t>
            </a:r>
          </a:p>
        </p:txBody>
      </p:sp>
      <p:sp>
        <p:nvSpPr>
          <p:cNvPr id="6" name="closing-claim">
            <a:extLst xmlns:a="http://schemas.openxmlformats.org/drawingml/2006/main">
              <a:ext uri="{FF2B5EF4-FFF2-40B4-BE49-F238E27FC236}">
                <a16:creationId xmlns:a16="http://schemas.microsoft.com/office/drawing/2014/main" id="{AAB5E20F-3CED-49C7-96C8-C257D96C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858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EBFB88-E73D-452A-83E3-C44A0C60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0985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KairosAIは、企業実装を起点に、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需要・評価・実行を国内AI基盤へ還流する。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78E67-FD61-4ACE-A514-C1F24077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825" b="1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PARTNERSHIP ROLES</a:t>
            </a:r>
          </a:p>
        </p:txBody>
      </p:sp>
      <p:sp>
        <p:nvSpPr>
          <p:cNvPr id="9" name="partner-role-1">
            <a:extLst xmlns:a="http://schemas.openxmlformats.org/drawingml/2006/main">
              <a:ext uri="{FF2B5EF4-FFF2-40B4-BE49-F238E27FC236}">
                <a16:creationId xmlns:a16="http://schemas.microsoft.com/office/drawing/2014/main" id="{037DCE9A-D9D6-419A-A7BD-0ADE544F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partner-role-1-accent">
            <a:extLst xmlns:a="http://schemas.openxmlformats.org/drawingml/2006/main">
              <a:ext uri="{FF2B5EF4-FFF2-40B4-BE49-F238E27FC236}">
                <a16:creationId xmlns:a16="http://schemas.microsoft.com/office/drawing/2014/main" id="{00B67DF4-116E-4606-9809-D41CBC1D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18107-76F8-4713-BFC4-94E80256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企業・行政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085E0-D93A-46EF-8BE9-A6E6CC87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実業務とOutcomeを提供</a:t>
            </a:r>
          </a:p>
        </p:txBody>
      </p:sp>
      <p:sp>
        <p:nvSpPr>
          <p:cNvPr id="13" name="partner-role-2">
            <a:extLst xmlns:a="http://schemas.openxmlformats.org/drawingml/2006/main">
              <a:ext uri="{FF2B5EF4-FFF2-40B4-BE49-F238E27FC236}">
                <a16:creationId xmlns:a16="http://schemas.microsoft.com/office/drawing/2014/main" id="{65E237B6-2952-4E70-9338-60B51397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partner-role-2-accent">
            <a:extLst xmlns:a="http://schemas.openxmlformats.org/drawingml/2006/main">
              <a:ext uri="{FF2B5EF4-FFF2-40B4-BE49-F238E27FC236}">
                <a16:creationId xmlns:a16="http://schemas.microsoft.com/office/drawing/2014/main" id="{5E7ED90C-FA71-4CBA-80FE-79FDA59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624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4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2FD33-6429-4A84-93B4-2A816A14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720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政府・研究機関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4D933-022D-477C-81CB-087931E5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53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共通評価と共同実証を支援</a:t>
            </a:r>
          </a:p>
        </p:txBody>
      </p:sp>
      <p:sp>
        <p:nvSpPr>
          <p:cNvPr id="17" name="partner-role-3">
            <a:extLst xmlns:a="http://schemas.openxmlformats.org/drawingml/2006/main">
              <a:ext uri="{FF2B5EF4-FFF2-40B4-BE49-F238E27FC236}">
                <a16:creationId xmlns:a16="http://schemas.microsoft.com/office/drawing/2014/main" id="{B979124D-19B0-4DEB-9AF1-4495A82D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partner-role-3-accent">
            <a:extLst xmlns:a="http://schemas.openxmlformats.org/drawingml/2006/main">
              <a:ext uri="{FF2B5EF4-FFF2-40B4-BE49-F238E27FC236}">
                <a16:creationId xmlns:a16="http://schemas.microsoft.com/office/drawing/2014/main" id="{791D6D81-FD5A-48B1-9C1D-868C05E8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62450"/>
            <a:ext cx="3333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D9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554BC-14A2-41B3-8216-F8423AC6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計算基盤・HW企業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2BED03-32DF-43C4-8D9A-68F5B642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実行環境と技術要件を接続</a:t>
            </a:r>
          </a:p>
        </p:txBody>
      </p:sp>
      <p:sp>
        <p:nvSpPr>
          <p:cNvPr id="21" name="closing-ask">
            <a:extLst xmlns:a="http://schemas.openxmlformats.org/drawingml/2006/main">
              <a:ext uri="{FF2B5EF4-FFF2-40B4-BE49-F238E27FC236}">
                <a16:creationId xmlns:a16="http://schemas.microsoft.com/office/drawing/2014/main" id="{15A9FAC5-06DD-4006-AB75-9180B47B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D3C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F06A24-A202-4ECA-8236-054FDFF9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91200"/>
            <a:ext cx="1038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共同実証を通じて、需要起点型AI産業戦略の最初の評価基盤をつくる。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A80DE9A-D8BA-46BB-9BD6-0BE72432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BDF59D78-D14C-463B-8E35-5CED279F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53200"/>
            <a:ext cx="9525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defRPr>
            </a:pPr>
            <a:r>
              <a:rPr sz="675" b="0">
                <a:solidFill>
                  <a:srgbClr val="667085"/>
                </a:solidFill>
                <a:latin typeface="Hiragino Sans"/>
                <a:ea typeface="Hiragino Sans"/>
                <a:cs typeface="Hiragino Sans"/>
              </a:rPr>
              <a:t>Source: KairosAI Demand-driven AI &amp; HW Strategy, sections 9–13.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9075104-B0CB-4EF6-AB13-7F7E5C14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defRPr>
            </a:pPr>
            <a:r>
              <a:rPr sz="750" b="1">
                <a:solidFill>
                  <a:srgbClr val="08101F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6427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2026-06-09T06:28:54.4140000Z</dcterms:created>
  <dcterms:modified xsi:type="dcterms:W3CDTF">2026-06-09T06:28:54.4150000Z</dcterms:modified>
</coreProperties>
</file>